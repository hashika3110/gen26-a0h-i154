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ptos Bold" panose="020B0604020202020204" charset="0"/>
      <p:regular r:id="rId10"/>
    </p:embeddedFont>
    <p:embeddedFont>
      <p:font typeface="Arimo" panose="020B0604020202020204" charset="0"/>
      <p:regular r:id="rId11"/>
    </p:embeddedFon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Cambria Bold" panose="02040803050406030204" pitchFamily="18" charset="0"/>
      <p:regular r:id="rId18"/>
      <p:bold r:id="rId19"/>
    </p:embeddedFont>
    <p:embeddedFont>
      <p:font typeface="Canva Sans" panose="020B0604020202020204" charset="0"/>
      <p:regular r:id="rId20"/>
    </p:embeddedFont>
    <p:embeddedFont>
      <p:font typeface="Canva Sans Bold" panose="020B0604020202020204" charset="0"/>
      <p:regular r:id="rId21"/>
    </p:embeddedFont>
    <p:embeddedFont>
      <p:font typeface="Segoe UI" panose="020B0502040204020203" pitchFamily="34" charset="0"/>
      <p:regular r:id="rId22"/>
      <p:bold r:id="rId23"/>
      <p:italic r:id="rId24"/>
      <p:boldItalic r:id="rId25"/>
    </p:embeddedFont>
    <p:embeddedFont>
      <p:font typeface="Times New Roman Bold" panose="02020803070505020304" pitchFamily="18" charset="0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783" y="47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" Type="http://schemas.openxmlformats.org/officeDocument/2006/relationships/image" Target="../media/image3.png"/><Relationship Id="rId21" Type="http://schemas.openxmlformats.org/officeDocument/2006/relationships/image" Target="../media/image26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5" Type="http://schemas.openxmlformats.org/officeDocument/2006/relationships/image" Target="../media/image30.svg"/><Relationship Id="rId2" Type="http://schemas.openxmlformats.org/officeDocument/2006/relationships/image" Target="../media/image1.jpe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24" Type="http://schemas.openxmlformats.org/officeDocument/2006/relationships/image" Target="../media/image29.png"/><Relationship Id="rId5" Type="http://schemas.openxmlformats.org/officeDocument/2006/relationships/image" Target="../media/image6.png"/><Relationship Id="rId15" Type="http://schemas.openxmlformats.org/officeDocument/2006/relationships/image" Target="../media/image20.svg"/><Relationship Id="rId23" Type="http://schemas.openxmlformats.org/officeDocument/2006/relationships/image" Target="../media/image28.svg"/><Relationship Id="rId28" Type="http://schemas.openxmlformats.org/officeDocument/2006/relationships/image" Target="../media/image33.png"/><Relationship Id="rId10" Type="http://schemas.openxmlformats.org/officeDocument/2006/relationships/image" Target="../media/image15.png"/><Relationship Id="rId19" Type="http://schemas.openxmlformats.org/officeDocument/2006/relationships/image" Target="../media/image24.svg"/><Relationship Id="rId4" Type="http://schemas.openxmlformats.org/officeDocument/2006/relationships/image" Target="../media/image5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10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3250475" y="-1845697"/>
            <a:ext cx="5567067" cy="4824412"/>
            <a:chOff x="0" y="0"/>
            <a:chExt cx="7422756" cy="64325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22769" cy="6432550"/>
            </a:xfrm>
            <a:custGeom>
              <a:avLst/>
              <a:gdLst/>
              <a:ahLst/>
              <a:cxnLst/>
              <a:rect l="l" t="t" r="r" b="b"/>
              <a:pathLst>
                <a:path w="7422769" h="6432550">
                  <a:moveTo>
                    <a:pt x="0" y="3216275"/>
                  </a:moveTo>
                  <a:lnTo>
                    <a:pt x="1608074" y="0"/>
                  </a:lnTo>
                  <a:lnTo>
                    <a:pt x="5814568" y="0"/>
                  </a:lnTo>
                  <a:lnTo>
                    <a:pt x="7422769" y="3216275"/>
                  </a:lnTo>
                  <a:lnTo>
                    <a:pt x="5814568" y="6432550"/>
                  </a:lnTo>
                  <a:lnTo>
                    <a:pt x="1608074" y="6432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187" r="-61187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15774219" y="2525554"/>
            <a:ext cx="5567067" cy="4824412"/>
            <a:chOff x="0" y="0"/>
            <a:chExt cx="7422756" cy="64325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22769" cy="6432550"/>
            </a:xfrm>
            <a:custGeom>
              <a:avLst/>
              <a:gdLst/>
              <a:ahLst/>
              <a:cxnLst/>
              <a:rect l="l" t="t" r="r" b="b"/>
              <a:pathLst>
                <a:path w="7422769" h="6432550">
                  <a:moveTo>
                    <a:pt x="0" y="3216275"/>
                  </a:moveTo>
                  <a:lnTo>
                    <a:pt x="1608074" y="0"/>
                  </a:lnTo>
                  <a:lnTo>
                    <a:pt x="5814568" y="0"/>
                  </a:lnTo>
                  <a:lnTo>
                    <a:pt x="7422769" y="3216275"/>
                  </a:lnTo>
                  <a:lnTo>
                    <a:pt x="5814568" y="6432550"/>
                  </a:lnTo>
                  <a:lnTo>
                    <a:pt x="1608074" y="6432550"/>
                  </a:lnTo>
                  <a:close/>
                </a:path>
              </a:pathLst>
            </a:custGeom>
            <a:solidFill>
              <a:srgbClr val="026855">
                <a:alpha val="5882"/>
              </a:srgbClr>
            </a:solid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 rot="5400000">
            <a:off x="13250475" y="6896805"/>
            <a:ext cx="5567067" cy="4824412"/>
            <a:chOff x="0" y="0"/>
            <a:chExt cx="7422756" cy="64325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22769" cy="6432550"/>
            </a:xfrm>
            <a:custGeom>
              <a:avLst/>
              <a:gdLst/>
              <a:ahLst/>
              <a:cxnLst/>
              <a:rect l="l" t="t" r="r" b="b"/>
              <a:pathLst>
                <a:path w="7422769" h="6432550">
                  <a:moveTo>
                    <a:pt x="0" y="3216275"/>
                  </a:moveTo>
                  <a:lnTo>
                    <a:pt x="1608074" y="0"/>
                  </a:lnTo>
                  <a:lnTo>
                    <a:pt x="5814568" y="0"/>
                  </a:lnTo>
                  <a:lnTo>
                    <a:pt x="7422769" y="3216275"/>
                  </a:lnTo>
                  <a:lnTo>
                    <a:pt x="5814568" y="6432550"/>
                  </a:lnTo>
                  <a:lnTo>
                    <a:pt x="1608074" y="64325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187" r="-61187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 rot="5400000">
            <a:off x="9920040" y="4766310"/>
            <a:ext cx="871080" cy="754380"/>
            <a:chOff x="0" y="0"/>
            <a:chExt cx="1161440" cy="1005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1415" cy="1005840"/>
            </a:xfrm>
            <a:custGeom>
              <a:avLst/>
              <a:gdLst/>
              <a:ahLst/>
              <a:cxnLst/>
              <a:rect l="l" t="t" r="r" b="b"/>
              <a:pathLst>
                <a:path w="1161415" h="1005840">
                  <a:moveTo>
                    <a:pt x="0" y="502920"/>
                  </a:moveTo>
                  <a:lnTo>
                    <a:pt x="251460" y="0"/>
                  </a:lnTo>
                  <a:lnTo>
                    <a:pt x="909955" y="0"/>
                  </a:lnTo>
                  <a:lnTo>
                    <a:pt x="1161415" y="502920"/>
                  </a:lnTo>
                  <a:lnTo>
                    <a:pt x="909955" y="1005840"/>
                  </a:lnTo>
                  <a:lnTo>
                    <a:pt x="251460" y="1005840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16274377" y="2592324"/>
            <a:ext cx="506816" cy="438912"/>
            <a:chOff x="0" y="0"/>
            <a:chExt cx="675754" cy="58521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5767" cy="585216"/>
            </a:xfrm>
            <a:custGeom>
              <a:avLst/>
              <a:gdLst/>
              <a:ahLst/>
              <a:cxnLst/>
              <a:rect l="l" t="t" r="r" b="b"/>
              <a:pathLst>
                <a:path w="675767" h="585216">
                  <a:moveTo>
                    <a:pt x="0" y="292608"/>
                  </a:moveTo>
                  <a:lnTo>
                    <a:pt x="146304" y="0"/>
                  </a:lnTo>
                  <a:lnTo>
                    <a:pt x="529463" y="0"/>
                  </a:lnTo>
                  <a:lnTo>
                    <a:pt x="675767" y="292608"/>
                  </a:lnTo>
                  <a:lnTo>
                    <a:pt x="529463" y="585216"/>
                  </a:lnTo>
                  <a:lnTo>
                    <a:pt x="146304" y="585216"/>
                  </a:lnTo>
                  <a:close/>
                </a:path>
              </a:pathLst>
            </a:custGeom>
            <a:solidFill>
              <a:srgbClr val="7AC143">
                <a:alpha val="48627"/>
              </a:srgbClr>
            </a:solid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10303088" y="2160270"/>
            <a:ext cx="6414335" cy="5554980"/>
            <a:chOff x="0" y="0"/>
            <a:chExt cx="8552447" cy="74066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52434" cy="7406640"/>
            </a:xfrm>
            <a:custGeom>
              <a:avLst/>
              <a:gdLst/>
              <a:ahLst/>
              <a:cxnLst/>
              <a:rect l="l" t="t" r="r" b="b"/>
              <a:pathLst>
                <a:path w="8552434" h="7406640">
                  <a:moveTo>
                    <a:pt x="0" y="3703320"/>
                  </a:moveTo>
                  <a:lnTo>
                    <a:pt x="1851660" y="0"/>
                  </a:lnTo>
                  <a:lnTo>
                    <a:pt x="6700774" y="0"/>
                  </a:lnTo>
                  <a:lnTo>
                    <a:pt x="8552434" y="3703320"/>
                  </a:lnTo>
                  <a:lnTo>
                    <a:pt x="6700774" y="7406640"/>
                  </a:lnTo>
                  <a:lnTo>
                    <a:pt x="1851660" y="7406640"/>
                  </a:lnTo>
                  <a:close/>
                </a:path>
              </a:pathLst>
            </a:custGeom>
            <a:solidFill>
              <a:srgbClr val="026855">
                <a:alpha val="20000"/>
              </a:srgbClr>
            </a:solidFill>
          </p:spPr>
        </p:sp>
      </p:grpSp>
      <p:grpSp>
        <p:nvGrpSpPr>
          <p:cNvPr id="14" name="Group 14"/>
          <p:cNvGrpSpPr/>
          <p:nvPr/>
        </p:nvGrpSpPr>
        <p:grpSpPr>
          <a:xfrm rot="5400000">
            <a:off x="10119255" y="7186612"/>
            <a:ext cx="1295600" cy="1125855"/>
            <a:chOff x="0" y="0"/>
            <a:chExt cx="1727467" cy="15011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727454" cy="1501140"/>
            </a:xfrm>
            <a:custGeom>
              <a:avLst/>
              <a:gdLst/>
              <a:ahLst/>
              <a:cxnLst/>
              <a:rect l="l" t="t" r="r" b="b"/>
              <a:pathLst>
                <a:path w="1727454" h="1501140">
                  <a:moveTo>
                    <a:pt x="0" y="750570"/>
                  </a:moveTo>
                  <a:lnTo>
                    <a:pt x="375285" y="0"/>
                  </a:lnTo>
                  <a:lnTo>
                    <a:pt x="1352169" y="0"/>
                  </a:lnTo>
                  <a:lnTo>
                    <a:pt x="1727454" y="750570"/>
                  </a:lnTo>
                  <a:lnTo>
                    <a:pt x="1352169" y="1501140"/>
                  </a:lnTo>
                  <a:lnTo>
                    <a:pt x="375285" y="15011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494" r="-61494"/>
              </a:stretch>
            </a:blipFill>
            <a:ln w="28575" cap="sq">
              <a:solidFill>
                <a:srgbClr val="7AC143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 rot="5400000">
            <a:off x="10710062" y="2508885"/>
            <a:ext cx="5600405" cy="4857750"/>
            <a:chOff x="0" y="0"/>
            <a:chExt cx="7467206" cy="6477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467219" cy="6477000"/>
            </a:xfrm>
            <a:custGeom>
              <a:avLst/>
              <a:gdLst/>
              <a:ahLst/>
              <a:cxnLst/>
              <a:rect l="l" t="t" r="r" b="b"/>
              <a:pathLst>
                <a:path w="7467219" h="6477000">
                  <a:moveTo>
                    <a:pt x="0" y="3238500"/>
                  </a:moveTo>
                  <a:lnTo>
                    <a:pt x="1619250" y="0"/>
                  </a:lnTo>
                  <a:lnTo>
                    <a:pt x="5847969" y="0"/>
                  </a:lnTo>
                  <a:lnTo>
                    <a:pt x="7467219" y="3238500"/>
                  </a:lnTo>
                  <a:lnTo>
                    <a:pt x="5847969" y="6477000"/>
                  </a:lnTo>
                  <a:lnTo>
                    <a:pt x="1619250" y="6477000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7AC143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2166149" y="3188970"/>
            <a:ext cx="2688222" cy="3497580"/>
            <a:chOff x="0" y="0"/>
            <a:chExt cx="3584296" cy="4663440"/>
          </a:xfrm>
        </p:grpSpPr>
        <p:sp>
          <p:nvSpPr>
            <p:cNvPr id="19" name="Freeform 19" descr="Genesis logo"/>
            <p:cNvSpPr/>
            <p:nvPr/>
          </p:nvSpPr>
          <p:spPr>
            <a:xfrm>
              <a:off x="0" y="0"/>
              <a:ext cx="3584321" cy="4663440"/>
            </a:xfrm>
            <a:custGeom>
              <a:avLst/>
              <a:gdLst/>
              <a:ahLst/>
              <a:cxnLst/>
              <a:rect l="l" t="t" r="r" b="b"/>
              <a:pathLst>
                <a:path w="3584321" h="4663440">
                  <a:moveTo>
                    <a:pt x="0" y="0"/>
                  </a:moveTo>
                  <a:lnTo>
                    <a:pt x="3584321" y="0"/>
                  </a:lnTo>
                  <a:lnTo>
                    <a:pt x="3584321" y="4663440"/>
                  </a:lnTo>
                  <a:lnTo>
                    <a:pt x="0" y="466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822960" y="754380"/>
            <a:ext cx="7955280" cy="480060"/>
            <a:chOff x="0" y="0"/>
            <a:chExt cx="10607040" cy="6400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607040" cy="640080"/>
            </a:xfrm>
            <a:custGeom>
              <a:avLst/>
              <a:gdLst/>
              <a:ahLst/>
              <a:cxnLst/>
              <a:rect l="l" t="t" r="r" b="b"/>
              <a:pathLst>
                <a:path w="10607040" h="640080">
                  <a:moveTo>
                    <a:pt x="0" y="0"/>
                  </a:moveTo>
                  <a:lnTo>
                    <a:pt x="10607040" y="0"/>
                  </a:lnTo>
                  <a:lnTo>
                    <a:pt x="10607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2894" b="-272894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060704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5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PRE-IDEATHON TEMPLATE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22960" y="1379220"/>
            <a:ext cx="8503920" cy="232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48"/>
              </a:lnSpc>
            </a:pPr>
            <a:r>
              <a:rPr lang="en-US" sz="8100" b="1" spc="299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GENESIS</a:t>
            </a:r>
          </a:p>
          <a:p>
            <a:pPr algn="l">
              <a:lnSpc>
                <a:spcPts val="8748"/>
              </a:lnSpc>
            </a:pPr>
            <a:r>
              <a:rPr lang="en-US" sz="8100" b="1" spc="299">
                <a:solidFill>
                  <a:srgbClr val="7AC143"/>
                </a:solidFill>
                <a:latin typeface="Cambria Bold"/>
                <a:ea typeface="Cambria Bold"/>
                <a:cs typeface="Cambria Bold"/>
                <a:sym typeface="Cambria Bold"/>
              </a:rPr>
              <a:t>IDEATHON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11054" y="3897154"/>
            <a:ext cx="3178492" cy="599884"/>
            <a:chOff x="0" y="0"/>
            <a:chExt cx="4237990" cy="79984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237990" cy="799846"/>
            </a:xfrm>
            <a:custGeom>
              <a:avLst/>
              <a:gdLst/>
              <a:ahLst/>
              <a:cxnLst/>
              <a:rect l="l" t="t" r="r" b="b"/>
              <a:pathLst>
                <a:path w="4237990" h="799846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lnTo>
                    <a:pt x="3838067" y="0"/>
                  </a:lnTo>
                  <a:cubicBezTo>
                    <a:pt x="4058920" y="0"/>
                    <a:pt x="4237990" y="179070"/>
                    <a:pt x="4237990" y="399923"/>
                  </a:cubicBezTo>
                  <a:cubicBezTo>
                    <a:pt x="4237990" y="620776"/>
                    <a:pt x="4058920" y="799846"/>
                    <a:pt x="3838067" y="799846"/>
                  </a:cubicBezTo>
                  <a:lnTo>
                    <a:pt x="399923" y="799846"/>
                  </a:lnTo>
                  <a:cubicBezTo>
                    <a:pt x="179070" y="799846"/>
                    <a:pt x="0" y="620776"/>
                    <a:pt x="0" y="399923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3241" b="-53241"/>
              </a:stretch>
            </a:blipFill>
            <a:ln w="23812" cap="sq">
              <a:solidFill>
                <a:srgbClr val="7AC143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4237990" cy="847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 spc="4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&amp; DOMAIN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822960" y="5239671"/>
            <a:ext cx="9052560" cy="370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Team Name : Nexus0</a:t>
            </a: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Team Members : Hashika N [CB.PS.I5MAT25008] 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          Uthara U [CB.PS.I5MAT25015]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AC143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       </a:t>
            </a:r>
            <a:r>
              <a:rPr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  Muskaan Chhabra [CB.PS.I5MAT25012]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AC143"/>
                </a:solidFill>
                <a:latin typeface="Cambria"/>
                <a:ea typeface="Cambria"/>
                <a:cs typeface="Cambria"/>
                <a:sym typeface="Cambria"/>
              </a:rPr>
              <a:t>                                    </a:t>
            </a:r>
            <a:r>
              <a:rPr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   Madana Ankitha [CB.PS.I5MAT25009]</a:t>
            </a: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Selected Domain : 5</a:t>
            </a:r>
          </a:p>
          <a:p>
            <a:pPr marL="488632" lvl="1" indent="-244316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 Statement Title : Smart Sell - Decision Advisor for Small Farmers: Helping Them Choose the Right Market and the Right Day to Earn the Most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60159" y="472916"/>
            <a:ext cx="1248727" cy="1248727"/>
            <a:chOff x="0" y="0"/>
            <a:chExt cx="1664970" cy="16649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4970" cy="1664970"/>
            </a:xfrm>
            <a:custGeom>
              <a:avLst/>
              <a:gdLst/>
              <a:ahLst/>
              <a:cxnLst/>
              <a:rect l="l" t="t" r="r" b="b"/>
              <a:pathLst>
                <a:path w="1664970" h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6583920" y="576072"/>
            <a:ext cx="801195" cy="1042416"/>
            <a:chOff x="0" y="0"/>
            <a:chExt cx="1068260" cy="1389888"/>
          </a:xfrm>
        </p:grpSpPr>
        <p:sp>
          <p:nvSpPr>
            <p:cNvPr id="5" name="Freeform 5" descr="Genesis logo"/>
            <p:cNvSpPr/>
            <p:nvPr/>
          </p:nvSpPr>
          <p:spPr>
            <a:xfrm>
              <a:off x="0" y="0"/>
              <a:ext cx="1068324" cy="1389888"/>
            </a:xfrm>
            <a:custGeom>
              <a:avLst/>
              <a:gdLst/>
              <a:ahLst/>
              <a:cxnLst/>
              <a:rect l="l" t="t" r="r" b="b"/>
              <a:pathLst>
                <a:path w="1068324" h="1389888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6888511" y="9614916"/>
            <a:ext cx="685800" cy="593903"/>
            <a:chOff x="0" y="0"/>
            <a:chExt cx="914400" cy="7918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4400" cy="791845"/>
            </a:xfrm>
            <a:custGeom>
              <a:avLst/>
              <a:gdLst/>
              <a:ahLst/>
              <a:cxnLst/>
              <a:rect l="l" t="t" r="r" b="b"/>
              <a:pathLst>
                <a:path w="914400" h="791845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id="8" name="Group 8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82519" cy="2500630"/>
            </a:xfrm>
            <a:custGeom>
              <a:avLst/>
              <a:gdLst/>
              <a:ahLst/>
              <a:cxnLst/>
              <a:rect l="l" t="t" r="r" b="b"/>
              <a:pathLst>
                <a:path w="2882519" h="2500630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r="-613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32178" cy="1677670"/>
            </a:xfrm>
            <a:custGeom>
              <a:avLst/>
              <a:gdLst/>
              <a:ahLst/>
              <a:cxnLst/>
              <a:rect l="l" t="t" r="r" b="b"/>
              <a:pathLst>
                <a:path w="1932178" h="1677670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r="-614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32178" cy="1677670"/>
            </a:xfrm>
            <a:custGeom>
              <a:avLst/>
              <a:gdLst/>
              <a:ahLst/>
              <a:cxnLst/>
              <a:rect l="l" t="t" r="r" b="b"/>
              <a:pathLst>
                <a:path w="1932178" h="1677670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r="-614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799667" y="340995"/>
            <a:ext cx="11247120" cy="1234440"/>
            <a:chOff x="0" y="0"/>
            <a:chExt cx="14996160" cy="16459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996161" cy="1645920"/>
            </a:xfrm>
            <a:custGeom>
              <a:avLst/>
              <a:gdLst/>
              <a:ahLst/>
              <a:cxnLst/>
              <a:rect l="l" t="t" r="r" b="b"/>
              <a:pathLst>
                <a:path w="14996161" h="1645920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530" b="-12753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DOMAIN PROBLEM IN OUR WORDS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743200" y="1734007"/>
            <a:ext cx="685800" cy="593903"/>
            <a:chOff x="0" y="0"/>
            <a:chExt cx="914400" cy="79187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914400" cy="791870"/>
              <a:chOff x="0" y="0"/>
              <a:chExt cx="914400" cy="79187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14400" cy="791845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791845">
                    <a:moveTo>
                      <a:pt x="0" y="395986"/>
                    </a:moveTo>
                    <a:lnTo>
                      <a:pt x="197993" y="0"/>
                    </a:lnTo>
                    <a:lnTo>
                      <a:pt x="716407" y="0"/>
                    </a:lnTo>
                    <a:lnTo>
                      <a:pt x="914400" y="395986"/>
                    </a:lnTo>
                    <a:lnTo>
                      <a:pt x="716407" y="791845"/>
                    </a:lnTo>
                    <a:lnTo>
                      <a:pt x="197993" y="791845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182880" y="120701"/>
              <a:ext cx="548640" cy="548640"/>
              <a:chOff x="0" y="0"/>
              <a:chExt cx="548640" cy="548640"/>
            </a:xfrm>
          </p:grpSpPr>
          <p:sp>
            <p:nvSpPr>
              <p:cNvPr id="21" name="Freeform 21" descr="Lightbulb icon"/>
              <p:cNvSpPr/>
              <p:nvPr/>
            </p:nvSpPr>
            <p:spPr>
              <a:xfrm>
                <a:off x="0" y="0"/>
                <a:ext cx="548640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</p:sp>
        </p:grpSp>
      </p:grpSp>
      <p:grpSp>
        <p:nvGrpSpPr>
          <p:cNvPr id="22" name="Group 22"/>
          <p:cNvGrpSpPr/>
          <p:nvPr/>
        </p:nvGrpSpPr>
        <p:grpSpPr>
          <a:xfrm>
            <a:off x="3517050" y="989796"/>
            <a:ext cx="14401800" cy="2047917"/>
            <a:chOff x="0" y="0"/>
            <a:chExt cx="19202400" cy="273055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202400" cy="2730557"/>
            </a:xfrm>
            <a:custGeom>
              <a:avLst/>
              <a:gdLst/>
              <a:ahLst/>
              <a:cxnLst/>
              <a:rect l="l" t="t" r="r" b="b"/>
              <a:pathLst>
                <a:path w="19202400" h="2730557">
                  <a:moveTo>
                    <a:pt x="0" y="0"/>
                  </a:moveTo>
                  <a:lnTo>
                    <a:pt x="19202400" y="0"/>
                  </a:lnTo>
                  <a:lnTo>
                    <a:pt x="19202400" y="2730557"/>
                  </a:lnTo>
                  <a:lnTo>
                    <a:pt x="0" y="2730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608" b="-55445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19202400" cy="27400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0945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Small farmers sell blind. They don’t know where when or how they can earn the most.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888511" y="9614916"/>
            <a:ext cx="685800" cy="593903"/>
            <a:chOff x="0" y="0"/>
            <a:chExt cx="914400" cy="79187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14400" cy="791870"/>
            </a:xfrm>
            <a:custGeom>
              <a:avLst/>
              <a:gdLst/>
              <a:ahLst/>
              <a:cxnLst/>
              <a:rect l="l" t="t" r="r" b="b"/>
              <a:pathLst>
                <a:path w="914400" h="79187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r="-6111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33628" y="5261610"/>
            <a:ext cx="8180070" cy="3928110"/>
            <a:chOff x="0" y="0"/>
            <a:chExt cx="10906760" cy="52374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906760" cy="5237480"/>
            </a:xfrm>
            <a:custGeom>
              <a:avLst/>
              <a:gdLst/>
              <a:ahLst/>
              <a:cxnLst/>
              <a:rect l="l" t="t" r="r" b="b"/>
              <a:pathLst>
                <a:path w="10906760" h="5237480">
                  <a:moveTo>
                    <a:pt x="0" y="418973"/>
                  </a:moveTo>
                  <a:cubicBezTo>
                    <a:pt x="0" y="187579"/>
                    <a:pt x="187579" y="0"/>
                    <a:pt x="418973" y="0"/>
                  </a:cubicBezTo>
                  <a:lnTo>
                    <a:pt x="10487787" y="0"/>
                  </a:lnTo>
                  <a:cubicBezTo>
                    <a:pt x="10719181" y="0"/>
                    <a:pt x="10906760" y="187579"/>
                    <a:pt x="10906760" y="418973"/>
                  </a:cubicBezTo>
                  <a:lnTo>
                    <a:pt x="10906760" y="4818507"/>
                  </a:lnTo>
                  <a:cubicBezTo>
                    <a:pt x="10906760" y="5049901"/>
                    <a:pt x="10719181" y="5237480"/>
                    <a:pt x="10487787" y="5237480"/>
                  </a:cubicBezTo>
                  <a:lnTo>
                    <a:pt x="418973" y="5237480"/>
                  </a:lnTo>
                  <a:cubicBezTo>
                    <a:pt x="187579" y="5237480"/>
                    <a:pt x="0" y="5049901"/>
                    <a:pt x="0" y="481850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FE0D8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843153" y="5271135"/>
            <a:ext cx="8161020" cy="617220"/>
            <a:chOff x="0" y="0"/>
            <a:chExt cx="10881360" cy="8229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881360" cy="822960"/>
            </a:xfrm>
            <a:custGeom>
              <a:avLst/>
              <a:gdLst/>
              <a:ahLst/>
              <a:cxnLst/>
              <a:rect l="l" t="t" r="r" b="b"/>
              <a:pathLst>
                <a:path w="10881360" h="822960">
                  <a:moveTo>
                    <a:pt x="246888" y="0"/>
                  </a:moveTo>
                  <a:lnTo>
                    <a:pt x="10634472" y="0"/>
                  </a:lnTo>
                  <a:cubicBezTo>
                    <a:pt x="10770870" y="0"/>
                    <a:pt x="10881360" y="110490"/>
                    <a:pt x="10881360" y="246888"/>
                  </a:cubicBezTo>
                  <a:lnTo>
                    <a:pt x="10881360" y="822960"/>
                  </a:lnTo>
                  <a:lnTo>
                    <a:pt x="0" y="822960"/>
                  </a:lnTo>
                  <a:lnTo>
                    <a:pt x="0" y="246888"/>
                  </a:lnTo>
                  <a:cubicBezTo>
                    <a:pt x="0" y="110490"/>
                    <a:pt x="110490" y="0"/>
                    <a:pt x="246888" y="0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254633" y="5271135"/>
            <a:ext cx="7406640" cy="617220"/>
            <a:chOff x="0" y="0"/>
            <a:chExt cx="9875520" cy="8229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875520" cy="822960"/>
            </a:xfrm>
            <a:custGeom>
              <a:avLst/>
              <a:gdLst/>
              <a:ahLst/>
              <a:cxnLst/>
              <a:rect l="l" t="t" r="r" b="b"/>
              <a:pathLst>
                <a:path w="9875520" h="822960">
                  <a:moveTo>
                    <a:pt x="0" y="0"/>
                  </a:moveTo>
                  <a:lnTo>
                    <a:pt x="9875520" y="0"/>
                  </a:lnTo>
                  <a:lnTo>
                    <a:pt x="98755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9875520" cy="8801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3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EXACTLY NEEDS TO BE SOLVED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27201" y="6135243"/>
            <a:ext cx="754380" cy="658368"/>
            <a:chOff x="0" y="0"/>
            <a:chExt cx="1005840" cy="87782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05840" cy="877824"/>
            </a:xfrm>
            <a:custGeom>
              <a:avLst/>
              <a:gdLst/>
              <a:ahLst/>
              <a:cxnLst/>
              <a:rect l="l" t="t" r="r" b="b"/>
              <a:pathLst>
                <a:path w="1005840" h="877824">
                  <a:moveTo>
                    <a:pt x="0" y="438912"/>
                  </a:moveTo>
                  <a:lnTo>
                    <a:pt x="219456" y="0"/>
                  </a:lnTo>
                  <a:lnTo>
                    <a:pt x="786384" y="0"/>
                  </a:lnTo>
                  <a:lnTo>
                    <a:pt x="1005840" y="438912"/>
                  </a:lnTo>
                  <a:lnTo>
                    <a:pt x="786384" y="877824"/>
                  </a:lnTo>
                  <a:lnTo>
                    <a:pt x="219456" y="877824"/>
                  </a:lnTo>
                  <a:close/>
                </a:path>
              </a:pathLst>
            </a:custGeom>
            <a:solidFill>
              <a:srgbClr val="026855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227201" y="6135243"/>
            <a:ext cx="754380" cy="658368"/>
            <a:chOff x="0" y="0"/>
            <a:chExt cx="1005840" cy="87782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005840" cy="877824"/>
            </a:xfrm>
            <a:custGeom>
              <a:avLst/>
              <a:gdLst/>
              <a:ahLst/>
              <a:cxnLst/>
              <a:rect l="l" t="t" r="r" b="b"/>
              <a:pathLst>
                <a:path w="1005840" h="877824">
                  <a:moveTo>
                    <a:pt x="0" y="0"/>
                  </a:moveTo>
                  <a:lnTo>
                    <a:pt x="1005840" y="0"/>
                  </a:lnTo>
                  <a:lnTo>
                    <a:pt x="10058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r="-61974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1005840" cy="8873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27201" y="7177659"/>
            <a:ext cx="754380" cy="658368"/>
            <a:chOff x="0" y="0"/>
            <a:chExt cx="1005840" cy="87782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05840" cy="877824"/>
            </a:xfrm>
            <a:custGeom>
              <a:avLst/>
              <a:gdLst/>
              <a:ahLst/>
              <a:cxnLst/>
              <a:rect l="l" t="t" r="r" b="b"/>
              <a:pathLst>
                <a:path w="1005840" h="877824">
                  <a:moveTo>
                    <a:pt x="0" y="438912"/>
                  </a:moveTo>
                  <a:lnTo>
                    <a:pt x="219456" y="0"/>
                  </a:lnTo>
                  <a:lnTo>
                    <a:pt x="786384" y="0"/>
                  </a:lnTo>
                  <a:lnTo>
                    <a:pt x="1005840" y="438912"/>
                  </a:lnTo>
                  <a:lnTo>
                    <a:pt x="786384" y="877824"/>
                  </a:lnTo>
                  <a:lnTo>
                    <a:pt x="219456" y="877824"/>
                  </a:lnTo>
                  <a:close/>
                </a:path>
              </a:pathLst>
            </a:custGeom>
            <a:solidFill>
              <a:srgbClr val="026855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227201" y="7177659"/>
            <a:ext cx="754380" cy="658368"/>
            <a:chOff x="0" y="0"/>
            <a:chExt cx="1005840" cy="87782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05840" cy="877824"/>
            </a:xfrm>
            <a:custGeom>
              <a:avLst/>
              <a:gdLst/>
              <a:ahLst/>
              <a:cxnLst/>
              <a:rect l="l" t="t" r="r" b="b"/>
              <a:pathLst>
                <a:path w="1005840" h="877824">
                  <a:moveTo>
                    <a:pt x="0" y="0"/>
                  </a:moveTo>
                  <a:lnTo>
                    <a:pt x="1005840" y="0"/>
                  </a:lnTo>
                  <a:lnTo>
                    <a:pt x="10058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r="-61974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1005840" cy="8873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27201" y="8220075"/>
            <a:ext cx="754380" cy="658368"/>
            <a:chOff x="0" y="0"/>
            <a:chExt cx="1005840" cy="87782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005840" cy="877824"/>
            </a:xfrm>
            <a:custGeom>
              <a:avLst/>
              <a:gdLst/>
              <a:ahLst/>
              <a:cxnLst/>
              <a:rect l="l" t="t" r="r" b="b"/>
              <a:pathLst>
                <a:path w="1005840" h="877824">
                  <a:moveTo>
                    <a:pt x="0" y="438912"/>
                  </a:moveTo>
                  <a:lnTo>
                    <a:pt x="219456" y="0"/>
                  </a:lnTo>
                  <a:lnTo>
                    <a:pt x="786384" y="0"/>
                  </a:lnTo>
                  <a:lnTo>
                    <a:pt x="1005840" y="438912"/>
                  </a:lnTo>
                  <a:lnTo>
                    <a:pt x="786384" y="877824"/>
                  </a:lnTo>
                  <a:lnTo>
                    <a:pt x="219456" y="877824"/>
                  </a:lnTo>
                  <a:close/>
                </a:path>
              </a:pathLst>
            </a:custGeom>
            <a:solidFill>
              <a:srgbClr val="026855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227201" y="8220075"/>
            <a:ext cx="754380" cy="658368"/>
            <a:chOff x="0" y="0"/>
            <a:chExt cx="1005840" cy="87782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005840" cy="877824"/>
            </a:xfrm>
            <a:custGeom>
              <a:avLst/>
              <a:gdLst/>
              <a:ahLst/>
              <a:cxnLst/>
              <a:rect l="l" t="t" r="r" b="b"/>
              <a:pathLst>
                <a:path w="1005840" h="877824">
                  <a:moveTo>
                    <a:pt x="0" y="0"/>
                  </a:moveTo>
                  <a:lnTo>
                    <a:pt x="1005840" y="0"/>
                  </a:lnTo>
                  <a:lnTo>
                    <a:pt x="10058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974" r="-61974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1005840" cy="8873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id="50" name="Freeform 50"/>
          <p:cNvSpPr/>
          <p:nvPr/>
        </p:nvSpPr>
        <p:spPr>
          <a:xfrm>
            <a:off x="1028700" y="480060"/>
            <a:ext cx="1154126" cy="1154126"/>
          </a:xfrm>
          <a:custGeom>
            <a:avLst/>
            <a:gdLst/>
            <a:ahLst/>
            <a:cxnLst/>
            <a:rect l="l" t="t" r="r" b="b"/>
            <a:pathLst>
              <a:path w="1154126" h="1154126">
                <a:moveTo>
                  <a:pt x="0" y="0"/>
                </a:moveTo>
                <a:lnTo>
                  <a:pt x="1154126" y="0"/>
                </a:lnTo>
                <a:lnTo>
                  <a:pt x="1154126" y="1154126"/>
                </a:lnTo>
                <a:lnTo>
                  <a:pt x="0" y="11541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51" name="Group 51"/>
          <p:cNvGrpSpPr/>
          <p:nvPr/>
        </p:nvGrpSpPr>
        <p:grpSpPr>
          <a:xfrm>
            <a:off x="9143771" y="5336102"/>
            <a:ext cx="7840523" cy="3798177"/>
            <a:chOff x="0" y="0"/>
            <a:chExt cx="10454030" cy="5064235"/>
          </a:xfrm>
        </p:grpSpPr>
        <p:grpSp>
          <p:nvGrpSpPr>
            <p:cNvPr id="52" name="Group 52"/>
            <p:cNvGrpSpPr/>
            <p:nvPr/>
          </p:nvGrpSpPr>
          <p:grpSpPr>
            <a:xfrm>
              <a:off x="0" y="0"/>
              <a:ext cx="10454030" cy="5064235"/>
              <a:chOff x="0" y="0"/>
              <a:chExt cx="10906760" cy="528355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10906760" cy="5283551"/>
              </a:xfrm>
              <a:custGeom>
                <a:avLst/>
                <a:gdLst/>
                <a:ahLst/>
                <a:cxnLst/>
                <a:rect l="l" t="t" r="r" b="b"/>
                <a:pathLst>
                  <a:path w="10906760" h="5283551">
                    <a:moveTo>
                      <a:pt x="0" y="422658"/>
                    </a:moveTo>
                    <a:cubicBezTo>
                      <a:pt x="0" y="189229"/>
                      <a:pt x="187579" y="0"/>
                      <a:pt x="418973" y="0"/>
                    </a:cubicBezTo>
                    <a:lnTo>
                      <a:pt x="10487787" y="0"/>
                    </a:lnTo>
                    <a:cubicBezTo>
                      <a:pt x="10719181" y="0"/>
                      <a:pt x="10906760" y="189229"/>
                      <a:pt x="10906760" y="422658"/>
                    </a:cubicBezTo>
                    <a:lnTo>
                      <a:pt x="10906760" y="4860892"/>
                    </a:lnTo>
                    <a:cubicBezTo>
                      <a:pt x="10906760" y="5094322"/>
                      <a:pt x="10719181" y="5283551"/>
                      <a:pt x="10487787" y="5283551"/>
                    </a:cubicBezTo>
                    <a:lnTo>
                      <a:pt x="418973" y="5283551"/>
                    </a:lnTo>
                    <a:cubicBezTo>
                      <a:pt x="187579" y="5283551"/>
                      <a:pt x="0" y="5094322"/>
                      <a:pt x="0" y="4860892"/>
                    </a:cubicBezTo>
                    <a:close/>
                  </a:path>
                </a:pathLst>
              </a:custGeom>
              <a:solidFill>
                <a:srgbClr val="EEF7E6"/>
              </a:solidFill>
              <a:ln w="19050" cap="sq">
                <a:solidFill>
                  <a:srgbClr val="B9DC9C"/>
                </a:solidFill>
                <a:prstDash val="solid"/>
                <a:miter/>
              </a:ln>
            </p:spPr>
          </p:sp>
        </p:grpSp>
        <p:grpSp>
          <p:nvGrpSpPr>
            <p:cNvPr id="54" name="Group 54"/>
            <p:cNvGrpSpPr/>
            <p:nvPr/>
          </p:nvGrpSpPr>
          <p:grpSpPr>
            <a:xfrm>
              <a:off x="12173" y="0"/>
              <a:ext cx="10429685" cy="800973"/>
              <a:chOff x="0" y="0"/>
              <a:chExt cx="10881360" cy="8356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10881360" cy="835660"/>
              </a:xfrm>
              <a:custGeom>
                <a:avLst/>
                <a:gdLst/>
                <a:ahLst/>
                <a:cxnLst/>
                <a:rect l="l" t="t" r="r" b="b"/>
                <a:pathLst>
                  <a:path w="10881360" h="835660">
                    <a:moveTo>
                      <a:pt x="246888" y="0"/>
                    </a:moveTo>
                    <a:lnTo>
                      <a:pt x="10634472" y="0"/>
                    </a:lnTo>
                    <a:cubicBezTo>
                      <a:pt x="10770870" y="0"/>
                      <a:pt x="10881360" y="112195"/>
                      <a:pt x="10881360" y="250698"/>
                    </a:cubicBezTo>
                    <a:lnTo>
                      <a:pt x="10881360" y="835660"/>
                    </a:lnTo>
                    <a:lnTo>
                      <a:pt x="0" y="835660"/>
                    </a:lnTo>
                    <a:lnTo>
                      <a:pt x="0" y="250698"/>
                    </a:lnTo>
                    <a:cubicBezTo>
                      <a:pt x="0" y="112195"/>
                      <a:pt x="110490" y="0"/>
                      <a:pt x="246888" y="0"/>
                    </a:cubicBezTo>
                    <a:close/>
                  </a:path>
                </a:pathLst>
              </a:custGeom>
              <a:solidFill>
                <a:srgbClr val="026855"/>
              </a:solidFill>
            </p:spPr>
          </p:sp>
        </p:grpSp>
        <p:grpSp>
          <p:nvGrpSpPr>
            <p:cNvPr id="56" name="Group 56"/>
            <p:cNvGrpSpPr/>
            <p:nvPr/>
          </p:nvGrpSpPr>
          <p:grpSpPr>
            <a:xfrm>
              <a:off x="494217" y="0"/>
              <a:ext cx="9465596" cy="788800"/>
              <a:chOff x="0" y="0"/>
              <a:chExt cx="9875520" cy="8229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9875520" cy="822960"/>
              </a:xfrm>
              <a:custGeom>
                <a:avLst/>
                <a:gdLst/>
                <a:ahLst/>
                <a:cxnLst/>
                <a:rect l="l" t="t" r="r" b="b"/>
                <a:pathLst>
                  <a:path w="9875520" h="822960">
                    <a:moveTo>
                      <a:pt x="0" y="0"/>
                    </a:moveTo>
                    <a:lnTo>
                      <a:pt x="9875520" y="0"/>
                    </a:lnTo>
                    <a:lnTo>
                      <a:pt x="9875520" y="822960"/>
                    </a:lnTo>
                    <a:lnTo>
                      <a:pt x="0" y="82296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83820" b="-183820"/>
                </a:stretch>
              </a:blipFill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0" y="-57150"/>
                <a:ext cx="9875520" cy="88011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879"/>
                  </a:lnSpc>
                </a:pPr>
                <a:r>
                  <a:rPr lang="en-US" sz="239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WHY IT IS IMPORTANT RIGHT NOW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494217" y="1134021"/>
              <a:ext cx="569689" cy="493730"/>
              <a:chOff x="0" y="0"/>
              <a:chExt cx="548640" cy="475488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548640" cy="475488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475488">
                    <a:moveTo>
                      <a:pt x="0" y="237744"/>
                    </a:moveTo>
                    <a:lnTo>
                      <a:pt x="118872" y="0"/>
                    </a:lnTo>
                    <a:lnTo>
                      <a:pt x="429768" y="0"/>
                    </a:lnTo>
                    <a:lnTo>
                      <a:pt x="548640" y="237744"/>
                    </a:lnTo>
                    <a:lnTo>
                      <a:pt x="429768" y="475488"/>
                    </a:lnTo>
                    <a:lnTo>
                      <a:pt x="118872" y="475488"/>
                    </a:lnTo>
                    <a:close/>
                  </a:path>
                </a:pathLst>
              </a:custGeom>
              <a:solidFill>
                <a:srgbClr val="026855"/>
              </a:solidFill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494217" y="2133168"/>
              <a:ext cx="569689" cy="493730"/>
              <a:chOff x="0" y="0"/>
              <a:chExt cx="548640" cy="475488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548640" cy="475488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475488">
                    <a:moveTo>
                      <a:pt x="0" y="237744"/>
                    </a:moveTo>
                    <a:lnTo>
                      <a:pt x="118872" y="0"/>
                    </a:lnTo>
                    <a:lnTo>
                      <a:pt x="429768" y="0"/>
                    </a:lnTo>
                    <a:lnTo>
                      <a:pt x="548640" y="237744"/>
                    </a:lnTo>
                    <a:lnTo>
                      <a:pt x="429768" y="475488"/>
                    </a:lnTo>
                    <a:lnTo>
                      <a:pt x="118872" y="475488"/>
                    </a:lnTo>
                    <a:close/>
                  </a:path>
                </a:pathLst>
              </a:custGeom>
              <a:solidFill>
                <a:srgbClr val="026855"/>
              </a:solidFill>
            </p:spPr>
          </p:sp>
        </p:grpSp>
        <p:grpSp>
          <p:nvGrpSpPr>
            <p:cNvPr id="63" name="Group 63"/>
            <p:cNvGrpSpPr/>
            <p:nvPr/>
          </p:nvGrpSpPr>
          <p:grpSpPr>
            <a:xfrm>
              <a:off x="494217" y="3132314"/>
              <a:ext cx="569689" cy="493730"/>
              <a:chOff x="0" y="0"/>
              <a:chExt cx="548640" cy="475488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548640" cy="475488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475488">
                    <a:moveTo>
                      <a:pt x="0" y="237744"/>
                    </a:moveTo>
                    <a:lnTo>
                      <a:pt x="118872" y="0"/>
                    </a:lnTo>
                    <a:lnTo>
                      <a:pt x="429768" y="0"/>
                    </a:lnTo>
                    <a:lnTo>
                      <a:pt x="548640" y="237744"/>
                    </a:lnTo>
                    <a:lnTo>
                      <a:pt x="429768" y="475488"/>
                    </a:lnTo>
                    <a:lnTo>
                      <a:pt x="118872" y="475488"/>
                    </a:lnTo>
                    <a:close/>
                  </a:path>
                </a:pathLst>
              </a:custGeom>
              <a:solidFill>
                <a:srgbClr val="026855"/>
              </a:solidFill>
            </p:spPr>
          </p:sp>
        </p:grpSp>
        <p:grpSp>
          <p:nvGrpSpPr>
            <p:cNvPr id="65" name="Group 65"/>
            <p:cNvGrpSpPr/>
            <p:nvPr/>
          </p:nvGrpSpPr>
          <p:grpSpPr>
            <a:xfrm>
              <a:off x="538039" y="4131460"/>
              <a:ext cx="525866" cy="455751"/>
              <a:chOff x="0" y="0"/>
              <a:chExt cx="548640" cy="475488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548640" cy="475488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475488">
                    <a:moveTo>
                      <a:pt x="0" y="237744"/>
                    </a:moveTo>
                    <a:lnTo>
                      <a:pt x="118872" y="0"/>
                    </a:lnTo>
                    <a:lnTo>
                      <a:pt x="429768" y="0"/>
                    </a:lnTo>
                    <a:lnTo>
                      <a:pt x="548640" y="237744"/>
                    </a:lnTo>
                    <a:lnTo>
                      <a:pt x="429768" y="475488"/>
                    </a:lnTo>
                    <a:lnTo>
                      <a:pt x="118872" y="475488"/>
                    </a:lnTo>
                    <a:close/>
                  </a:path>
                </a:pathLst>
              </a:custGeom>
              <a:solidFill>
                <a:srgbClr val="026855"/>
              </a:solidFill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1414483" y="914150"/>
              <a:ext cx="8764441" cy="7970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156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Crops cannot wait</a:t>
              </a:r>
            </a:p>
            <a:p>
              <a:pPr algn="l">
                <a:lnSpc>
                  <a:spcPts val="2156"/>
                </a:lnSpc>
              </a:pPr>
              <a:r>
                <a:rPr lang="en-US" sz="1797">
                  <a:solidFill>
                    <a:srgbClr val="4F666A"/>
                  </a:solidFill>
                  <a:latin typeface="Cambria"/>
                  <a:ea typeface="Cambria"/>
                  <a:cs typeface="Cambria"/>
                  <a:sym typeface="Cambria"/>
                </a:rPr>
                <a:t>Tomato and banana spoil fast, so a wrong call is a direct loss.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414483" y="1913296"/>
              <a:ext cx="8764441" cy="7970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156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Farmers lack bargaining power</a:t>
              </a:r>
            </a:p>
            <a:p>
              <a:pPr algn="l">
                <a:lnSpc>
                  <a:spcPts val="2156"/>
                </a:lnSpc>
              </a:pPr>
              <a:r>
                <a:rPr lang="en-US" sz="1797">
                  <a:solidFill>
                    <a:srgbClr val="4F666A"/>
                  </a:solidFill>
                  <a:latin typeface="Cambria"/>
                  <a:ea typeface="Cambria"/>
                  <a:cs typeface="Cambria"/>
                  <a:sym typeface="Cambria"/>
                </a:rPr>
                <a:t>No information means they accept the middleman's price.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414483" y="2912442"/>
              <a:ext cx="8764441" cy="7970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156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data is public but unused</a:t>
              </a:r>
            </a:p>
            <a:p>
              <a:pPr algn="l">
                <a:lnSpc>
                  <a:spcPts val="2156"/>
                </a:lnSpc>
              </a:pPr>
              <a:r>
                <a:rPr lang="en-US" sz="1797">
                  <a:solidFill>
                    <a:srgbClr val="4F666A"/>
                  </a:solidFill>
                  <a:latin typeface="Cambria"/>
                  <a:ea typeface="Cambria"/>
                  <a:cs typeface="Cambria"/>
                  <a:sym typeface="Cambria"/>
                </a:rPr>
                <a:t>Daily market prices exist, yet none become a decision.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414483" y="3911588"/>
              <a:ext cx="8764441" cy="11526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87"/>
                </a:lnSpc>
              </a:pPr>
              <a:r>
                <a:rPr lang="en-US" sz="2156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technology is ready</a:t>
              </a:r>
            </a:p>
            <a:p>
              <a:pPr algn="l">
                <a:lnSpc>
                  <a:spcPts val="2156"/>
                </a:lnSpc>
              </a:pPr>
              <a:r>
                <a:rPr lang="en-US" sz="1797">
                  <a:solidFill>
                    <a:srgbClr val="4F666A"/>
                  </a:solidFill>
                  <a:latin typeface="Cambria"/>
                  <a:ea typeface="Cambria"/>
                  <a:cs typeface="Cambria"/>
                  <a:sym typeface="Cambria"/>
                </a:rPr>
                <a:t>Basic phones, forecasting and local languages make it low-cost.</a:t>
              </a:r>
            </a:p>
            <a:p>
              <a:pPr algn="l">
                <a:lnSpc>
                  <a:spcPts val="2156"/>
                </a:lnSpc>
              </a:pPr>
              <a:endParaRPr lang="en-US" sz="1797">
                <a:solidFill>
                  <a:srgbClr val="4F666A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9525" y="9532620"/>
            <a:ext cx="18287543" cy="754380"/>
            <a:chOff x="0" y="0"/>
            <a:chExt cx="24383390" cy="100584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4383364" cy="1005840"/>
            </a:xfrm>
            <a:custGeom>
              <a:avLst/>
              <a:gdLst/>
              <a:ahLst/>
              <a:cxnLst/>
              <a:rect l="l" t="t" r="r" b="b"/>
              <a:pathLst>
                <a:path w="24383364" h="1005840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id="73" name="Group 73"/>
          <p:cNvGrpSpPr/>
          <p:nvPr/>
        </p:nvGrpSpPr>
        <p:grpSpPr>
          <a:xfrm>
            <a:off x="3429000" y="9532620"/>
            <a:ext cx="11429543" cy="754380"/>
            <a:chOff x="0" y="0"/>
            <a:chExt cx="15239390" cy="10058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5239391" cy="1005840"/>
            </a:xfrm>
            <a:custGeom>
              <a:avLst/>
              <a:gdLst/>
              <a:ahLst/>
              <a:cxnLst/>
              <a:rect l="l" t="t" r="r" b="b"/>
              <a:pathLst>
                <a:path w="15239391" h="1005840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216" b="-245216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– Pre-Ideathon Template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6961724" y="9614916"/>
            <a:ext cx="647163" cy="556155"/>
            <a:chOff x="0" y="0"/>
            <a:chExt cx="812800" cy="6985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7AC143"/>
            </a:solidFill>
          </p:spPr>
        </p:sp>
        <p:sp>
          <p:nvSpPr>
            <p:cNvPr id="78" name="TextBox 78"/>
            <p:cNvSpPr txBox="1"/>
            <p:nvPr/>
          </p:nvSpPr>
          <p:spPr>
            <a:xfrm>
              <a:off x="114300" y="-9525"/>
              <a:ext cx="5842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87"/>
                </a:lnSpc>
              </a:pPr>
              <a:endParaRPr/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2228850" y="5954268"/>
            <a:ext cx="6515100" cy="961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52B35"/>
                </a:solidFill>
                <a:latin typeface="Cambria Bold"/>
                <a:ea typeface="Cambria Bold"/>
                <a:cs typeface="Cambria Bold"/>
                <a:sym typeface="Cambria Bold"/>
              </a:rPr>
              <a:t>See the whole market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F666A"/>
                </a:solidFill>
                <a:latin typeface="Cambria"/>
                <a:ea typeface="Cambria"/>
                <a:cs typeface="Cambria"/>
                <a:sym typeface="Cambria"/>
              </a:rPr>
              <a:t>Farmers cannot compare nearby markets or see where prices are heading in the coming days.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2283333" y="7058406"/>
            <a:ext cx="6515100" cy="961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52B35"/>
                </a:solidFill>
                <a:latin typeface="Cambria Bold"/>
                <a:ea typeface="Cambria Bold"/>
                <a:cs typeface="Cambria Bold"/>
                <a:sym typeface="Cambria Bold"/>
              </a:rPr>
              <a:t>Find the true earning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F666A"/>
                </a:solidFill>
                <a:latin typeface="Cambria"/>
                <a:ea typeface="Cambria"/>
                <a:cs typeface="Cambria"/>
                <a:sym typeface="Cambria"/>
              </a:rPr>
              <a:t>The highest price is not the highest earning: transport, charges and spoilage must be subtracted.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2283333" y="8100822"/>
            <a:ext cx="6515100" cy="961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052B35"/>
                </a:solidFill>
                <a:latin typeface="Cambria Bold"/>
                <a:ea typeface="Cambria Bold"/>
                <a:cs typeface="Cambria Bold"/>
                <a:sym typeface="Cambria Bold"/>
              </a:rPr>
              <a:t>Give one clear decision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4F666A"/>
                </a:solidFill>
                <a:latin typeface="Cambria"/>
                <a:ea typeface="Cambria"/>
                <a:cs typeface="Cambria"/>
                <a:sym typeface="Cambria"/>
              </a:rPr>
              <a:t>One answer in the farmer's language: sell here, on this day, and earn this much more.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1227201" y="2752077"/>
            <a:ext cx="9795525" cy="2128533"/>
            <a:chOff x="0" y="0"/>
            <a:chExt cx="13060699" cy="2838044"/>
          </a:xfrm>
        </p:grpSpPr>
        <p:grpSp>
          <p:nvGrpSpPr>
            <p:cNvPr id="83" name="Group 83"/>
            <p:cNvGrpSpPr/>
            <p:nvPr/>
          </p:nvGrpSpPr>
          <p:grpSpPr>
            <a:xfrm>
              <a:off x="0" y="0"/>
              <a:ext cx="13060699" cy="2743200"/>
              <a:chOff x="0" y="0"/>
              <a:chExt cx="13060699" cy="2743200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0" y="0"/>
                <a:ext cx="13060700" cy="2743200"/>
              </a:xfrm>
              <a:custGeom>
                <a:avLst/>
                <a:gdLst/>
                <a:ahLst/>
                <a:cxnLst/>
                <a:rect l="l" t="t" r="r" b="b"/>
                <a:pathLst>
                  <a:path w="13060700" h="2743200">
                    <a:moveTo>
                      <a:pt x="0" y="219456"/>
                    </a:moveTo>
                    <a:cubicBezTo>
                      <a:pt x="0" y="98298"/>
                      <a:pt x="96166" y="0"/>
                      <a:pt x="214696" y="0"/>
                    </a:cubicBezTo>
                    <a:lnTo>
                      <a:pt x="12846003" y="0"/>
                    </a:lnTo>
                    <a:cubicBezTo>
                      <a:pt x="12964534" y="0"/>
                      <a:pt x="13060700" y="98298"/>
                      <a:pt x="13060700" y="219456"/>
                    </a:cubicBezTo>
                    <a:lnTo>
                      <a:pt x="13060700" y="2523744"/>
                    </a:lnTo>
                    <a:cubicBezTo>
                      <a:pt x="13060700" y="2644902"/>
                      <a:pt x="12964534" y="2743200"/>
                      <a:pt x="12846003" y="2743200"/>
                    </a:cubicBezTo>
                    <a:lnTo>
                      <a:pt x="214696" y="2743200"/>
                    </a:lnTo>
                    <a:cubicBezTo>
                      <a:pt x="96166" y="2743200"/>
                      <a:pt x="0" y="2644902"/>
                      <a:pt x="0" y="2523744"/>
                    </a:cubicBezTo>
                    <a:close/>
                  </a:path>
                </a:pathLst>
              </a:custGeom>
              <a:solidFill>
                <a:srgbClr val="094542"/>
              </a:solidFill>
            </p:spPr>
          </p:sp>
        </p:grpSp>
        <p:grpSp>
          <p:nvGrpSpPr>
            <p:cNvPr id="85" name="Group 85"/>
            <p:cNvGrpSpPr/>
            <p:nvPr/>
          </p:nvGrpSpPr>
          <p:grpSpPr>
            <a:xfrm>
              <a:off x="1348177" y="155708"/>
              <a:ext cx="8987850" cy="877824"/>
              <a:chOff x="0" y="0"/>
              <a:chExt cx="8987850" cy="877824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987850" cy="877824"/>
              </a:xfrm>
              <a:custGeom>
                <a:avLst/>
                <a:gdLst/>
                <a:ahLst/>
                <a:cxnLst/>
                <a:rect l="l" t="t" r="r" b="b"/>
                <a:pathLst>
                  <a:path w="8987850" h="877824">
                    <a:moveTo>
                      <a:pt x="0" y="0"/>
                    </a:moveTo>
                    <a:lnTo>
                      <a:pt x="8987850" y="0"/>
                    </a:lnTo>
                    <a:lnTo>
                      <a:pt x="8987850" y="877824"/>
                    </a:lnTo>
                    <a:lnTo>
                      <a:pt x="0" y="87782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52969" r="-1737" b="-152969"/>
                </a:stretch>
              </a:blipFill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0" y="-66675"/>
                <a:ext cx="8987850" cy="94449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719"/>
                  </a:lnSpc>
                </a:pPr>
                <a:r>
                  <a:rPr lang="en-US" sz="3099" b="1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THE PROBLEM</a:t>
                </a: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439577" y="216661"/>
              <a:ext cx="809235" cy="755918"/>
              <a:chOff x="0" y="0"/>
              <a:chExt cx="917713" cy="857249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917712" cy="857249"/>
              </a:xfrm>
              <a:custGeom>
                <a:avLst/>
                <a:gdLst/>
                <a:ahLst/>
                <a:cxnLst/>
                <a:rect l="l" t="t" r="r" b="b"/>
                <a:pathLst>
                  <a:path w="917712" h="857249">
                    <a:moveTo>
                      <a:pt x="917712" y="428624"/>
                    </a:moveTo>
                    <a:lnTo>
                      <a:pt x="714513" y="857249"/>
                    </a:lnTo>
                    <a:lnTo>
                      <a:pt x="203200" y="857249"/>
                    </a:lnTo>
                    <a:lnTo>
                      <a:pt x="0" y="428624"/>
                    </a:lnTo>
                    <a:lnTo>
                      <a:pt x="203200" y="0"/>
                    </a:lnTo>
                    <a:lnTo>
                      <a:pt x="714513" y="0"/>
                    </a:lnTo>
                    <a:lnTo>
                      <a:pt x="917712" y="428624"/>
                    </a:lnTo>
                    <a:close/>
                  </a:path>
                </a:pathLst>
              </a:custGeom>
              <a:solidFill>
                <a:srgbClr val="318A25"/>
              </a:solidFill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114300" y="-19050"/>
                <a:ext cx="689113" cy="8762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39"/>
                  </a:lnSpc>
                </a:pPr>
                <a:r>
                  <a:rPr lang="en-US" sz="2449" b="1">
                    <a:solidFill>
                      <a:srgbClr val="FFFFFF"/>
                    </a:solidFill>
                    <a:latin typeface="Times New Roman Bold"/>
                    <a:ea typeface="Times New Roman Bold"/>
                    <a:cs typeface="Times New Roman Bold"/>
                    <a:sym typeface="Times New Roman Bold"/>
                  </a:rPr>
                  <a:t>!</a:t>
                </a:r>
              </a:p>
            </p:txBody>
          </p:sp>
        </p:grpSp>
        <p:sp>
          <p:nvSpPr>
            <p:cNvPr id="91" name="TextBox 91"/>
            <p:cNvSpPr txBox="1"/>
            <p:nvPr/>
          </p:nvSpPr>
          <p:spPr>
            <a:xfrm>
              <a:off x="166999" y="1040994"/>
              <a:ext cx="12248992" cy="1797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45"/>
                </a:lnSpc>
              </a:pPr>
              <a:r>
                <a:rPr lang="en-US" sz="2204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Every harvest, a small farmer has one day to sell, with </a:t>
              </a:r>
              <a:r>
                <a:rPr lang="en-US" sz="2204" b="1">
                  <a:solidFill>
                    <a:srgbClr val="7AC14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 way to know where it pays most</a:t>
              </a:r>
              <a:r>
                <a:rPr lang="en-US" sz="2204">
                  <a:solidFill>
                    <a:srgbClr val="FFFFFF"/>
                  </a:solidFill>
                  <a:latin typeface="Cambria"/>
                  <a:ea typeface="Cambria"/>
                  <a:cs typeface="Cambria"/>
                  <a:sym typeface="Cambria"/>
                </a:rPr>
                <a:t>. Available Apps show prices but not decisions, so months of work sell in minutes often </a:t>
              </a:r>
              <a:r>
                <a:rPr lang="en-US" sz="2204" b="1">
                  <a:solidFill>
                    <a:srgbClr val="7AC14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without knowing the most profitable option</a:t>
              </a:r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2298405" y="782955"/>
            <a:ext cx="1254831" cy="45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9"/>
              </a:lnSpc>
              <a:spcBef>
                <a:spcPct val="0"/>
              </a:spcBef>
            </a:pPr>
            <a:r>
              <a:rPr lang="en-US" sz="294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Nexus0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9654790" y="7626451"/>
            <a:ext cx="14484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2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9607144" y="6887895"/>
            <a:ext cx="240133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2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9535557" y="6187429"/>
            <a:ext cx="383306" cy="342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654790" y="8378926"/>
            <a:ext cx="144841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25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grpSp>
        <p:nvGrpSpPr>
          <p:cNvPr id="97" name="Group 97"/>
          <p:cNvGrpSpPr/>
          <p:nvPr/>
        </p:nvGrpSpPr>
        <p:grpSpPr>
          <a:xfrm>
            <a:off x="11312000" y="2663973"/>
            <a:ext cx="5919411" cy="2462118"/>
            <a:chOff x="0" y="0"/>
            <a:chExt cx="7892548" cy="3282823"/>
          </a:xfrm>
        </p:grpSpPr>
        <p:grpSp>
          <p:nvGrpSpPr>
            <p:cNvPr id="98" name="Group 98"/>
            <p:cNvGrpSpPr/>
            <p:nvPr/>
          </p:nvGrpSpPr>
          <p:grpSpPr>
            <a:xfrm>
              <a:off x="0" y="0"/>
              <a:ext cx="7892548" cy="3282823"/>
              <a:chOff x="0" y="0"/>
              <a:chExt cx="1466228" cy="610091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1466228" cy="610091"/>
              </a:xfrm>
              <a:custGeom>
                <a:avLst/>
                <a:gdLst/>
                <a:ahLst/>
                <a:cxnLst/>
                <a:rect l="l" t="t" r="r" b="b"/>
                <a:pathLst>
                  <a:path w="1466228" h="610091">
                    <a:moveTo>
                      <a:pt x="1466228" y="52847"/>
                    </a:moveTo>
                    <a:lnTo>
                      <a:pt x="1466228" y="557245"/>
                    </a:lnTo>
                    <a:cubicBezTo>
                      <a:pt x="1466228" y="571260"/>
                      <a:pt x="1460660" y="584702"/>
                      <a:pt x="1450749" y="594613"/>
                    </a:cubicBezTo>
                    <a:cubicBezTo>
                      <a:pt x="1440839" y="604523"/>
                      <a:pt x="1427397" y="610091"/>
                      <a:pt x="1413381" y="610091"/>
                    </a:cubicBezTo>
                    <a:lnTo>
                      <a:pt x="52847" y="610091"/>
                    </a:lnTo>
                    <a:cubicBezTo>
                      <a:pt x="38831" y="610091"/>
                      <a:pt x="25389" y="604523"/>
                      <a:pt x="15478" y="594613"/>
                    </a:cubicBezTo>
                    <a:cubicBezTo>
                      <a:pt x="5568" y="584702"/>
                      <a:pt x="0" y="571260"/>
                      <a:pt x="0" y="557245"/>
                    </a:cubicBezTo>
                    <a:lnTo>
                      <a:pt x="0" y="52847"/>
                    </a:lnTo>
                    <a:cubicBezTo>
                      <a:pt x="0" y="38831"/>
                      <a:pt x="5568" y="25389"/>
                      <a:pt x="15478" y="15478"/>
                    </a:cubicBezTo>
                    <a:cubicBezTo>
                      <a:pt x="25389" y="5568"/>
                      <a:pt x="38831" y="0"/>
                      <a:pt x="52847" y="0"/>
                    </a:cubicBezTo>
                    <a:lnTo>
                      <a:pt x="1413381" y="0"/>
                    </a:lnTo>
                    <a:cubicBezTo>
                      <a:pt x="1427397" y="0"/>
                      <a:pt x="1440839" y="5568"/>
                      <a:pt x="1450749" y="15478"/>
                    </a:cubicBezTo>
                    <a:cubicBezTo>
                      <a:pt x="1460660" y="25389"/>
                      <a:pt x="1466228" y="38831"/>
                      <a:pt x="1466228" y="52847"/>
                    </a:cubicBezTo>
                    <a:close/>
                  </a:path>
                </a:pathLst>
              </a:custGeom>
              <a:solidFill>
                <a:srgbClr val="026855"/>
              </a:solidFill>
            </p:spPr>
          </p:sp>
          <p:sp>
            <p:nvSpPr>
              <p:cNvPr id="100" name="TextBox 100"/>
              <p:cNvSpPr txBox="1"/>
              <p:nvPr/>
            </p:nvSpPr>
            <p:spPr>
              <a:xfrm>
                <a:off x="0" y="-9525"/>
                <a:ext cx="1466228" cy="6196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87"/>
                  </a:lnSpc>
                </a:pPr>
                <a:endParaRPr/>
              </a:p>
            </p:txBody>
          </p:sp>
        </p:grpSp>
        <p:sp>
          <p:nvSpPr>
            <p:cNvPr id="101" name="TextBox 101"/>
            <p:cNvSpPr txBox="1"/>
            <p:nvPr/>
          </p:nvSpPr>
          <p:spPr>
            <a:xfrm>
              <a:off x="207156" y="64780"/>
              <a:ext cx="7414541" cy="30249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78"/>
                </a:lnSpc>
              </a:pPr>
              <a:r>
                <a:rPr lang="en-US" sz="1898" b="1">
                  <a:solidFill>
                    <a:srgbClr val="FFBD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PRICE ≠ PROFIT</a:t>
              </a:r>
            </a:p>
            <a:p>
              <a:pPr algn="ctr">
                <a:lnSpc>
                  <a:spcPts val="2278"/>
                </a:lnSpc>
              </a:pPr>
              <a:r>
                <a:rPr lang="en-US" sz="1898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Highest price doesn't mean highest earning.</a:t>
              </a:r>
            </a:p>
            <a:p>
              <a:pPr algn="ctr">
                <a:lnSpc>
                  <a:spcPts val="2278"/>
                </a:lnSpc>
              </a:pPr>
              <a:r>
                <a:rPr lang="en-US" sz="1898" b="1">
                  <a:solidFill>
                    <a:srgbClr val="FF914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≠ DECISION</a:t>
              </a:r>
            </a:p>
            <a:p>
              <a:pPr algn="ctr">
                <a:lnSpc>
                  <a:spcPts val="2278"/>
                </a:lnSpc>
              </a:pPr>
              <a:r>
                <a:rPr lang="en-US" sz="1898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Farmers see prices, but don't know what to do with them.</a:t>
              </a:r>
            </a:p>
            <a:p>
              <a:pPr algn="ctr">
                <a:lnSpc>
                  <a:spcPts val="2278"/>
                </a:lnSpc>
              </a:pPr>
              <a:r>
                <a:rPr lang="en-US" sz="1898" b="1">
                  <a:solidFill>
                    <a:srgbClr val="FF914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HARVEST ≠ WAIT</a:t>
              </a:r>
            </a:p>
            <a:p>
              <a:pPr algn="ctr">
                <a:lnSpc>
                  <a:spcPts val="2278"/>
                </a:lnSpc>
                <a:spcBef>
                  <a:spcPct val="0"/>
                </a:spcBef>
              </a:pPr>
              <a:r>
                <a:rPr lang="en-US" sz="1898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Perishable crops lose value with time. Farmers need the best decision today.</a:t>
              </a:r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17241643" y="9781200"/>
            <a:ext cx="87325" cy="228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7"/>
              </a:lnSpc>
              <a:spcBef>
                <a:spcPct val="0"/>
              </a:spcBef>
            </a:pPr>
            <a:r>
              <a:rPr lang="en-US" sz="135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60159" y="472916"/>
            <a:ext cx="1248727" cy="1248727"/>
            <a:chOff x="0" y="0"/>
            <a:chExt cx="1664970" cy="16649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4970" cy="1664970"/>
            </a:xfrm>
            <a:custGeom>
              <a:avLst/>
              <a:gdLst/>
              <a:ahLst/>
              <a:cxnLst/>
              <a:rect l="l" t="t" r="r" b="b"/>
              <a:pathLst>
                <a:path w="1664970" h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6583920" y="576072"/>
            <a:ext cx="801195" cy="1042416"/>
            <a:chOff x="0" y="0"/>
            <a:chExt cx="1068260" cy="1389888"/>
          </a:xfrm>
        </p:grpSpPr>
        <p:sp>
          <p:nvSpPr>
            <p:cNvPr id="5" name="Freeform 5" descr="Genesis logo"/>
            <p:cNvSpPr/>
            <p:nvPr/>
          </p:nvSpPr>
          <p:spPr>
            <a:xfrm>
              <a:off x="0" y="0"/>
              <a:ext cx="1068324" cy="1389888"/>
            </a:xfrm>
            <a:custGeom>
              <a:avLst/>
              <a:gdLst/>
              <a:ahLst/>
              <a:cxnLst/>
              <a:rect l="l" t="t" r="r" b="b"/>
              <a:pathLst>
                <a:path w="1068324" h="1389888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532620"/>
            <a:ext cx="18287543" cy="754380"/>
            <a:chOff x="0" y="0"/>
            <a:chExt cx="24383390" cy="1005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3364" cy="1005840"/>
            </a:xfrm>
            <a:custGeom>
              <a:avLst/>
              <a:gdLst/>
              <a:ahLst/>
              <a:cxnLst/>
              <a:rect l="l" t="t" r="r" b="b"/>
              <a:pathLst>
                <a:path w="24383364" h="1005840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3429000" y="9532620"/>
            <a:ext cx="11429543" cy="754380"/>
            <a:chOff x="0" y="0"/>
            <a:chExt cx="15239390" cy="1005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39391" cy="1005840"/>
            </a:xfrm>
            <a:custGeom>
              <a:avLst/>
              <a:gdLst/>
              <a:ahLst/>
              <a:cxnLst/>
              <a:rect l="l" t="t" r="r" b="b"/>
              <a:pathLst>
                <a:path w="15239391" h="1005840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216" b="-24521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– Pre-Ideathon Template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888511" y="9614916"/>
            <a:ext cx="685800" cy="593903"/>
            <a:chOff x="0" y="0"/>
            <a:chExt cx="914400" cy="7918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400" cy="791845"/>
            </a:xfrm>
            <a:custGeom>
              <a:avLst/>
              <a:gdLst/>
              <a:ahLst/>
              <a:cxnLst/>
              <a:rect l="l" t="t" r="r" b="b"/>
              <a:pathLst>
                <a:path w="914400" h="791845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id="13" name="Group 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82519" cy="2500630"/>
            </a:xfrm>
            <a:custGeom>
              <a:avLst/>
              <a:gdLst/>
              <a:ahLst/>
              <a:cxnLst/>
              <a:rect l="l" t="t" r="r" b="b"/>
              <a:pathLst>
                <a:path w="2882519" h="2500630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r="-613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32178" cy="1677670"/>
            </a:xfrm>
            <a:custGeom>
              <a:avLst/>
              <a:gdLst/>
              <a:ahLst/>
              <a:cxnLst/>
              <a:rect l="l" t="t" r="r" b="b"/>
              <a:pathLst>
                <a:path w="1932178" h="1677670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r="-614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32178" cy="1677670"/>
            </a:xfrm>
            <a:custGeom>
              <a:avLst/>
              <a:gdLst/>
              <a:ahLst/>
              <a:cxnLst/>
              <a:rect l="l" t="t" r="r" b="b"/>
              <a:pathLst>
                <a:path w="1932178" h="1677670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r="-614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3931463" y="301676"/>
            <a:ext cx="11247120" cy="1234440"/>
            <a:chOff x="0" y="0"/>
            <a:chExt cx="14996160" cy="16459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996161" cy="1645920"/>
            </a:xfrm>
            <a:custGeom>
              <a:avLst/>
              <a:gdLst/>
              <a:ahLst/>
              <a:cxnLst/>
              <a:rect l="l" t="t" r="r" b="b"/>
              <a:pathLst>
                <a:path w="14996161" h="1645920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530" b="-12753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WHO IS AFFECTED?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4380" y="1447038"/>
            <a:ext cx="685800" cy="593903"/>
            <a:chOff x="0" y="0"/>
            <a:chExt cx="914400" cy="79187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914400" cy="791870"/>
              <a:chOff x="0" y="0"/>
              <a:chExt cx="914400" cy="79187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914400" cy="791845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791845">
                    <a:moveTo>
                      <a:pt x="0" y="395986"/>
                    </a:moveTo>
                    <a:lnTo>
                      <a:pt x="197993" y="0"/>
                    </a:lnTo>
                    <a:lnTo>
                      <a:pt x="716407" y="0"/>
                    </a:lnTo>
                    <a:lnTo>
                      <a:pt x="914400" y="395986"/>
                    </a:lnTo>
                    <a:lnTo>
                      <a:pt x="716407" y="791845"/>
                    </a:lnTo>
                    <a:lnTo>
                      <a:pt x="197993" y="791845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182880" y="121615"/>
              <a:ext cx="548640" cy="548640"/>
              <a:chOff x="0" y="0"/>
              <a:chExt cx="548640" cy="548640"/>
            </a:xfrm>
          </p:grpSpPr>
          <p:sp>
            <p:nvSpPr>
              <p:cNvPr id="26" name="Freeform 26" descr="Lightbulb icon"/>
              <p:cNvSpPr/>
              <p:nvPr/>
            </p:nvSpPr>
            <p:spPr>
              <a:xfrm>
                <a:off x="0" y="0"/>
                <a:ext cx="548640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</p:sp>
        </p:grpSp>
      </p:grpSp>
      <p:grpSp>
        <p:nvGrpSpPr>
          <p:cNvPr id="27" name="Group 27"/>
          <p:cNvGrpSpPr/>
          <p:nvPr/>
        </p:nvGrpSpPr>
        <p:grpSpPr>
          <a:xfrm>
            <a:off x="1584569" y="1344454"/>
            <a:ext cx="14854961" cy="754380"/>
            <a:chOff x="0" y="0"/>
            <a:chExt cx="19806615" cy="10058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806616" cy="1005840"/>
            </a:xfrm>
            <a:custGeom>
              <a:avLst/>
              <a:gdLst/>
              <a:ahLst/>
              <a:cxnLst/>
              <a:rect l="l" t="t" r="r" b="b"/>
              <a:pathLst>
                <a:path w="19806616" h="1005840">
                  <a:moveTo>
                    <a:pt x="0" y="0"/>
                  </a:moveTo>
                  <a:lnTo>
                    <a:pt x="19806616" y="0"/>
                  </a:lnTo>
                  <a:lnTo>
                    <a:pt x="19806616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1987" r="3050" b="-321987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9806615" cy="10629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Small and marginal farmers bear the brunt, while the impact ripples across the agricultural value chain.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888511" y="9614916"/>
            <a:ext cx="685800" cy="593903"/>
            <a:chOff x="0" y="0"/>
            <a:chExt cx="914400" cy="79187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14400" cy="791870"/>
            </a:xfrm>
            <a:custGeom>
              <a:avLst/>
              <a:gdLst/>
              <a:ahLst/>
              <a:cxnLst/>
              <a:rect l="l" t="t" r="r" b="b"/>
              <a:pathLst>
                <a:path w="914400" h="79187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r="-6111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12946" y="2542906"/>
            <a:ext cx="5436205" cy="5173746"/>
            <a:chOff x="0" y="0"/>
            <a:chExt cx="7248274" cy="6898328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290617"/>
              <a:ext cx="7248274" cy="6607711"/>
              <a:chOff x="0" y="0"/>
              <a:chExt cx="7242810" cy="660273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7242810" cy="6602730"/>
              </a:xfrm>
              <a:custGeom>
                <a:avLst/>
                <a:gdLst/>
                <a:ahLst/>
                <a:cxnLst/>
                <a:rect l="l" t="t" r="r" b="b"/>
                <a:pathLst>
                  <a:path w="7242810" h="6602730">
                    <a:moveTo>
                      <a:pt x="0" y="264160"/>
                    </a:moveTo>
                    <a:cubicBezTo>
                      <a:pt x="0" y="118237"/>
                      <a:pt x="118237" y="0"/>
                      <a:pt x="264160" y="0"/>
                    </a:cubicBezTo>
                    <a:lnTo>
                      <a:pt x="6978650" y="0"/>
                    </a:lnTo>
                    <a:cubicBezTo>
                      <a:pt x="7124573" y="0"/>
                      <a:pt x="7242810" y="118237"/>
                      <a:pt x="7242810" y="264160"/>
                    </a:cubicBezTo>
                    <a:lnTo>
                      <a:pt x="7242810" y="6338570"/>
                    </a:lnTo>
                    <a:cubicBezTo>
                      <a:pt x="7242810" y="6484493"/>
                      <a:pt x="7124573" y="6602730"/>
                      <a:pt x="6978650" y="6602730"/>
                    </a:cubicBezTo>
                    <a:lnTo>
                      <a:pt x="264160" y="6602730"/>
                    </a:lnTo>
                    <a:cubicBezTo>
                      <a:pt x="118237" y="6602730"/>
                      <a:pt x="0" y="6484493"/>
                      <a:pt x="0" y="63385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4FA278"/>
                </a:solidFill>
                <a:prstDash val="solid"/>
                <a:miter/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558586" y="565487"/>
              <a:ext cx="1479319" cy="1281126"/>
              <a:chOff x="0" y="0"/>
              <a:chExt cx="1478204" cy="12801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1478153" cy="1280160"/>
              </a:xfrm>
              <a:custGeom>
                <a:avLst/>
                <a:gdLst/>
                <a:ahLst/>
                <a:cxnLst/>
                <a:rect l="l" t="t" r="r" b="b"/>
                <a:pathLst>
                  <a:path w="1478153" h="1280160">
                    <a:moveTo>
                      <a:pt x="0" y="640080"/>
                    </a:moveTo>
                    <a:lnTo>
                      <a:pt x="320040" y="0"/>
                    </a:lnTo>
                    <a:lnTo>
                      <a:pt x="1158113" y="0"/>
                    </a:lnTo>
                    <a:lnTo>
                      <a:pt x="1478153" y="640080"/>
                    </a:lnTo>
                    <a:lnTo>
                      <a:pt x="1158113" y="1280160"/>
                    </a:lnTo>
                    <a:lnTo>
                      <a:pt x="320040" y="1280160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980893" y="872957"/>
              <a:ext cx="634705" cy="666185"/>
              <a:chOff x="0" y="0"/>
              <a:chExt cx="634226" cy="665683"/>
            </a:xfrm>
          </p:grpSpPr>
          <p:sp>
            <p:nvSpPr>
              <p:cNvPr id="39" name="Freeform 39" descr="Seedling icon"/>
              <p:cNvSpPr/>
              <p:nvPr/>
            </p:nvSpPr>
            <p:spPr>
              <a:xfrm>
                <a:off x="0" y="0"/>
                <a:ext cx="634277" cy="665734"/>
              </a:xfrm>
              <a:custGeom>
                <a:avLst/>
                <a:gdLst/>
                <a:ahLst/>
                <a:cxnLst/>
                <a:rect l="l" t="t" r="r" b="b"/>
                <a:pathLst>
                  <a:path w="634277" h="665734">
                    <a:moveTo>
                      <a:pt x="0" y="0"/>
                    </a:moveTo>
                    <a:lnTo>
                      <a:pt x="634277" y="0"/>
                    </a:lnTo>
                    <a:lnTo>
                      <a:pt x="634277" y="665734"/>
                    </a:lnTo>
                    <a:lnTo>
                      <a:pt x="0" y="6657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2487" t="-7" r="-2479"/>
                </a:stretch>
              </a:blipFill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2337947" y="0"/>
              <a:ext cx="4575449" cy="1745914"/>
              <a:chOff x="0" y="0"/>
              <a:chExt cx="4572000" cy="174459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4572000" cy="1744598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1744598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1744598"/>
                    </a:lnTo>
                    <a:lnTo>
                      <a:pt x="0" y="174459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4374" b="12247"/>
                </a:stretch>
              </a:blip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9525"/>
                <a:ext cx="4572000" cy="1754123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699"/>
                  </a:lnSpc>
                </a:pPr>
                <a:r>
                  <a:rPr lang="en-US" sz="2249" b="1">
                    <a:solidFill>
                      <a:srgbClr val="052B35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PRIMARY USERS</a:t>
                </a:r>
              </a:p>
              <a:p>
                <a:pPr algn="l">
                  <a:lnSpc>
                    <a:spcPts val="2159"/>
                  </a:lnSpc>
                </a:pPr>
                <a:r>
                  <a:rPr lang="en-US" sz="1799">
                    <a:solidFill>
                      <a:srgbClr val="5B6F6B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Target group</a:t>
                </a:r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467077" y="2013233"/>
              <a:ext cx="6625029" cy="4766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68"/>
                </a:lnSpc>
              </a:pPr>
              <a:r>
                <a:rPr lang="en-US" sz="180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Small and Marginal Farmers</a:t>
              </a:r>
            </a:p>
            <a:p>
              <a:pPr algn="l">
                <a:lnSpc>
                  <a:spcPts val="1903"/>
                </a:lnSpc>
              </a:pPr>
              <a:r>
                <a:rPr lang="en-US" sz="158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Farmers growing perishable crops such as tomatoes and onions, who are highly exposed to market price fluctuations and post-harvest losses.</a:t>
              </a:r>
            </a:p>
            <a:p>
              <a:pPr marL="366920" lvl="1" indent="-183460" algn="l">
                <a:lnSpc>
                  <a:spcPts val="2432"/>
                </a:lnSpc>
                <a:buFont typeface="Arial"/>
                <a:buChar char="•"/>
              </a:pPr>
              <a:r>
                <a:rPr lang="en-US" sz="2027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Their Key Challenges</a:t>
              </a:r>
            </a:p>
            <a:p>
              <a:pPr algn="l">
                <a:lnSpc>
                  <a:spcPts val="1903"/>
                </a:lnSpc>
              </a:pPr>
              <a:r>
                <a:rPr lang="en-US" sz="158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Price Uncertainty</a:t>
              </a:r>
            </a:p>
            <a:p>
              <a:pPr algn="l">
                <a:lnSpc>
                  <a:spcPts val="1903"/>
                </a:lnSpc>
              </a:pPr>
              <a:r>
                <a:rPr lang="en-US" sz="158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Limited Bargaining Power</a:t>
              </a:r>
            </a:p>
            <a:p>
              <a:pPr algn="l">
                <a:lnSpc>
                  <a:spcPts val="1903"/>
                </a:lnSpc>
              </a:pPr>
              <a:r>
                <a:rPr lang="en-US" sz="158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Time-Sensitive Harvests</a:t>
              </a:r>
            </a:p>
            <a:p>
              <a:pPr algn="l">
                <a:lnSpc>
                  <a:spcPts val="1903"/>
                </a:lnSpc>
              </a:pPr>
              <a:r>
                <a:rPr lang="en-US" sz="158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Information to Action Gap</a:t>
              </a:r>
            </a:p>
            <a:p>
              <a:pPr marL="366920" lvl="1" indent="-183460" algn="l">
                <a:lnSpc>
                  <a:spcPts val="2432"/>
                </a:lnSpc>
                <a:buFont typeface="Arial"/>
                <a:buChar char="•"/>
              </a:pPr>
              <a:r>
                <a:rPr lang="en-US" sz="2027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Need</a:t>
              </a:r>
            </a:p>
            <a:p>
              <a:pPr algn="l">
                <a:lnSpc>
                  <a:spcPts val="1903"/>
                </a:lnSpc>
              </a:pPr>
              <a:r>
                <a:rPr lang="en-US" sz="158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Timely, practical market insights to support better-informed selling decisions and help reduce avoidable losses.</a:t>
              </a:r>
            </a:p>
            <a:p>
              <a:pPr marL="326968" lvl="1" indent="-163484" algn="l">
                <a:lnSpc>
                  <a:spcPts val="2168"/>
                </a:lnSpc>
                <a:buFont typeface="Arial"/>
                <a:buChar char="•"/>
              </a:pPr>
              <a:r>
                <a:rPr lang="en-US" sz="1806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Initial pilot focus</a:t>
              </a:r>
              <a:r>
                <a:rPr lang="en-US" sz="180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Selected farming communities in Coimbatore, Tamil Nadu.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427946" y="2570373"/>
            <a:ext cx="5432108" cy="5146280"/>
            <a:chOff x="0" y="0"/>
            <a:chExt cx="7242810" cy="6861707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289074"/>
              <a:ext cx="7242810" cy="6572632"/>
              <a:chOff x="0" y="0"/>
              <a:chExt cx="7242810" cy="657263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7242810" cy="6572632"/>
              </a:xfrm>
              <a:custGeom>
                <a:avLst/>
                <a:gdLst/>
                <a:ahLst/>
                <a:cxnLst/>
                <a:rect l="l" t="t" r="r" b="b"/>
                <a:pathLst>
                  <a:path w="7242810" h="6572632">
                    <a:moveTo>
                      <a:pt x="0" y="262956"/>
                    </a:moveTo>
                    <a:cubicBezTo>
                      <a:pt x="0" y="117698"/>
                      <a:pt x="118237" y="0"/>
                      <a:pt x="264160" y="0"/>
                    </a:cubicBezTo>
                    <a:lnTo>
                      <a:pt x="6978650" y="0"/>
                    </a:lnTo>
                    <a:cubicBezTo>
                      <a:pt x="7124573" y="0"/>
                      <a:pt x="7242810" y="117698"/>
                      <a:pt x="7242810" y="262956"/>
                    </a:cubicBezTo>
                    <a:lnTo>
                      <a:pt x="7242810" y="6309676"/>
                    </a:lnTo>
                    <a:cubicBezTo>
                      <a:pt x="7242810" y="6454934"/>
                      <a:pt x="7124573" y="6572632"/>
                      <a:pt x="6978650" y="6572632"/>
                    </a:cubicBezTo>
                    <a:lnTo>
                      <a:pt x="264160" y="6572632"/>
                    </a:lnTo>
                    <a:cubicBezTo>
                      <a:pt x="118237" y="6572632"/>
                      <a:pt x="0" y="6454934"/>
                      <a:pt x="0" y="630967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4FA278"/>
                </a:solidFill>
                <a:prstDash val="solid"/>
                <a:miter/>
              </a:ln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558165" y="562485"/>
              <a:ext cx="1478204" cy="1274325"/>
              <a:chOff x="0" y="0"/>
              <a:chExt cx="1478204" cy="12743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478153" cy="1274325"/>
              </a:xfrm>
              <a:custGeom>
                <a:avLst/>
                <a:gdLst/>
                <a:ahLst/>
                <a:cxnLst/>
                <a:rect l="l" t="t" r="r" b="b"/>
                <a:pathLst>
                  <a:path w="1478153" h="1274325">
                    <a:moveTo>
                      <a:pt x="0" y="637162"/>
                    </a:moveTo>
                    <a:lnTo>
                      <a:pt x="320040" y="0"/>
                    </a:lnTo>
                    <a:lnTo>
                      <a:pt x="1158113" y="0"/>
                    </a:lnTo>
                    <a:lnTo>
                      <a:pt x="1478153" y="637162"/>
                    </a:lnTo>
                    <a:lnTo>
                      <a:pt x="1158113" y="1274325"/>
                    </a:lnTo>
                    <a:lnTo>
                      <a:pt x="320040" y="1274325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id="49" name="Group 49"/>
            <p:cNvGrpSpPr/>
            <p:nvPr/>
          </p:nvGrpSpPr>
          <p:grpSpPr>
            <a:xfrm>
              <a:off x="964425" y="868323"/>
              <a:ext cx="665683" cy="662649"/>
              <a:chOff x="0" y="0"/>
              <a:chExt cx="665683" cy="662649"/>
            </a:xfrm>
          </p:grpSpPr>
          <p:sp>
            <p:nvSpPr>
              <p:cNvPr id="50" name="Freeform 50" descr="Users icon"/>
              <p:cNvSpPr/>
              <p:nvPr/>
            </p:nvSpPr>
            <p:spPr>
              <a:xfrm>
                <a:off x="0" y="0"/>
                <a:ext cx="665734" cy="662700"/>
              </a:xfrm>
              <a:custGeom>
                <a:avLst/>
                <a:gdLst/>
                <a:ahLst/>
                <a:cxnLst/>
                <a:rect l="l" t="t" r="r" b="b"/>
                <a:pathLst>
                  <a:path w="665734" h="662700">
                    <a:moveTo>
                      <a:pt x="0" y="0"/>
                    </a:moveTo>
                    <a:lnTo>
                      <a:pt x="665734" y="0"/>
                    </a:lnTo>
                    <a:lnTo>
                      <a:pt x="665734" y="662700"/>
                    </a:lnTo>
                    <a:lnTo>
                      <a:pt x="0" y="6627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7" t="-236" b="-228"/>
                </a:stretch>
              </a:blipFill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2273752" y="0"/>
              <a:ext cx="4572000" cy="1744598"/>
              <a:chOff x="0" y="0"/>
              <a:chExt cx="4572000" cy="1744598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4572000" cy="1744598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1744598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1744598"/>
                    </a:lnTo>
                    <a:lnTo>
                      <a:pt x="0" y="174459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4374" b="12247"/>
                </a:stretch>
              </a:blip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19050"/>
                <a:ext cx="4572000" cy="176364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700"/>
                  </a:lnSpc>
                </a:pPr>
                <a:r>
                  <a:rPr lang="en-US" sz="2250" b="1">
                    <a:solidFill>
                      <a:srgbClr val="052B35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STAKEHOLDERS</a:t>
                </a:r>
              </a:p>
              <a:p>
                <a:pPr algn="l">
                  <a:lnSpc>
                    <a:spcPts val="2160"/>
                  </a:lnSpc>
                </a:pPr>
                <a:r>
                  <a:rPr lang="en-US" sz="1800">
                    <a:solidFill>
                      <a:srgbClr val="5B6F6B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Advisors and market chain</a:t>
                </a:r>
              </a:p>
            </p:txBody>
          </p:sp>
        </p:grpSp>
      </p:grpSp>
      <p:sp>
        <p:nvSpPr>
          <p:cNvPr id="54" name="TextBox 54"/>
          <p:cNvSpPr txBox="1"/>
          <p:nvPr/>
        </p:nvSpPr>
        <p:spPr>
          <a:xfrm>
            <a:off x="6392127" y="4044290"/>
            <a:ext cx="5467927" cy="3475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1926" lvl="1" indent="-160963" algn="l">
              <a:lnSpc>
                <a:spcPts val="2134"/>
              </a:lnSpc>
              <a:buFont typeface="Arial"/>
              <a:buChar char="•"/>
            </a:pPr>
            <a:r>
              <a:rPr lang="en-US" sz="1778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Traders &amp; Commission Agents:</a:t>
            </a:r>
            <a:r>
              <a:rPr lang="en-US" sz="17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Influence buying prices, market access, and transport arrangements.</a:t>
            </a:r>
          </a:p>
          <a:p>
            <a:pPr marL="321926" lvl="1" indent="-160963" algn="l">
              <a:lnSpc>
                <a:spcPts val="2134"/>
              </a:lnSpc>
              <a:buFont typeface="Arial"/>
              <a:buChar char="•"/>
            </a:pPr>
            <a:r>
              <a:rPr lang="en-US" sz="1778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Authorities / Market Committees:</a:t>
            </a:r>
            <a:r>
              <a:rPr lang="en-US" sz="17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Publish market prices and manage market operations.</a:t>
            </a:r>
          </a:p>
          <a:p>
            <a:pPr marL="321926" lvl="1" indent="-160963" algn="l">
              <a:lnSpc>
                <a:spcPts val="2134"/>
              </a:lnSpc>
              <a:buFont typeface="Arial"/>
              <a:buChar char="•"/>
            </a:pPr>
            <a:r>
              <a:rPr lang="en-US" sz="1778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FPOs &amp; Cooperatives:</a:t>
            </a:r>
            <a:r>
              <a:rPr lang="en-US" sz="17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Support collective selling and coordinate farmers.</a:t>
            </a:r>
          </a:p>
          <a:p>
            <a:pPr marL="321926" lvl="1" indent="-160963" algn="l">
              <a:lnSpc>
                <a:spcPts val="2134"/>
              </a:lnSpc>
              <a:buFont typeface="Arial"/>
              <a:buChar char="•"/>
            </a:pPr>
            <a:r>
              <a:rPr lang="en-US" sz="1778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Agriculture &amp; Horticulture Departments:</a:t>
            </a:r>
            <a:r>
              <a:rPr lang="en-US" sz="17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Provide farmer guidance and potential pilot support.</a:t>
            </a:r>
          </a:p>
          <a:p>
            <a:pPr marL="321926" lvl="1" indent="-160963" algn="l">
              <a:lnSpc>
                <a:spcPts val="2134"/>
              </a:lnSpc>
              <a:buFont typeface="Arial"/>
              <a:buChar char="•"/>
            </a:pPr>
            <a:r>
              <a:rPr lang="en-US" sz="1778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Transporters:</a:t>
            </a:r>
            <a:r>
              <a:rPr lang="en-US" sz="17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marL="321926" lvl="1" indent="-160963" algn="l">
              <a:lnSpc>
                <a:spcPts val="2134"/>
              </a:lnSpc>
              <a:buFont typeface="Arial"/>
              <a:buChar char="•"/>
            </a:pPr>
            <a:r>
              <a:rPr lang="en-US" sz="1778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Government &amp; Data Providers:</a:t>
            </a:r>
            <a:r>
              <a:rPr lang="en-US" sz="17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Enable access to relevant agricultural data and schemes.</a:t>
            </a:r>
          </a:p>
          <a:p>
            <a:pPr marL="321926" lvl="1" indent="-160963" algn="l">
              <a:lnSpc>
                <a:spcPts val="2134"/>
              </a:lnSpc>
              <a:buFont typeface="Arial"/>
              <a:buChar char="•"/>
            </a:pPr>
            <a:r>
              <a:rPr lang="en-US" sz="1778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Incubators &amp; NGOs:</a:t>
            </a:r>
            <a:r>
              <a:rPr lang="en-US" sz="177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Offer mentorship, resources, and potential pilot connections.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2071307" y="2542906"/>
            <a:ext cx="5432108" cy="5173746"/>
            <a:chOff x="0" y="0"/>
            <a:chExt cx="7242810" cy="6898328"/>
          </a:xfrm>
        </p:grpSpPr>
        <p:grpSp>
          <p:nvGrpSpPr>
            <p:cNvPr id="56" name="Group 56"/>
            <p:cNvGrpSpPr/>
            <p:nvPr/>
          </p:nvGrpSpPr>
          <p:grpSpPr>
            <a:xfrm>
              <a:off x="0" y="295598"/>
              <a:ext cx="7242810" cy="6602730"/>
              <a:chOff x="0" y="0"/>
              <a:chExt cx="7242810" cy="660273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7242810" cy="6602730"/>
              </a:xfrm>
              <a:custGeom>
                <a:avLst/>
                <a:gdLst/>
                <a:ahLst/>
                <a:cxnLst/>
                <a:rect l="l" t="t" r="r" b="b"/>
                <a:pathLst>
                  <a:path w="7242810" h="6602730">
                    <a:moveTo>
                      <a:pt x="0" y="264160"/>
                    </a:moveTo>
                    <a:cubicBezTo>
                      <a:pt x="0" y="118237"/>
                      <a:pt x="118237" y="0"/>
                      <a:pt x="264160" y="0"/>
                    </a:cubicBezTo>
                    <a:lnTo>
                      <a:pt x="6978650" y="0"/>
                    </a:lnTo>
                    <a:cubicBezTo>
                      <a:pt x="7124573" y="0"/>
                      <a:pt x="7242810" y="118237"/>
                      <a:pt x="7242810" y="264160"/>
                    </a:cubicBezTo>
                    <a:lnTo>
                      <a:pt x="7242810" y="6338570"/>
                    </a:lnTo>
                    <a:cubicBezTo>
                      <a:pt x="7242810" y="6484493"/>
                      <a:pt x="7124573" y="6602730"/>
                      <a:pt x="6978650" y="6602730"/>
                    </a:cubicBezTo>
                    <a:lnTo>
                      <a:pt x="264160" y="6602730"/>
                    </a:lnTo>
                    <a:cubicBezTo>
                      <a:pt x="118237" y="6602730"/>
                      <a:pt x="0" y="6484493"/>
                      <a:pt x="0" y="63385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4FA278"/>
                </a:solidFill>
                <a:prstDash val="solid"/>
                <a:miter/>
              </a:ln>
            </p:spPr>
          </p:sp>
        </p:grpSp>
        <p:grpSp>
          <p:nvGrpSpPr>
            <p:cNvPr id="58" name="Group 58"/>
            <p:cNvGrpSpPr/>
            <p:nvPr/>
          </p:nvGrpSpPr>
          <p:grpSpPr>
            <a:xfrm>
              <a:off x="489099" y="565060"/>
              <a:ext cx="1478204" cy="1280160"/>
              <a:chOff x="0" y="0"/>
              <a:chExt cx="1478204" cy="12801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1478153" cy="1280160"/>
              </a:xfrm>
              <a:custGeom>
                <a:avLst/>
                <a:gdLst/>
                <a:ahLst/>
                <a:cxnLst/>
                <a:rect l="l" t="t" r="r" b="b"/>
                <a:pathLst>
                  <a:path w="1478153" h="1280160">
                    <a:moveTo>
                      <a:pt x="0" y="640080"/>
                    </a:moveTo>
                    <a:lnTo>
                      <a:pt x="320040" y="0"/>
                    </a:lnTo>
                    <a:lnTo>
                      <a:pt x="1158113" y="0"/>
                    </a:lnTo>
                    <a:lnTo>
                      <a:pt x="1478153" y="640080"/>
                    </a:lnTo>
                    <a:lnTo>
                      <a:pt x="1158113" y="1280160"/>
                    </a:lnTo>
                    <a:lnTo>
                      <a:pt x="320040" y="1280160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id="60" name="Group 60"/>
            <p:cNvGrpSpPr/>
            <p:nvPr/>
          </p:nvGrpSpPr>
          <p:grpSpPr>
            <a:xfrm>
              <a:off x="895359" y="872299"/>
              <a:ext cx="665683" cy="665683"/>
              <a:chOff x="0" y="0"/>
              <a:chExt cx="665683" cy="665683"/>
            </a:xfrm>
          </p:grpSpPr>
          <p:sp>
            <p:nvSpPr>
              <p:cNvPr id="61" name="Freeform 61" descr="HandHoldingHeart icon"/>
              <p:cNvSpPr/>
              <p:nvPr/>
            </p:nvSpPr>
            <p:spPr>
              <a:xfrm>
                <a:off x="0" y="0"/>
                <a:ext cx="665734" cy="665734"/>
              </a:xfrm>
              <a:custGeom>
                <a:avLst/>
                <a:gdLst/>
                <a:ahLst/>
                <a:cxnLst/>
                <a:rect l="l" t="t" r="r" b="b"/>
                <a:pathLst>
                  <a:path w="665734" h="665734">
                    <a:moveTo>
                      <a:pt x="0" y="0"/>
                    </a:moveTo>
                    <a:lnTo>
                      <a:pt x="665734" y="0"/>
                    </a:lnTo>
                    <a:lnTo>
                      <a:pt x="665734" y="665734"/>
                    </a:lnTo>
                    <a:lnTo>
                      <a:pt x="0" y="6657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r="7" b="7"/>
                </a:stretch>
              </a:blipFill>
            </p:spPr>
          </p:sp>
        </p:grpSp>
        <p:grpSp>
          <p:nvGrpSpPr>
            <p:cNvPr id="62" name="Group 62"/>
            <p:cNvGrpSpPr/>
            <p:nvPr/>
          </p:nvGrpSpPr>
          <p:grpSpPr>
            <a:xfrm>
              <a:off x="2223521" y="0"/>
              <a:ext cx="4572000" cy="1744598"/>
              <a:chOff x="0" y="0"/>
              <a:chExt cx="4572000" cy="1744598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4572000" cy="1744598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1744598">
                    <a:moveTo>
                      <a:pt x="0" y="0"/>
                    </a:moveTo>
                    <a:lnTo>
                      <a:pt x="4572000" y="0"/>
                    </a:lnTo>
                    <a:lnTo>
                      <a:pt x="4572000" y="1744598"/>
                    </a:lnTo>
                    <a:lnTo>
                      <a:pt x="0" y="174459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4374" b="12247"/>
                </a:stretch>
              </a:blip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0" y="-19050"/>
                <a:ext cx="4572000" cy="176364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700"/>
                  </a:lnSpc>
                </a:pPr>
                <a:r>
                  <a:rPr lang="en-US" sz="2250" b="1">
                    <a:solidFill>
                      <a:srgbClr val="052B35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WHO BENEFITS</a:t>
                </a:r>
              </a:p>
              <a:p>
                <a:pPr algn="l">
                  <a:lnSpc>
                    <a:spcPts val="2160"/>
                  </a:lnSpc>
                </a:pPr>
                <a:r>
                  <a:rPr lang="en-US" sz="1800">
                    <a:solidFill>
                      <a:srgbClr val="5B6F6B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If the problem is solved</a:t>
                </a:r>
              </a:p>
            </p:txBody>
          </p:sp>
        </p:grpSp>
      </p:grpSp>
      <p:sp>
        <p:nvSpPr>
          <p:cNvPr id="65" name="TextBox 65"/>
          <p:cNvSpPr txBox="1"/>
          <p:nvPr/>
        </p:nvSpPr>
        <p:spPr>
          <a:xfrm>
            <a:off x="12105489" y="4201049"/>
            <a:ext cx="5207965" cy="3181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520"/>
              </a:lnSpc>
              <a:buFont typeface="Arial"/>
              <a:buChar char="•"/>
            </a:pPr>
            <a:r>
              <a:rPr lang="en-US" sz="21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Farmers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Compare markets and make smarter selling decisions for better earnings.</a:t>
            </a:r>
          </a:p>
          <a:p>
            <a:pPr marL="453390" lvl="1" indent="-226695" algn="l">
              <a:lnSpc>
                <a:spcPts val="2520"/>
              </a:lnSpc>
              <a:buFont typeface="Arial"/>
              <a:buChar char="•"/>
            </a:pPr>
            <a:r>
              <a:rPr lang="en-US" sz="21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Families: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Gain greater financial security through informed choices.</a:t>
            </a:r>
          </a:p>
          <a:p>
            <a:pPr marL="453390" lvl="1" indent="-226695" algn="l">
              <a:lnSpc>
                <a:spcPts val="2520"/>
              </a:lnSpc>
              <a:buFont typeface="Arial"/>
              <a:buChar char="•"/>
            </a:pPr>
            <a:r>
              <a:rPr lang="en-US" sz="21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Traders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Improve supply planning and market coordination.</a:t>
            </a:r>
          </a:p>
          <a:p>
            <a:pPr marL="453390" lvl="1" indent="-226695" algn="l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Consumers: Benefit from reduced food waste and better produce distribution.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ONE BETTER DECISION. A BIGGER IMPACT.</a:t>
            </a:r>
          </a:p>
        </p:txBody>
      </p:sp>
      <p:grpSp>
        <p:nvGrpSpPr>
          <p:cNvPr id="66" name="Group 66"/>
          <p:cNvGrpSpPr/>
          <p:nvPr/>
        </p:nvGrpSpPr>
        <p:grpSpPr>
          <a:xfrm>
            <a:off x="754380" y="7955280"/>
            <a:ext cx="16911828" cy="1028700"/>
            <a:chOff x="0" y="0"/>
            <a:chExt cx="22549104" cy="1371600"/>
          </a:xfrm>
        </p:grpSpPr>
        <p:grpSp>
          <p:nvGrpSpPr>
            <p:cNvPr id="67" name="Group 67"/>
            <p:cNvGrpSpPr/>
            <p:nvPr/>
          </p:nvGrpSpPr>
          <p:grpSpPr>
            <a:xfrm>
              <a:off x="0" y="0"/>
              <a:ext cx="22549104" cy="1371600"/>
              <a:chOff x="0" y="0"/>
              <a:chExt cx="22549104" cy="1371600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22549104" cy="1371600"/>
              </a:xfrm>
              <a:custGeom>
                <a:avLst/>
                <a:gdLst/>
                <a:ahLst/>
                <a:cxnLst/>
                <a:rect l="l" t="t" r="r" b="b"/>
                <a:pathLst>
                  <a:path w="22549104" h="1371600">
                    <a:moveTo>
                      <a:pt x="0" y="54864"/>
                    </a:moveTo>
                    <a:cubicBezTo>
                      <a:pt x="0" y="24511"/>
                      <a:pt x="24511" y="0"/>
                      <a:pt x="54864" y="0"/>
                    </a:cubicBezTo>
                    <a:lnTo>
                      <a:pt x="22494239" y="0"/>
                    </a:lnTo>
                    <a:cubicBezTo>
                      <a:pt x="22524593" y="0"/>
                      <a:pt x="22549104" y="24511"/>
                      <a:pt x="22549104" y="54864"/>
                    </a:cubicBezTo>
                    <a:lnTo>
                      <a:pt x="22549104" y="1316736"/>
                    </a:lnTo>
                    <a:cubicBezTo>
                      <a:pt x="22549104" y="1347089"/>
                      <a:pt x="22524593" y="1371600"/>
                      <a:pt x="22494239" y="1371600"/>
                    </a:cubicBezTo>
                    <a:lnTo>
                      <a:pt x="54864" y="1371600"/>
                    </a:lnTo>
                    <a:cubicBezTo>
                      <a:pt x="24511" y="1371600"/>
                      <a:pt x="0" y="1347089"/>
                      <a:pt x="0" y="1316736"/>
                    </a:cubicBezTo>
                    <a:close/>
                  </a:path>
                </a:pathLst>
              </a:custGeom>
              <a:solidFill>
                <a:srgbClr val="052B35"/>
              </a:solidFill>
            </p:spPr>
          </p:sp>
        </p:grpSp>
        <p:grpSp>
          <p:nvGrpSpPr>
            <p:cNvPr id="69" name="Group 69"/>
            <p:cNvGrpSpPr/>
            <p:nvPr/>
          </p:nvGrpSpPr>
          <p:grpSpPr>
            <a:xfrm>
              <a:off x="548640" y="182880"/>
              <a:ext cx="1161440" cy="1005840"/>
              <a:chOff x="0" y="0"/>
              <a:chExt cx="1161440" cy="100584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1161415" cy="1005840"/>
              </a:xfrm>
              <a:custGeom>
                <a:avLst/>
                <a:gdLst/>
                <a:ahLst/>
                <a:cxnLst/>
                <a:rect l="l" t="t" r="r" b="b"/>
                <a:pathLst>
                  <a:path w="1161415" h="1005840">
                    <a:moveTo>
                      <a:pt x="0" y="502920"/>
                    </a:moveTo>
                    <a:lnTo>
                      <a:pt x="251460" y="0"/>
                    </a:lnTo>
                    <a:lnTo>
                      <a:pt x="909955" y="0"/>
                    </a:lnTo>
                    <a:lnTo>
                      <a:pt x="1161415" y="502920"/>
                    </a:lnTo>
                    <a:lnTo>
                      <a:pt x="909955" y="1005840"/>
                    </a:lnTo>
                    <a:lnTo>
                      <a:pt x="251460" y="1005840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id="71" name="Group 71"/>
            <p:cNvGrpSpPr/>
            <p:nvPr/>
          </p:nvGrpSpPr>
          <p:grpSpPr>
            <a:xfrm>
              <a:off x="867842" y="424282"/>
              <a:ext cx="523037" cy="523037"/>
              <a:chOff x="0" y="0"/>
              <a:chExt cx="523037" cy="523037"/>
            </a:xfrm>
          </p:grpSpPr>
          <p:sp>
            <p:nvSpPr>
              <p:cNvPr id="72" name="Freeform 72" descr="ChartLine icon"/>
              <p:cNvSpPr/>
              <p:nvPr/>
            </p:nvSpPr>
            <p:spPr>
              <a:xfrm>
                <a:off x="0" y="0"/>
                <a:ext cx="522986" cy="522986"/>
              </a:xfrm>
              <a:custGeom>
                <a:avLst/>
                <a:gdLst/>
                <a:ahLst/>
                <a:cxnLst/>
                <a:rect l="l" t="t" r="r" b="b"/>
                <a:pathLst>
                  <a:path w="522986" h="522986">
                    <a:moveTo>
                      <a:pt x="0" y="0"/>
                    </a:moveTo>
                    <a:lnTo>
                      <a:pt x="522986" y="0"/>
                    </a:lnTo>
                    <a:lnTo>
                      <a:pt x="522986" y="522986"/>
                    </a:lnTo>
                    <a:lnTo>
                      <a:pt x="0" y="52298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r="-9" b="-9"/>
                </a:stretch>
              </a:blipFill>
            </p:spPr>
          </p:sp>
        </p:grpSp>
      </p:grpSp>
      <p:grpSp>
        <p:nvGrpSpPr>
          <p:cNvPr id="73" name="Group 73"/>
          <p:cNvGrpSpPr/>
          <p:nvPr/>
        </p:nvGrpSpPr>
        <p:grpSpPr>
          <a:xfrm>
            <a:off x="2143811" y="7955280"/>
            <a:ext cx="15087600" cy="1028700"/>
            <a:chOff x="0" y="0"/>
            <a:chExt cx="20116800" cy="13716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0116800" cy="1371600"/>
            </a:xfrm>
            <a:custGeom>
              <a:avLst/>
              <a:gdLst/>
              <a:ahLst/>
              <a:cxnLst/>
              <a:rect l="l" t="t" r="r" b="b"/>
              <a:pathLst>
                <a:path w="20116800" h="1371600">
                  <a:moveTo>
                    <a:pt x="0" y="0"/>
                  </a:moveTo>
                  <a:lnTo>
                    <a:pt x="20116800" y="0"/>
                  </a:lnTo>
                  <a:lnTo>
                    <a:pt x="201168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5780" b="-235780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47625"/>
              <a:ext cx="20116800" cy="14192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1786739" y="2021891"/>
            <a:ext cx="13101979" cy="333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Uncertain prices and limited selling power can affect farmer incomes, family stability, supply chains and consumers.</a:t>
            </a:r>
          </a:p>
        </p:txBody>
      </p:sp>
      <p:sp>
        <p:nvSpPr>
          <p:cNvPr id="77" name="Freeform 77"/>
          <p:cNvSpPr/>
          <p:nvPr/>
        </p:nvSpPr>
        <p:spPr>
          <a:xfrm>
            <a:off x="754380" y="456245"/>
            <a:ext cx="872538" cy="872538"/>
          </a:xfrm>
          <a:custGeom>
            <a:avLst/>
            <a:gdLst/>
            <a:ahLst/>
            <a:cxnLst/>
            <a:rect l="l" t="t" r="r" b="b"/>
            <a:pathLst>
              <a:path w="872538" h="872538">
                <a:moveTo>
                  <a:pt x="0" y="0"/>
                </a:moveTo>
                <a:lnTo>
                  <a:pt x="872538" y="0"/>
                </a:lnTo>
                <a:lnTo>
                  <a:pt x="872538" y="872538"/>
                </a:lnTo>
                <a:lnTo>
                  <a:pt x="0" y="8725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78" name="TextBox 78"/>
          <p:cNvSpPr txBox="1"/>
          <p:nvPr/>
        </p:nvSpPr>
        <p:spPr>
          <a:xfrm>
            <a:off x="1728958" y="702029"/>
            <a:ext cx="1319041" cy="348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Nexus0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2143811" y="8107634"/>
            <a:ext cx="15087600" cy="676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7AC14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RIPPLE EFFECT: </a:t>
            </a: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Unstable farm income affects families, limits future farm investment, and can contribute to supply disruptions and price volatility for consumers.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219" y="8296178"/>
            <a:ext cx="17843476" cy="1035353"/>
            <a:chOff x="0" y="0"/>
            <a:chExt cx="23791301" cy="13804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91276" cy="1380471"/>
            </a:xfrm>
            <a:custGeom>
              <a:avLst/>
              <a:gdLst/>
              <a:ahLst/>
              <a:cxnLst/>
              <a:rect l="l" t="t" r="r" b="b"/>
              <a:pathLst>
                <a:path w="23791276" h="1380471">
                  <a:moveTo>
                    <a:pt x="221273" y="0"/>
                  </a:moveTo>
                  <a:lnTo>
                    <a:pt x="23570003" y="0"/>
                  </a:lnTo>
                  <a:cubicBezTo>
                    <a:pt x="23628688" y="0"/>
                    <a:pt x="23684970" y="23313"/>
                    <a:pt x="23726466" y="64809"/>
                  </a:cubicBezTo>
                  <a:cubicBezTo>
                    <a:pt x="23767963" y="106306"/>
                    <a:pt x="23791276" y="162588"/>
                    <a:pt x="23791276" y="221273"/>
                  </a:cubicBezTo>
                  <a:lnTo>
                    <a:pt x="23791276" y="1159198"/>
                  </a:lnTo>
                  <a:cubicBezTo>
                    <a:pt x="23791276" y="1217883"/>
                    <a:pt x="23767963" y="1274165"/>
                    <a:pt x="23726466" y="1315661"/>
                  </a:cubicBezTo>
                  <a:cubicBezTo>
                    <a:pt x="23684970" y="1357158"/>
                    <a:pt x="23628688" y="1380471"/>
                    <a:pt x="23570003" y="1380471"/>
                  </a:cubicBezTo>
                  <a:lnTo>
                    <a:pt x="221273" y="1380471"/>
                  </a:lnTo>
                  <a:cubicBezTo>
                    <a:pt x="162588" y="1380471"/>
                    <a:pt x="106306" y="1357158"/>
                    <a:pt x="64809" y="1315661"/>
                  </a:cubicBezTo>
                  <a:cubicBezTo>
                    <a:pt x="23313" y="1274165"/>
                    <a:pt x="0" y="1217883"/>
                    <a:pt x="0" y="1159198"/>
                  </a:cubicBezTo>
                  <a:lnTo>
                    <a:pt x="0" y="221273"/>
                  </a:lnTo>
                  <a:cubicBezTo>
                    <a:pt x="0" y="162588"/>
                    <a:pt x="23313" y="106306"/>
                    <a:pt x="64809" y="64809"/>
                  </a:cubicBezTo>
                  <a:cubicBezTo>
                    <a:pt x="106306" y="23313"/>
                    <a:pt x="162588" y="0"/>
                    <a:pt x="221273" y="0"/>
                  </a:cubicBezTo>
                  <a:close/>
                </a:path>
              </a:pathLst>
            </a:custGeom>
            <a:solidFill>
              <a:srgbClr val="09454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674795" y="9614916"/>
            <a:ext cx="685800" cy="593903"/>
            <a:chOff x="0" y="0"/>
            <a:chExt cx="914400" cy="7918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14400" cy="791870"/>
            </a:xfrm>
            <a:custGeom>
              <a:avLst/>
              <a:gdLst/>
              <a:ahLst/>
              <a:cxnLst/>
              <a:rect l="l" t="t" r="r" b="b"/>
              <a:pathLst>
                <a:path w="914400" h="79187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110" r="-6111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360159" y="472916"/>
            <a:ext cx="1248727" cy="1248727"/>
            <a:chOff x="0" y="0"/>
            <a:chExt cx="1664970" cy="166497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64970" cy="1664970"/>
            </a:xfrm>
            <a:custGeom>
              <a:avLst/>
              <a:gdLst/>
              <a:ahLst/>
              <a:cxnLst/>
              <a:rect l="l" t="t" r="r" b="b"/>
              <a:pathLst>
                <a:path w="1664970" h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16583920" y="576072"/>
            <a:ext cx="801195" cy="1042416"/>
            <a:chOff x="0" y="0"/>
            <a:chExt cx="1068260" cy="1389888"/>
          </a:xfrm>
        </p:grpSpPr>
        <p:sp>
          <p:nvSpPr>
            <p:cNvPr id="10" name="Freeform 10" descr="Genesis logo"/>
            <p:cNvSpPr/>
            <p:nvPr/>
          </p:nvSpPr>
          <p:spPr>
            <a:xfrm>
              <a:off x="0" y="0"/>
              <a:ext cx="1068324" cy="1389888"/>
            </a:xfrm>
            <a:custGeom>
              <a:avLst/>
              <a:gdLst/>
              <a:ahLst/>
              <a:cxnLst/>
              <a:rect l="l" t="t" r="r" b="b"/>
              <a:pathLst>
                <a:path w="1068324" h="1389888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5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3063266" y="-137160"/>
            <a:ext cx="11247120" cy="1234440"/>
            <a:chOff x="0" y="0"/>
            <a:chExt cx="14996160" cy="16459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996161" cy="1645920"/>
            </a:xfrm>
            <a:custGeom>
              <a:avLst/>
              <a:gdLst/>
              <a:ahLst/>
              <a:cxnLst/>
              <a:rect l="l" t="t" r="r" b="b"/>
              <a:pathLst>
                <a:path w="14996161" h="1645920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7530" b="-12753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CURRENT SITUATION &amp; CONTEXT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177857" y="854281"/>
            <a:ext cx="12053708" cy="899894"/>
            <a:chOff x="0" y="0"/>
            <a:chExt cx="3174639" cy="23700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74639" cy="237009"/>
            </a:xfrm>
            <a:custGeom>
              <a:avLst/>
              <a:gdLst/>
              <a:ahLst/>
              <a:cxnLst/>
              <a:rect l="l" t="t" r="r" b="b"/>
              <a:pathLst>
                <a:path w="3174639" h="237009">
                  <a:moveTo>
                    <a:pt x="19269" y="0"/>
                  </a:moveTo>
                  <a:lnTo>
                    <a:pt x="3155371" y="0"/>
                  </a:lnTo>
                  <a:cubicBezTo>
                    <a:pt x="3166012" y="0"/>
                    <a:pt x="3174639" y="8627"/>
                    <a:pt x="3174639" y="19269"/>
                  </a:cubicBezTo>
                  <a:lnTo>
                    <a:pt x="3174639" y="217740"/>
                  </a:lnTo>
                  <a:cubicBezTo>
                    <a:pt x="3174639" y="228382"/>
                    <a:pt x="3166012" y="237009"/>
                    <a:pt x="3155371" y="237009"/>
                  </a:cubicBezTo>
                  <a:lnTo>
                    <a:pt x="19269" y="237009"/>
                  </a:lnTo>
                  <a:cubicBezTo>
                    <a:pt x="8627" y="237009"/>
                    <a:pt x="0" y="228382"/>
                    <a:pt x="0" y="217740"/>
                  </a:cubicBezTo>
                  <a:lnTo>
                    <a:pt x="0" y="19269"/>
                  </a:lnTo>
                  <a:cubicBezTo>
                    <a:pt x="0" y="8627"/>
                    <a:pt x="8627" y="0"/>
                    <a:pt x="1926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3174639" cy="2560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245119" y="1043286"/>
            <a:ext cx="685800" cy="593903"/>
            <a:chOff x="0" y="0"/>
            <a:chExt cx="914400" cy="79187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914400" cy="791870"/>
              <a:chOff x="0" y="0"/>
              <a:chExt cx="914400" cy="79187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14400" cy="791845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791845">
                    <a:moveTo>
                      <a:pt x="0" y="395986"/>
                    </a:moveTo>
                    <a:lnTo>
                      <a:pt x="197993" y="0"/>
                    </a:lnTo>
                    <a:lnTo>
                      <a:pt x="716407" y="0"/>
                    </a:lnTo>
                    <a:lnTo>
                      <a:pt x="914400" y="395986"/>
                    </a:lnTo>
                    <a:lnTo>
                      <a:pt x="716407" y="791845"/>
                    </a:lnTo>
                    <a:lnTo>
                      <a:pt x="197993" y="791845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238125" y="121615"/>
              <a:ext cx="548640" cy="548640"/>
              <a:chOff x="0" y="0"/>
              <a:chExt cx="548640" cy="548640"/>
            </a:xfrm>
          </p:grpSpPr>
          <p:sp>
            <p:nvSpPr>
              <p:cNvPr id="21" name="Freeform 21" descr="Lightbulb icon"/>
              <p:cNvSpPr/>
              <p:nvPr/>
            </p:nvSpPr>
            <p:spPr>
              <a:xfrm>
                <a:off x="0" y="0"/>
                <a:ext cx="548640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</p:sp>
        </p:grpSp>
      </p:grpSp>
      <p:grpSp>
        <p:nvGrpSpPr>
          <p:cNvPr id="22" name="Group 22"/>
          <p:cNvGrpSpPr/>
          <p:nvPr/>
        </p:nvGrpSpPr>
        <p:grpSpPr>
          <a:xfrm>
            <a:off x="4112014" y="864108"/>
            <a:ext cx="11119552" cy="952258"/>
            <a:chOff x="0" y="0"/>
            <a:chExt cx="14826069" cy="126967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826069" cy="1269678"/>
            </a:xfrm>
            <a:custGeom>
              <a:avLst/>
              <a:gdLst/>
              <a:ahLst/>
              <a:cxnLst/>
              <a:rect l="l" t="t" r="r" b="b"/>
              <a:pathLst>
                <a:path w="14826069" h="1269678">
                  <a:moveTo>
                    <a:pt x="0" y="0"/>
                  </a:moveTo>
                  <a:lnTo>
                    <a:pt x="14826069" y="0"/>
                  </a:lnTo>
                  <a:lnTo>
                    <a:pt x="14826069" y="1269678"/>
                  </a:lnTo>
                  <a:lnTo>
                    <a:pt x="0" y="12696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5078" r="-29517" b="-234298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14826069" cy="13268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Farmers may choose a familiar market without knowing which option leaves them with the most after costs.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 rot="5400000">
            <a:off x="15664667" y="5772296"/>
            <a:ext cx="2161927" cy="1875473"/>
            <a:chOff x="0" y="0"/>
            <a:chExt cx="2882570" cy="250063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882519" cy="2500630"/>
            </a:xfrm>
            <a:custGeom>
              <a:avLst/>
              <a:gdLst/>
              <a:ahLst/>
              <a:cxnLst/>
              <a:rect l="l" t="t" r="r" b="b"/>
              <a:pathLst>
                <a:path w="2882519" h="2500630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304" r="-613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 rot="5400000">
            <a:off x="17006859" y="4469752"/>
            <a:ext cx="1449219" cy="1258252"/>
            <a:chOff x="0" y="0"/>
            <a:chExt cx="1932292" cy="167767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32178" cy="1677670"/>
            </a:xfrm>
            <a:custGeom>
              <a:avLst/>
              <a:gdLst/>
              <a:ahLst/>
              <a:cxnLst/>
              <a:rect l="l" t="t" r="r" b="b"/>
              <a:pathLst>
                <a:path w="1932178" h="1677670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400" r="-614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 rot="5400000">
            <a:off x="14263659" y="6732892"/>
            <a:ext cx="1449219" cy="1258252"/>
            <a:chOff x="0" y="0"/>
            <a:chExt cx="1932292" cy="167767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932178" cy="1677670"/>
            </a:xfrm>
            <a:custGeom>
              <a:avLst/>
              <a:gdLst/>
              <a:ahLst/>
              <a:cxnLst/>
              <a:rect l="l" t="t" r="r" b="b"/>
              <a:pathLst>
                <a:path w="1932178" h="1677670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400" r="-614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1639989" y="2362060"/>
            <a:ext cx="2528067" cy="2538412"/>
            <a:chOff x="0" y="0"/>
            <a:chExt cx="665828" cy="66855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65828" cy="668553"/>
            </a:xfrm>
            <a:custGeom>
              <a:avLst/>
              <a:gdLst/>
              <a:ahLst/>
              <a:cxnLst/>
              <a:rect l="l" t="t" r="r" b="b"/>
              <a:pathLst>
                <a:path w="665828" h="668553">
                  <a:moveTo>
                    <a:pt x="39811" y="0"/>
                  </a:moveTo>
                  <a:lnTo>
                    <a:pt x="626017" y="0"/>
                  </a:lnTo>
                  <a:cubicBezTo>
                    <a:pt x="648004" y="0"/>
                    <a:pt x="665828" y="17824"/>
                    <a:pt x="665828" y="39811"/>
                  </a:cubicBezTo>
                  <a:lnTo>
                    <a:pt x="665828" y="628742"/>
                  </a:lnTo>
                  <a:cubicBezTo>
                    <a:pt x="665828" y="650729"/>
                    <a:pt x="648004" y="668553"/>
                    <a:pt x="626017" y="668553"/>
                  </a:cubicBezTo>
                  <a:lnTo>
                    <a:pt x="39811" y="668553"/>
                  </a:lnTo>
                  <a:cubicBezTo>
                    <a:pt x="29252" y="668553"/>
                    <a:pt x="19126" y="664359"/>
                    <a:pt x="11660" y="656893"/>
                  </a:cubicBezTo>
                  <a:cubicBezTo>
                    <a:pt x="4194" y="649427"/>
                    <a:pt x="0" y="639301"/>
                    <a:pt x="0" y="628742"/>
                  </a:cubicBezTo>
                  <a:lnTo>
                    <a:pt x="0" y="39811"/>
                  </a:lnTo>
                  <a:cubicBezTo>
                    <a:pt x="0" y="17824"/>
                    <a:pt x="17824" y="0"/>
                    <a:pt x="3981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A278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665828" cy="687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639989" y="5440826"/>
            <a:ext cx="2528067" cy="2538412"/>
            <a:chOff x="0" y="0"/>
            <a:chExt cx="665828" cy="66855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65828" cy="668553"/>
            </a:xfrm>
            <a:custGeom>
              <a:avLst/>
              <a:gdLst/>
              <a:ahLst/>
              <a:cxnLst/>
              <a:rect l="l" t="t" r="r" b="b"/>
              <a:pathLst>
                <a:path w="665828" h="668553">
                  <a:moveTo>
                    <a:pt x="45936" y="0"/>
                  </a:moveTo>
                  <a:lnTo>
                    <a:pt x="619893" y="0"/>
                  </a:lnTo>
                  <a:cubicBezTo>
                    <a:pt x="632076" y="0"/>
                    <a:pt x="643760" y="4840"/>
                    <a:pt x="652374" y="13454"/>
                  </a:cubicBezTo>
                  <a:cubicBezTo>
                    <a:pt x="660989" y="22069"/>
                    <a:pt x="665828" y="33753"/>
                    <a:pt x="665828" y="45936"/>
                  </a:cubicBezTo>
                  <a:lnTo>
                    <a:pt x="665828" y="622617"/>
                  </a:lnTo>
                  <a:cubicBezTo>
                    <a:pt x="665828" y="647987"/>
                    <a:pt x="645262" y="668553"/>
                    <a:pt x="619893" y="668553"/>
                  </a:cubicBezTo>
                  <a:lnTo>
                    <a:pt x="45936" y="668553"/>
                  </a:lnTo>
                  <a:cubicBezTo>
                    <a:pt x="33753" y="668553"/>
                    <a:pt x="22069" y="663713"/>
                    <a:pt x="13454" y="655099"/>
                  </a:cubicBezTo>
                  <a:cubicBezTo>
                    <a:pt x="4840" y="646484"/>
                    <a:pt x="0" y="634800"/>
                    <a:pt x="0" y="622617"/>
                  </a:cubicBezTo>
                  <a:lnTo>
                    <a:pt x="0" y="45936"/>
                  </a:lnTo>
                  <a:cubicBezTo>
                    <a:pt x="0" y="33753"/>
                    <a:pt x="4840" y="22069"/>
                    <a:pt x="13454" y="13454"/>
                  </a:cubicBezTo>
                  <a:cubicBezTo>
                    <a:pt x="22069" y="4840"/>
                    <a:pt x="33753" y="0"/>
                    <a:pt x="4593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A278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665828" cy="687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28878" y="5407679"/>
            <a:ext cx="2528067" cy="2538412"/>
            <a:chOff x="0" y="0"/>
            <a:chExt cx="665828" cy="66855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65828" cy="668553"/>
            </a:xfrm>
            <a:custGeom>
              <a:avLst/>
              <a:gdLst/>
              <a:ahLst/>
              <a:cxnLst/>
              <a:rect l="l" t="t" r="r" b="b"/>
              <a:pathLst>
                <a:path w="665828" h="668553">
                  <a:moveTo>
                    <a:pt x="45936" y="0"/>
                  </a:moveTo>
                  <a:lnTo>
                    <a:pt x="619893" y="0"/>
                  </a:lnTo>
                  <a:cubicBezTo>
                    <a:pt x="632076" y="0"/>
                    <a:pt x="643760" y="4840"/>
                    <a:pt x="652374" y="13454"/>
                  </a:cubicBezTo>
                  <a:cubicBezTo>
                    <a:pt x="660989" y="22069"/>
                    <a:pt x="665828" y="33753"/>
                    <a:pt x="665828" y="45936"/>
                  </a:cubicBezTo>
                  <a:lnTo>
                    <a:pt x="665828" y="622617"/>
                  </a:lnTo>
                  <a:cubicBezTo>
                    <a:pt x="665828" y="647987"/>
                    <a:pt x="645262" y="668553"/>
                    <a:pt x="619893" y="668553"/>
                  </a:cubicBezTo>
                  <a:lnTo>
                    <a:pt x="45936" y="668553"/>
                  </a:lnTo>
                  <a:cubicBezTo>
                    <a:pt x="33753" y="668553"/>
                    <a:pt x="22069" y="663713"/>
                    <a:pt x="13454" y="655099"/>
                  </a:cubicBezTo>
                  <a:cubicBezTo>
                    <a:pt x="4840" y="646484"/>
                    <a:pt x="0" y="634800"/>
                    <a:pt x="0" y="622617"/>
                  </a:cubicBezTo>
                  <a:lnTo>
                    <a:pt x="0" y="45936"/>
                  </a:lnTo>
                  <a:cubicBezTo>
                    <a:pt x="0" y="33753"/>
                    <a:pt x="4840" y="22069"/>
                    <a:pt x="13454" y="13454"/>
                  </a:cubicBezTo>
                  <a:cubicBezTo>
                    <a:pt x="22069" y="4840"/>
                    <a:pt x="33753" y="0"/>
                    <a:pt x="4593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A278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665828" cy="687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04169" y="2373967"/>
            <a:ext cx="2528067" cy="2538412"/>
            <a:chOff x="0" y="0"/>
            <a:chExt cx="665828" cy="66855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65828" cy="668553"/>
            </a:xfrm>
            <a:custGeom>
              <a:avLst/>
              <a:gdLst/>
              <a:ahLst/>
              <a:cxnLst/>
              <a:rect l="l" t="t" r="r" b="b"/>
              <a:pathLst>
                <a:path w="665828" h="668553">
                  <a:moveTo>
                    <a:pt x="45936" y="0"/>
                  </a:moveTo>
                  <a:lnTo>
                    <a:pt x="619893" y="0"/>
                  </a:lnTo>
                  <a:cubicBezTo>
                    <a:pt x="632076" y="0"/>
                    <a:pt x="643760" y="4840"/>
                    <a:pt x="652374" y="13454"/>
                  </a:cubicBezTo>
                  <a:cubicBezTo>
                    <a:pt x="660989" y="22069"/>
                    <a:pt x="665828" y="33753"/>
                    <a:pt x="665828" y="45936"/>
                  </a:cubicBezTo>
                  <a:lnTo>
                    <a:pt x="665828" y="622617"/>
                  </a:lnTo>
                  <a:cubicBezTo>
                    <a:pt x="665828" y="647987"/>
                    <a:pt x="645262" y="668553"/>
                    <a:pt x="619893" y="668553"/>
                  </a:cubicBezTo>
                  <a:lnTo>
                    <a:pt x="45936" y="668553"/>
                  </a:lnTo>
                  <a:cubicBezTo>
                    <a:pt x="33753" y="668553"/>
                    <a:pt x="22069" y="663713"/>
                    <a:pt x="13454" y="655099"/>
                  </a:cubicBezTo>
                  <a:cubicBezTo>
                    <a:pt x="4840" y="646484"/>
                    <a:pt x="0" y="634800"/>
                    <a:pt x="0" y="622617"/>
                  </a:cubicBezTo>
                  <a:lnTo>
                    <a:pt x="0" y="45936"/>
                  </a:lnTo>
                  <a:cubicBezTo>
                    <a:pt x="0" y="33753"/>
                    <a:pt x="4840" y="22069"/>
                    <a:pt x="13454" y="13454"/>
                  </a:cubicBezTo>
                  <a:cubicBezTo>
                    <a:pt x="22069" y="4840"/>
                    <a:pt x="33753" y="0"/>
                    <a:pt x="4593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A278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665828" cy="687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17363" y="5440826"/>
            <a:ext cx="2528067" cy="2538412"/>
            <a:chOff x="0" y="0"/>
            <a:chExt cx="665828" cy="66855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65828" cy="668553"/>
            </a:xfrm>
            <a:custGeom>
              <a:avLst/>
              <a:gdLst/>
              <a:ahLst/>
              <a:cxnLst/>
              <a:rect l="l" t="t" r="r" b="b"/>
              <a:pathLst>
                <a:path w="665828" h="668553">
                  <a:moveTo>
                    <a:pt x="48998" y="0"/>
                  </a:moveTo>
                  <a:lnTo>
                    <a:pt x="616830" y="0"/>
                  </a:lnTo>
                  <a:cubicBezTo>
                    <a:pt x="629825" y="0"/>
                    <a:pt x="642288" y="5162"/>
                    <a:pt x="651477" y="14351"/>
                  </a:cubicBezTo>
                  <a:cubicBezTo>
                    <a:pt x="660666" y="23540"/>
                    <a:pt x="665828" y="36003"/>
                    <a:pt x="665828" y="48998"/>
                  </a:cubicBezTo>
                  <a:lnTo>
                    <a:pt x="665828" y="619555"/>
                  </a:lnTo>
                  <a:cubicBezTo>
                    <a:pt x="665828" y="632550"/>
                    <a:pt x="660666" y="645013"/>
                    <a:pt x="651477" y="654202"/>
                  </a:cubicBezTo>
                  <a:cubicBezTo>
                    <a:pt x="642288" y="663391"/>
                    <a:pt x="629825" y="668553"/>
                    <a:pt x="616830" y="668553"/>
                  </a:cubicBezTo>
                  <a:lnTo>
                    <a:pt x="48998" y="668553"/>
                  </a:lnTo>
                  <a:cubicBezTo>
                    <a:pt x="36003" y="668553"/>
                    <a:pt x="23540" y="663391"/>
                    <a:pt x="14351" y="654202"/>
                  </a:cubicBezTo>
                  <a:cubicBezTo>
                    <a:pt x="5162" y="645013"/>
                    <a:pt x="0" y="632550"/>
                    <a:pt x="0" y="619555"/>
                  </a:cubicBezTo>
                  <a:lnTo>
                    <a:pt x="0" y="48998"/>
                  </a:lnTo>
                  <a:cubicBezTo>
                    <a:pt x="0" y="36003"/>
                    <a:pt x="5162" y="23540"/>
                    <a:pt x="14351" y="14351"/>
                  </a:cubicBezTo>
                  <a:cubicBezTo>
                    <a:pt x="23540" y="5162"/>
                    <a:pt x="36003" y="0"/>
                    <a:pt x="4899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A278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665828" cy="687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4669175" y="5398457"/>
            <a:ext cx="2528067" cy="2538412"/>
            <a:chOff x="0" y="0"/>
            <a:chExt cx="665828" cy="66855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65828" cy="668553"/>
            </a:xfrm>
            <a:custGeom>
              <a:avLst/>
              <a:gdLst/>
              <a:ahLst/>
              <a:cxnLst/>
              <a:rect l="l" t="t" r="r" b="b"/>
              <a:pathLst>
                <a:path w="665828" h="668553">
                  <a:moveTo>
                    <a:pt x="48998" y="0"/>
                  </a:moveTo>
                  <a:lnTo>
                    <a:pt x="616830" y="0"/>
                  </a:lnTo>
                  <a:cubicBezTo>
                    <a:pt x="629825" y="0"/>
                    <a:pt x="642288" y="5162"/>
                    <a:pt x="651477" y="14351"/>
                  </a:cubicBezTo>
                  <a:cubicBezTo>
                    <a:pt x="660666" y="23540"/>
                    <a:pt x="665828" y="36003"/>
                    <a:pt x="665828" y="48998"/>
                  </a:cubicBezTo>
                  <a:lnTo>
                    <a:pt x="665828" y="619555"/>
                  </a:lnTo>
                  <a:cubicBezTo>
                    <a:pt x="665828" y="632550"/>
                    <a:pt x="660666" y="645013"/>
                    <a:pt x="651477" y="654202"/>
                  </a:cubicBezTo>
                  <a:cubicBezTo>
                    <a:pt x="642288" y="663391"/>
                    <a:pt x="629825" y="668553"/>
                    <a:pt x="616830" y="668553"/>
                  </a:cubicBezTo>
                  <a:lnTo>
                    <a:pt x="48998" y="668553"/>
                  </a:lnTo>
                  <a:cubicBezTo>
                    <a:pt x="36003" y="668553"/>
                    <a:pt x="23540" y="663391"/>
                    <a:pt x="14351" y="654202"/>
                  </a:cubicBezTo>
                  <a:cubicBezTo>
                    <a:pt x="5162" y="645013"/>
                    <a:pt x="0" y="632550"/>
                    <a:pt x="0" y="619555"/>
                  </a:cubicBezTo>
                  <a:lnTo>
                    <a:pt x="0" y="48998"/>
                  </a:lnTo>
                  <a:cubicBezTo>
                    <a:pt x="0" y="36003"/>
                    <a:pt x="5162" y="23540"/>
                    <a:pt x="14351" y="14351"/>
                  </a:cubicBezTo>
                  <a:cubicBezTo>
                    <a:pt x="23540" y="5162"/>
                    <a:pt x="36003" y="0"/>
                    <a:pt x="4899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A278"/>
              </a:solidFill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665828" cy="687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4513491" y="2423687"/>
            <a:ext cx="2528067" cy="2538412"/>
            <a:chOff x="0" y="0"/>
            <a:chExt cx="665828" cy="66855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65828" cy="668553"/>
            </a:xfrm>
            <a:custGeom>
              <a:avLst/>
              <a:gdLst/>
              <a:ahLst/>
              <a:cxnLst/>
              <a:rect l="l" t="t" r="r" b="b"/>
              <a:pathLst>
                <a:path w="665828" h="668553">
                  <a:moveTo>
                    <a:pt x="45936" y="0"/>
                  </a:moveTo>
                  <a:lnTo>
                    <a:pt x="619893" y="0"/>
                  </a:lnTo>
                  <a:cubicBezTo>
                    <a:pt x="632076" y="0"/>
                    <a:pt x="643760" y="4840"/>
                    <a:pt x="652374" y="13454"/>
                  </a:cubicBezTo>
                  <a:cubicBezTo>
                    <a:pt x="660989" y="22069"/>
                    <a:pt x="665828" y="33753"/>
                    <a:pt x="665828" y="45936"/>
                  </a:cubicBezTo>
                  <a:lnTo>
                    <a:pt x="665828" y="622617"/>
                  </a:lnTo>
                  <a:cubicBezTo>
                    <a:pt x="665828" y="647987"/>
                    <a:pt x="645262" y="668553"/>
                    <a:pt x="619893" y="668553"/>
                  </a:cubicBezTo>
                  <a:lnTo>
                    <a:pt x="45936" y="668553"/>
                  </a:lnTo>
                  <a:cubicBezTo>
                    <a:pt x="33753" y="668553"/>
                    <a:pt x="22069" y="663713"/>
                    <a:pt x="13454" y="655099"/>
                  </a:cubicBezTo>
                  <a:cubicBezTo>
                    <a:pt x="4840" y="646484"/>
                    <a:pt x="0" y="634800"/>
                    <a:pt x="0" y="622617"/>
                  </a:cubicBezTo>
                  <a:lnTo>
                    <a:pt x="0" y="45936"/>
                  </a:lnTo>
                  <a:cubicBezTo>
                    <a:pt x="0" y="33753"/>
                    <a:pt x="4840" y="22069"/>
                    <a:pt x="13454" y="13454"/>
                  </a:cubicBezTo>
                  <a:cubicBezTo>
                    <a:pt x="22069" y="4840"/>
                    <a:pt x="33753" y="0"/>
                    <a:pt x="4593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A278"/>
              </a:solidFill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665828" cy="687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764582" y="2389683"/>
            <a:ext cx="2528067" cy="2538412"/>
            <a:chOff x="0" y="0"/>
            <a:chExt cx="665828" cy="66855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65828" cy="668553"/>
            </a:xfrm>
            <a:custGeom>
              <a:avLst/>
              <a:gdLst/>
              <a:ahLst/>
              <a:cxnLst/>
              <a:rect l="l" t="t" r="r" b="b"/>
              <a:pathLst>
                <a:path w="665828" h="668553">
                  <a:moveTo>
                    <a:pt x="45936" y="0"/>
                  </a:moveTo>
                  <a:lnTo>
                    <a:pt x="619893" y="0"/>
                  </a:lnTo>
                  <a:cubicBezTo>
                    <a:pt x="632076" y="0"/>
                    <a:pt x="643760" y="4840"/>
                    <a:pt x="652374" y="13454"/>
                  </a:cubicBezTo>
                  <a:cubicBezTo>
                    <a:pt x="660989" y="22069"/>
                    <a:pt x="665828" y="33753"/>
                    <a:pt x="665828" y="45936"/>
                  </a:cubicBezTo>
                  <a:lnTo>
                    <a:pt x="665828" y="622617"/>
                  </a:lnTo>
                  <a:cubicBezTo>
                    <a:pt x="665828" y="647987"/>
                    <a:pt x="645262" y="668553"/>
                    <a:pt x="619893" y="668553"/>
                  </a:cubicBezTo>
                  <a:lnTo>
                    <a:pt x="45936" y="668553"/>
                  </a:lnTo>
                  <a:cubicBezTo>
                    <a:pt x="33753" y="668553"/>
                    <a:pt x="22069" y="663713"/>
                    <a:pt x="13454" y="655099"/>
                  </a:cubicBezTo>
                  <a:cubicBezTo>
                    <a:pt x="4840" y="646484"/>
                    <a:pt x="0" y="634800"/>
                    <a:pt x="0" y="622617"/>
                  </a:cubicBezTo>
                  <a:lnTo>
                    <a:pt x="0" y="45936"/>
                  </a:lnTo>
                  <a:cubicBezTo>
                    <a:pt x="0" y="33753"/>
                    <a:pt x="4840" y="22069"/>
                    <a:pt x="13454" y="13454"/>
                  </a:cubicBezTo>
                  <a:cubicBezTo>
                    <a:pt x="22069" y="4840"/>
                    <a:pt x="33753" y="0"/>
                    <a:pt x="4593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A278"/>
              </a:solidFill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665828" cy="6876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223486" y="2496649"/>
            <a:ext cx="633517" cy="548640"/>
            <a:chOff x="0" y="0"/>
            <a:chExt cx="844690" cy="7315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44677" cy="731520"/>
            </a:xfrm>
            <a:custGeom>
              <a:avLst/>
              <a:gdLst/>
              <a:ahLst/>
              <a:cxnLst/>
              <a:rect l="l" t="t" r="r" b="b"/>
              <a:pathLst>
                <a:path w="844677" h="731520">
                  <a:moveTo>
                    <a:pt x="0" y="365760"/>
                  </a:moveTo>
                  <a:lnTo>
                    <a:pt x="182880" y="0"/>
                  </a:lnTo>
                  <a:lnTo>
                    <a:pt x="661797" y="0"/>
                  </a:lnTo>
                  <a:lnTo>
                    <a:pt x="844677" y="365760"/>
                  </a:lnTo>
                  <a:lnTo>
                    <a:pt x="661797" y="731520"/>
                  </a:lnTo>
                  <a:lnTo>
                    <a:pt x="182880" y="731520"/>
                  </a:lnTo>
                  <a:close/>
                </a:path>
              </a:pathLst>
            </a:custGeom>
            <a:solidFill>
              <a:srgbClr val="7AC143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844690" cy="75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038272" y="2504269"/>
            <a:ext cx="633517" cy="548640"/>
            <a:chOff x="0" y="0"/>
            <a:chExt cx="844690" cy="7315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44677" cy="731520"/>
            </a:xfrm>
            <a:custGeom>
              <a:avLst/>
              <a:gdLst/>
              <a:ahLst/>
              <a:cxnLst/>
              <a:rect l="l" t="t" r="r" b="b"/>
              <a:pathLst>
                <a:path w="844677" h="731520">
                  <a:moveTo>
                    <a:pt x="0" y="365760"/>
                  </a:moveTo>
                  <a:lnTo>
                    <a:pt x="182880" y="0"/>
                  </a:lnTo>
                  <a:lnTo>
                    <a:pt x="661797" y="0"/>
                  </a:lnTo>
                  <a:lnTo>
                    <a:pt x="844677" y="365760"/>
                  </a:lnTo>
                  <a:lnTo>
                    <a:pt x="661797" y="731520"/>
                  </a:lnTo>
                  <a:lnTo>
                    <a:pt x="182880" y="731520"/>
                  </a:lnTo>
                  <a:close/>
                </a:path>
              </a:pathLst>
            </a:custGeom>
            <a:solidFill>
              <a:srgbClr val="7AC143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844690" cy="75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913679" y="2465340"/>
            <a:ext cx="633517" cy="548640"/>
            <a:chOff x="0" y="0"/>
            <a:chExt cx="844690" cy="7315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44677" cy="731520"/>
            </a:xfrm>
            <a:custGeom>
              <a:avLst/>
              <a:gdLst/>
              <a:ahLst/>
              <a:cxnLst/>
              <a:rect l="l" t="t" r="r" b="b"/>
              <a:pathLst>
                <a:path w="844677" h="731520">
                  <a:moveTo>
                    <a:pt x="0" y="365760"/>
                  </a:moveTo>
                  <a:lnTo>
                    <a:pt x="182880" y="0"/>
                  </a:lnTo>
                  <a:lnTo>
                    <a:pt x="661797" y="0"/>
                  </a:lnTo>
                  <a:lnTo>
                    <a:pt x="844677" y="365760"/>
                  </a:lnTo>
                  <a:lnTo>
                    <a:pt x="661797" y="731520"/>
                  </a:lnTo>
                  <a:lnTo>
                    <a:pt x="182880" y="731520"/>
                  </a:lnTo>
                  <a:close/>
                </a:path>
              </a:pathLst>
            </a:custGeom>
            <a:solidFill>
              <a:srgbClr val="7AC143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844690" cy="75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4785276" y="2504269"/>
            <a:ext cx="633517" cy="548640"/>
            <a:chOff x="0" y="0"/>
            <a:chExt cx="844690" cy="7315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44677" cy="731520"/>
            </a:xfrm>
            <a:custGeom>
              <a:avLst/>
              <a:gdLst/>
              <a:ahLst/>
              <a:cxnLst/>
              <a:rect l="l" t="t" r="r" b="b"/>
              <a:pathLst>
                <a:path w="844677" h="731520">
                  <a:moveTo>
                    <a:pt x="0" y="365760"/>
                  </a:moveTo>
                  <a:lnTo>
                    <a:pt x="182880" y="0"/>
                  </a:lnTo>
                  <a:lnTo>
                    <a:pt x="661797" y="0"/>
                  </a:lnTo>
                  <a:lnTo>
                    <a:pt x="844677" y="365760"/>
                  </a:lnTo>
                  <a:lnTo>
                    <a:pt x="661797" y="731520"/>
                  </a:lnTo>
                  <a:lnTo>
                    <a:pt x="182880" y="731520"/>
                  </a:lnTo>
                  <a:close/>
                </a:path>
              </a:pathLst>
            </a:custGeom>
            <a:solidFill>
              <a:srgbClr val="7AC143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844690" cy="75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164770" y="5524075"/>
            <a:ext cx="633517" cy="548640"/>
            <a:chOff x="0" y="0"/>
            <a:chExt cx="844690" cy="73152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844677" cy="731520"/>
            </a:xfrm>
            <a:custGeom>
              <a:avLst/>
              <a:gdLst/>
              <a:ahLst/>
              <a:cxnLst/>
              <a:rect l="l" t="t" r="r" b="b"/>
              <a:pathLst>
                <a:path w="844677" h="731520">
                  <a:moveTo>
                    <a:pt x="0" y="365760"/>
                  </a:moveTo>
                  <a:lnTo>
                    <a:pt x="182880" y="0"/>
                  </a:lnTo>
                  <a:lnTo>
                    <a:pt x="661797" y="0"/>
                  </a:lnTo>
                  <a:lnTo>
                    <a:pt x="844677" y="365760"/>
                  </a:lnTo>
                  <a:lnTo>
                    <a:pt x="661797" y="731520"/>
                  </a:lnTo>
                  <a:lnTo>
                    <a:pt x="182880" y="731520"/>
                  </a:lnTo>
                  <a:close/>
                </a:path>
              </a:pathLst>
            </a:custGeom>
            <a:solidFill>
              <a:srgbClr val="7AC143"/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844690" cy="75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9038272" y="5524075"/>
            <a:ext cx="633517" cy="548640"/>
            <a:chOff x="0" y="0"/>
            <a:chExt cx="844690" cy="73152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44677" cy="731520"/>
            </a:xfrm>
            <a:custGeom>
              <a:avLst/>
              <a:gdLst/>
              <a:ahLst/>
              <a:cxnLst/>
              <a:rect l="l" t="t" r="r" b="b"/>
              <a:pathLst>
                <a:path w="844677" h="731520">
                  <a:moveTo>
                    <a:pt x="0" y="365760"/>
                  </a:moveTo>
                  <a:lnTo>
                    <a:pt x="182880" y="0"/>
                  </a:lnTo>
                  <a:lnTo>
                    <a:pt x="661797" y="0"/>
                  </a:lnTo>
                  <a:lnTo>
                    <a:pt x="844677" y="365760"/>
                  </a:lnTo>
                  <a:lnTo>
                    <a:pt x="661797" y="731520"/>
                  </a:lnTo>
                  <a:lnTo>
                    <a:pt x="182880" y="731520"/>
                  </a:lnTo>
                  <a:close/>
                </a:path>
              </a:pathLst>
            </a:custGeom>
            <a:solidFill>
              <a:srgbClr val="7AC143"/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844690" cy="75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1911774" y="5524075"/>
            <a:ext cx="633517" cy="548640"/>
            <a:chOff x="0" y="0"/>
            <a:chExt cx="844690" cy="73152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44677" cy="731520"/>
            </a:xfrm>
            <a:custGeom>
              <a:avLst/>
              <a:gdLst/>
              <a:ahLst/>
              <a:cxnLst/>
              <a:rect l="l" t="t" r="r" b="b"/>
              <a:pathLst>
                <a:path w="844677" h="731520">
                  <a:moveTo>
                    <a:pt x="0" y="365760"/>
                  </a:moveTo>
                  <a:lnTo>
                    <a:pt x="182880" y="0"/>
                  </a:lnTo>
                  <a:lnTo>
                    <a:pt x="661797" y="0"/>
                  </a:lnTo>
                  <a:lnTo>
                    <a:pt x="844677" y="365760"/>
                  </a:lnTo>
                  <a:lnTo>
                    <a:pt x="661797" y="731520"/>
                  </a:lnTo>
                  <a:lnTo>
                    <a:pt x="182880" y="731520"/>
                  </a:lnTo>
                  <a:close/>
                </a:path>
              </a:pathLst>
            </a:custGeom>
            <a:solidFill>
              <a:srgbClr val="7AC143"/>
            </a:solidFill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844690" cy="75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4785276" y="5524075"/>
            <a:ext cx="633517" cy="548640"/>
            <a:chOff x="0" y="0"/>
            <a:chExt cx="844690" cy="73152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44677" cy="731520"/>
            </a:xfrm>
            <a:custGeom>
              <a:avLst/>
              <a:gdLst/>
              <a:ahLst/>
              <a:cxnLst/>
              <a:rect l="l" t="t" r="r" b="b"/>
              <a:pathLst>
                <a:path w="844677" h="731520">
                  <a:moveTo>
                    <a:pt x="0" y="365760"/>
                  </a:moveTo>
                  <a:lnTo>
                    <a:pt x="182880" y="0"/>
                  </a:lnTo>
                  <a:lnTo>
                    <a:pt x="661797" y="0"/>
                  </a:lnTo>
                  <a:lnTo>
                    <a:pt x="844677" y="365760"/>
                  </a:lnTo>
                  <a:lnTo>
                    <a:pt x="661797" y="731520"/>
                  </a:lnTo>
                  <a:lnTo>
                    <a:pt x="182880" y="731520"/>
                  </a:lnTo>
                  <a:close/>
                </a:path>
              </a:pathLst>
            </a:custGeom>
            <a:solidFill>
              <a:srgbClr val="7AC143"/>
            </a:solidFill>
          </p:spPr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844690" cy="75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74219" y="1935779"/>
            <a:ext cx="5289512" cy="6134176"/>
            <a:chOff x="0" y="0"/>
            <a:chExt cx="1393060" cy="1615567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393060" cy="1615567"/>
            </a:xfrm>
            <a:custGeom>
              <a:avLst/>
              <a:gdLst/>
              <a:ahLst/>
              <a:cxnLst/>
              <a:rect l="l" t="t" r="r" b="b"/>
              <a:pathLst>
                <a:path w="1393060" h="1615567">
                  <a:moveTo>
                    <a:pt x="1393060" y="21955"/>
                  </a:moveTo>
                  <a:lnTo>
                    <a:pt x="1393060" y="1593612"/>
                  </a:lnTo>
                  <a:cubicBezTo>
                    <a:pt x="1393060" y="1599435"/>
                    <a:pt x="1390747" y="1605019"/>
                    <a:pt x="1386630" y="1609137"/>
                  </a:cubicBezTo>
                  <a:cubicBezTo>
                    <a:pt x="1382513" y="1613254"/>
                    <a:pt x="1376928" y="1615567"/>
                    <a:pt x="1371106" y="1615567"/>
                  </a:cubicBezTo>
                  <a:lnTo>
                    <a:pt x="21955" y="1615567"/>
                  </a:lnTo>
                  <a:cubicBezTo>
                    <a:pt x="16132" y="1615567"/>
                    <a:pt x="10548" y="1613254"/>
                    <a:pt x="6430" y="1609137"/>
                  </a:cubicBezTo>
                  <a:cubicBezTo>
                    <a:pt x="2313" y="1605019"/>
                    <a:pt x="0" y="1599435"/>
                    <a:pt x="0" y="1593612"/>
                  </a:cubicBezTo>
                  <a:lnTo>
                    <a:pt x="0" y="21955"/>
                  </a:lnTo>
                  <a:cubicBezTo>
                    <a:pt x="0" y="16132"/>
                    <a:pt x="2313" y="10548"/>
                    <a:pt x="6430" y="6430"/>
                  </a:cubicBezTo>
                  <a:cubicBezTo>
                    <a:pt x="10548" y="2313"/>
                    <a:pt x="16132" y="0"/>
                    <a:pt x="21955" y="0"/>
                  </a:cubicBezTo>
                  <a:lnTo>
                    <a:pt x="1371106" y="0"/>
                  </a:lnTo>
                  <a:cubicBezTo>
                    <a:pt x="1376928" y="0"/>
                    <a:pt x="1382513" y="2313"/>
                    <a:pt x="1386630" y="6430"/>
                  </a:cubicBezTo>
                  <a:cubicBezTo>
                    <a:pt x="1390747" y="10548"/>
                    <a:pt x="1393060" y="16132"/>
                    <a:pt x="1393060" y="21955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4FA278"/>
              </a:solidFill>
              <a:prstDash val="solid"/>
              <a:miter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1393060" cy="16346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6164770" y="3131014"/>
            <a:ext cx="225628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52B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Crop is ready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223486" y="3826339"/>
            <a:ext cx="225628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Goes wrong: </a:t>
            </a:r>
            <a:r>
              <a:rPr lang="en-US" sz="1899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Timing is set by maturity, not price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014269" y="3014809"/>
            <a:ext cx="225628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52B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Needs cash, decides to sell soon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900475" y="3871106"/>
            <a:ext cx="225628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Goes wrong: </a:t>
            </a:r>
            <a:r>
              <a:rPr lang="en-US" sz="1899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Pressure weakens the position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913679" y="3014809"/>
            <a:ext cx="225628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52B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Asks neighbours, traders, phone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1835574" y="3902253"/>
            <a:ext cx="225628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Goes wrong: </a:t>
            </a:r>
            <a:r>
              <a:rPr lang="en-US" sz="1899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Info is patchy or outdated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4712886" y="3061672"/>
            <a:ext cx="2256282" cy="6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52B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Picks nearest market by habit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4785276" y="3861772"/>
            <a:ext cx="225628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Goes wrong: </a:t>
            </a:r>
            <a:r>
              <a:rPr lang="en-US" sz="1899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Other options never compared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6194356" y="6162250"/>
            <a:ext cx="225628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52B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Price agreed at the sale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6194356" y="6857575"/>
            <a:ext cx="2256282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Goes wrong: </a:t>
            </a:r>
            <a:r>
              <a:rPr lang="en-US" sz="1899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No numbers to back the choice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9038272" y="6127960"/>
            <a:ext cx="225628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52B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Weighed; fees deducted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9095957" y="6857575"/>
            <a:ext cx="225628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Goes wrong: </a:t>
            </a:r>
            <a:r>
              <a:rPr lang="en-US" sz="1899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Deductions unclear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11807380" y="6162250"/>
            <a:ext cx="225628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52B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Paid, sometimes later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11826430" y="6926155"/>
            <a:ext cx="225628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Goes wrong: </a:t>
            </a:r>
            <a:r>
              <a:rPr lang="en-US" sz="1899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Payment delay adds pressure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14785276" y="6162250"/>
            <a:ext cx="2256282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52B3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Learns better options existed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14846060" y="6914725"/>
            <a:ext cx="225628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0268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Goes wrong: </a:t>
            </a:r>
            <a:r>
              <a:rPr lang="en-US" sz="1899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Learning arrives too late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753808" y="2083264"/>
            <a:ext cx="3957638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  <a:spcBef>
                <a:spcPct val="0"/>
              </a:spcBef>
            </a:pPr>
            <a:r>
              <a:rPr lang="en-US" sz="2299" b="1" dirty="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Cambria Bold"/>
                <a:ea typeface="Cambria Bold"/>
                <a:cs typeface="Cambria Bold"/>
                <a:sym typeface="Cambria Bold"/>
              </a:rPr>
              <a:t>THE REAL-WORLD CONTEXT</a:t>
            </a:r>
          </a:p>
          <a:p>
            <a:pPr algn="l">
              <a:lnSpc>
                <a:spcPts val="2759"/>
              </a:lnSpc>
              <a:spcBef>
                <a:spcPct val="0"/>
              </a:spcBef>
            </a:pPr>
            <a:endParaRPr lang="en-US" sz="2299" b="1" dirty="0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3533CD">
                      <a:alpha val="100000"/>
                    </a:srgbClr>
                  </a:gs>
                </a:gsLst>
                <a:lin ang="0"/>
              </a:gra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99" name="TextBox 99"/>
          <p:cNvSpPr txBox="1"/>
          <p:nvPr/>
        </p:nvSpPr>
        <p:spPr>
          <a:xfrm>
            <a:off x="654450" y="2635721"/>
            <a:ext cx="4327717" cy="1276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Small and marginal farmers may have limited cash, storage and time after harvest.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100" b="1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100" name="TextBox 100"/>
          <p:cNvSpPr txBox="1"/>
          <p:nvPr/>
        </p:nvSpPr>
        <p:spPr>
          <a:xfrm>
            <a:off x="621027" y="3732232"/>
            <a:ext cx="4361140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7AC143"/>
                </a:solidFill>
                <a:latin typeface="Cambria Bold"/>
                <a:ea typeface="Cambria Bold"/>
                <a:cs typeface="Cambria Bold"/>
                <a:sym typeface="Cambria Bold"/>
              </a:rPr>
              <a:t>A “good price” can be misleading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100" b="1">
              <a:solidFill>
                <a:srgbClr val="7AC143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grpSp>
        <p:nvGrpSpPr>
          <p:cNvPr id="101" name="Group 101"/>
          <p:cNvGrpSpPr/>
          <p:nvPr/>
        </p:nvGrpSpPr>
        <p:grpSpPr>
          <a:xfrm>
            <a:off x="680414" y="4348135"/>
            <a:ext cx="206175" cy="225076"/>
            <a:chOff x="0" y="0"/>
            <a:chExt cx="3576066" cy="3903889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3576066" cy="3903888"/>
            </a:xfrm>
            <a:custGeom>
              <a:avLst/>
              <a:gdLst/>
              <a:ahLst/>
              <a:cxnLst/>
              <a:rect l="l" t="t" r="r" b="b"/>
              <a:pathLst>
                <a:path w="3576066" h="3903888">
                  <a:moveTo>
                    <a:pt x="0" y="153366"/>
                  </a:moveTo>
                  <a:cubicBezTo>
                    <a:pt x="0" y="68647"/>
                    <a:pt x="64008" y="0"/>
                    <a:pt x="143002" y="0"/>
                  </a:cubicBezTo>
                  <a:lnTo>
                    <a:pt x="3433064" y="0"/>
                  </a:lnTo>
                  <a:cubicBezTo>
                    <a:pt x="3512058" y="0"/>
                    <a:pt x="3576066" y="68647"/>
                    <a:pt x="3576066" y="153366"/>
                  </a:cubicBezTo>
                  <a:lnTo>
                    <a:pt x="3576066" y="3750522"/>
                  </a:lnTo>
                  <a:cubicBezTo>
                    <a:pt x="3576066" y="3835241"/>
                    <a:pt x="3512058" y="3903888"/>
                    <a:pt x="3433064" y="3903888"/>
                  </a:cubicBezTo>
                  <a:lnTo>
                    <a:pt x="143002" y="3903888"/>
                  </a:lnTo>
                  <a:cubicBezTo>
                    <a:pt x="64008" y="3903888"/>
                    <a:pt x="0" y="3835241"/>
                    <a:pt x="0" y="3750522"/>
                  </a:cubicBezTo>
                  <a:close/>
                </a:path>
              </a:pathLst>
            </a:custGeom>
            <a:solidFill>
              <a:srgbClr val="7AC143">
                <a:alpha val="48627"/>
              </a:srgbClr>
            </a:solidFill>
            <a:ln w="14288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103" name="Group 103"/>
          <p:cNvGrpSpPr/>
          <p:nvPr/>
        </p:nvGrpSpPr>
        <p:grpSpPr>
          <a:xfrm>
            <a:off x="697285" y="5234167"/>
            <a:ext cx="189305" cy="206659"/>
            <a:chOff x="0" y="0"/>
            <a:chExt cx="3576066" cy="3903889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3576066" cy="3903888"/>
            </a:xfrm>
            <a:custGeom>
              <a:avLst/>
              <a:gdLst/>
              <a:ahLst/>
              <a:cxnLst/>
              <a:rect l="l" t="t" r="r" b="b"/>
              <a:pathLst>
                <a:path w="3576066" h="3903888">
                  <a:moveTo>
                    <a:pt x="0" y="153366"/>
                  </a:moveTo>
                  <a:cubicBezTo>
                    <a:pt x="0" y="68647"/>
                    <a:pt x="64008" y="0"/>
                    <a:pt x="143002" y="0"/>
                  </a:cubicBezTo>
                  <a:lnTo>
                    <a:pt x="3433064" y="0"/>
                  </a:lnTo>
                  <a:cubicBezTo>
                    <a:pt x="3512058" y="0"/>
                    <a:pt x="3576066" y="68647"/>
                    <a:pt x="3576066" y="153366"/>
                  </a:cubicBezTo>
                  <a:lnTo>
                    <a:pt x="3576066" y="3750522"/>
                  </a:lnTo>
                  <a:cubicBezTo>
                    <a:pt x="3576066" y="3835241"/>
                    <a:pt x="3512058" y="3903888"/>
                    <a:pt x="3433064" y="3903888"/>
                  </a:cubicBezTo>
                  <a:lnTo>
                    <a:pt x="143002" y="3903888"/>
                  </a:lnTo>
                  <a:cubicBezTo>
                    <a:pt x="64008" y="3903888"/>
                    <a:pt x="0" y="3835241"/>
                    <a:pt x="0" y="3750522"/>
                  </a:cubicBezTo>
                  <a:close/>
                </a:path>
              </a:pathLst>
            </a:custGeom>
            <a:solidFill>
              <a:srgbClr val="7AC143">
                <a:alpha val="48627"/>
              </a:srgbClr>
            </a:solidFill>
            <a:ln w="14288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728378" y="6072715"/>
            <a:ext cx="191635" cy="209203"/>
            <a:chOff x="0" y="0"/>
            <a:chExt cx="3576066" cy="3903889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3576066" cy="3903888"/>
            </a:xfrm>
            <a:custGeom>
              <a:avLst/>
              <a:gdLst/>
              <a:ahLst/>
              <a:cxnLst/>
              <a:rect l="l" t="t" r="r" b="b"/>
              <a:pathLst>
                <a:path w="3576066" h="3903888">
                  <a:moveTo>
                    <a:pt x="0" y="153366"/>
                  </a:moveTo>
                  <a:cubicBezTo>
                    <a:pt x="0" y="68647"/>
                    <a:pt x="64008" y="0"/>
                    <a:pt x="143002" y="0"/>
                  </a:cubicBezTo>
                  <a:lnTo>
                    <a:pt x="3433064" y="0"/>
                  </a:lnTo>
                  <a:cubicBezTo>
                    <a:pt x="3512058" y="0"/>
                    <a:pt x="3576066" y="68647"/>
                    <a:pt x="3576066" y="153366"/>
                  </a:cubicBezTo>
                  <a:lnTo>
                    <a:pt x="3576066" y="3750522"/>
                  </a:lnTo>
                  <a:cubicBezTo>
                    <a:pt x="3576066" y="3835241"/>
                    <a:pt x="3512058" y="3903888"/>
                    <a:pt x="3433064" y="3903888"/>
                  </a:cubicBezTo>
                  <a:lnTo>
                    <a:pt x="143002" y="3903888"/>
                  </a:lnTo>
                  <a:cubicBezTo>
                    <a:pt x="64008" y="3903888"/>
                    <a:pt x="0" y="3835241"/>
                    <a:pt x="0" y="3750522"/>
                  </a:cubicBezTo>
                  <a:close/>
                </a:path>
              </a:pathLst>
            </a:custGeom>
            <a:solidFill>
              <a:srgbClr val="7AC143">
                <a:alpha val="48627"/>
              </a:srgbClr>
            </a:solidFill>
            <a:ln w="14288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107" name="Group 107"/>
          <p:cNvGrpSpPr/>
          <p:nvPr/>
        </p:nvGrpSpPr>
        <p:grpSpPr>
          <a:xfrm>
            <a:off x="728378" y="7072111"/>
            <a:ext cx="191635" cy="209203"/>
            <a:chOff x="0" y="0"/>
            <a:chExt cx="3576066" cy="3903889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3576066" cy="3903888"/>
            </a:xfrm>
            <a:custGeom>
              <a:avLst/>
              <a:gdLst/>
              <a:ahLst/>
              <a:cxnLst/>
              <a:rect l="l" t="t" r="r" b="b"/>
              <a:pathLst>
                <a:path w="3576066" h="3903888">
                  <a:moveTo>
                    <a:pt x="0" y="153366"/>
                  </a:moveTo>
                  <a:cubicBezTo>
                    <a:pt x="0" y="68647"/>
                    <a:pt x="64008" y="0"/>
                    <a:pt x="143002" y="0"/>
                  </a:cubicBezTo>
                  <a:lnTo>
                    <a:pt x="3433064" y="0"/>
                  </a:lnTo>
                  <a:cubicBezTo>
                    <a:pt x="3512058" y="0"/>
                    <a:pt x="3576066" y="68647"/>
                    <a:pt x="3576066" y="153366"/>
                  </a:cubicBezTo>
                  <a:lnTo>
                    <a:pt x="3576066" y="3750522"/>
                  </a:lnTo>
                  <a:cubicBezTo>
                    <a:pt x="3576066" y="3835241"/>
                    <a:pt x="3512058" y="3903888"/>
                    <a:pt x="3433064" y="3903888"/>
                  </a:cubicBezTo>
                  <a:lnTo>
                    <a:pt x="143002" y="3903888"/>
                  </a:lnTo>
                  <a:cubicBezTo>
                    <a:pt x="64008" y="3903888"/>
                    <a:pt x="0" y="3835241"/>
                    <a:pt x="0" y="3750522"/>
                  </a:cubicBezTo>
                  <a:close/>
                </a:path>
              </a:pathLst>
            </a:custGeom>
            <a:solidFill>
              <a:srgbClr val="7AC143">
                <a:alpha val="48627"/>
              </a:srgbClr>
            </a:solidFill>
            <a:ln w="14288" cap="sq">
              <a:solidFill>
                <a:srgbClr val="4FA278"/>
              </a:solidFill>
              <a:prstDash val="solid"/>
              <a:miter/>
            </a:ln>
          </p:spPr>
        </p:sp>
      </p:grpSp>
      <p:sp>
        <p:nvSpPr>
          <p:cNvPr id="109" name="TextBox 109"/>
          <p:cNvSpPr txBox="1"/>
          <p:nvPr/>
        </p:nvSpPr>
        <p:spPr>
          <a:xfrm>
            <a:off x="1028128" y="4264679"/>
            <a:ext cx="2035138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Transport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100" b="1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110" name="TextBox 110"/>
          <p:cNvSpPr txBox="1"/>
          <p:nvPr/>
        </p:nvSpPr>
        <p:spPr>
          <a:xfrm>
            <a:off x="1028128" y="4586467"/>
            <a:ext cx="4584929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can erase the gain from a distant mandi.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TextBox 111"/>
          <p:cNvSpPr txBox="1"/>
          <p:nvPr/>
        </p:nvSpPr>
        <p:spPr>
          <a:xfrm>
            <a:off x="991981" y="5215117"/>
            <a:ext cx="2596038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Market charges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100" b="1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112" name="TextBox 112"/>
          <p:cNvSpPr txBox="1"/>
          <p:nvPr/>
        </p:nvSpPr>
        <p:spPr>
          <a:xfrm>
            <a:off x="1028700" y="5527885"/>
            <a:ext cx="4692045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reduce the amount received.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" name="TextBox 113"/>
          <p:cNvSpPr txBox="1"/>
          <p:nvPr/>
        </p:nvSpPr>
        <p:spPr>
          <a:xfrm>
            <a:off x="1089927" y="5948542"/>
            <a:ext cx="4692045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Spoilage + waiting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100" b="1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114" name="TextBox 114"/>
          <p:cNvSpPr txBox="1"/>
          <p:nvPr/>
        </p:nvSpPr>
        <p:spPr>
          <a:xfrm>
            <a:off x="1028128" y="6295600"/>
            <a:ext cx="4692045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make holding perishable crops 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risky.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TextBox 115"/>
          <p:cNvSpPr txBox="1"/>
          <p:nvPr/>
        </p:nvSpPr>
        <p:spPr>
          <a:xfrm>
            <a:off x="1089927" y="7028644"/>
            <a:ext cx="4692045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Urgency + storage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100" b="1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116" name="TextBox 116"/>
          <p:cNvSpPr txBox="1"/>
          <p:nvPr/>
        </p:nvSpPr>
        <p:spPr>
          <a:xfrm>
            <a:off x="1146332" y="7381450"/>
            <a:ext cx="4692045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limit which options are realistic.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117" name="Group 117"/>
          <p:cNvGrpSpPr/>
          <p:nvPr/>
        </p:nvGrpSpPr>
        <p:grpSpPr>
          <a:xfrm>
            <a:off x="8051108" y="1849425"/>
            <a:ext cx="6788644" cy="524542"/>
            <a:chOff x="0" y="0"/>
            <a:chExt cx="9051526" cy="699389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9051526" cy="699389"/>
            </a:xfrm>
            <a:custGeom>
              <a:avLst/>
              <a:gdLst/>
              <a:ahLst/>
              <a:cxnLst/>
              <a:rect l="l" t="t" r="r" b="b"/>
              <a:pathLst>
                <a:path w="9051526" h="699389">
                  <a:moveTo>
                    <a:pt x="0" y="0"/>
                  </a:moveTo>
                  <a:lnTo>
                    <a:pt x="9051526" y="0"/>
                  </a:lnTo>
                  <a:lnTo>
                    <a:pt x="9051526" y="699389"/>
                  </a:lnTo>
                  <a:lnTo>
                    <a:pt x="0" y="69938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4918" r="-61634" b="-340289"/>
              </a:stretch>
            </a:blipFill>
          </p:spPr>
        </p:sp>
        <p:sp>
          <p:nvSpPr>
            <p:cNvPr id="119" name="TextBox 119"/>
            <p:cNvSpPr txBox="1"/>
            <p:nvPr/>
          </p:nvSpPr>
          <p:spPr>
            <a:xfrm>
              <a:off x="0" y="-47625"/>
              <a:ext cx="9051526" cy="747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99"/>
                </a:lnSpc>
              </a:pPr>
              <a:r>
                <a:rPr lang="en-US" sz="2249" b="1" spc="40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CURRENT WORKFLOW, STEP BY STEP</a:t>
              </a:r>
            </a:p>
          </p:txBody>
        </p:sp>
      </p:grpSp>
      <p:sp>
        <p:nvSpPr>
          <p:cNvPr id="120" name="TextBox 120"/>
          <p:cNvSpPr txBox="1"/>
          <p:nvPr/>
        </p:nvSpPr>
        <p:spPr>
          <a:xfrm>
            <a:off x="341354" y="8381903"/>
            <a:ext cx="17509205" cy="73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Price information exists—but farmers lack a simple, personalized comparison of where + when to sell, after costs, risk and their own limits.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399" b="1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21" name="TextBox 121"/>
          <p:cNvSpPr txBox="1"/>
          <p:nvPr/>
        </p:nvSpPr>
        <p:spPr>
          <a:xfrm>
            <a:off x="174219" y="8892594"/>
            <a:ext cx="17676340" cy="3243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</a:pPr>
            <a:r>
              <a:rPr lang="en-US" sz="195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TODAY</a:t>
            </a:r>
            <a:r>
              <a:rPr lang="en-US" sz="1954" b="1" dirty="0">
                <a:solidFill>
                  <a:srgbClr val="7AC1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Scattered information → Habit-based selling;  </a:t>
            </a:r>
            <a:r>
              <a:rPr lang="en-US" sz="195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SELLSMART</a:t>
            </a:r>
            <a:r>
              <a:rPr lang="en-US" sz="1954" b="1" dirty="0">
                <a:solidFill>
                  <a:srgbClr val="7AC1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Market comparison + transport costs + urgency + risk → Better-informed selling</a:t>
            </a:r>
          </a:p>
        </p:txBody>
      </p:sp>
      <p:grpSp>
        <p:nvGrpSpPr>
          <p:cNvPr id="122" name="Group 122"/>
          <p:cNvGrpSpPr/>
          <p:nvPr/>
        </p:nvGrpSpPr>
        <p:grpSpPr>
          <a:xfrm>
            <a:off x="15608503" y="9612859"/>
            <a:ext cx="685800" cy="593903"/>
            <a:chOff x="0" y="0"/>
            <a:chExt cx="914400" cy="791870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914400" cy="791870"/>
            </a:xfrm>
            <a:custGeom>
              <a:avLst/>
              <a:gdLst/>
              <a:ahLst/>
              <a:cxnLst/>
              <a:rect l="l" t="t" r="r" b="b"/>
              <a:pathLst>
                <a:path w="914400" h="79187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110" r="-61110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-586955" y="9452381"/>
            <a:ext cx="19113199" cy="754380"/>
            <a:chOff x="0" y="0"/>
            <a:chExt cx="25484266" cy="1005840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25484238" cy="1005840"/>
            </a:xfrm>
            <a:custGeom>
              <a:avLst/>
              <a:gdLst/>
              <a:ahLst/>
              <a:cxnLst/>
              <a:rect l="l" t="t" r="r" b="b"/>
              <a:pathLst>
                <a:path w="25484238" h="1005840">
                  <a:moveTo>
                    <a:pt x="0" y="0"/>
                  </a:moveTo>
                  <a:lnTo>
                    <a:pt x="25484238" y="0"/>
                  </a:lnTo>
                  <a:lnTo>
                    <a:pt x="25484238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id="127" name="Group 127"/>
          <p:cNvGrpSpPr/>
          <p:nvPr/>
        </p:nvGrpSpPr>
        <p:grpSpPr>
          <a:xfrm>
            <a:off x="16984518" y="9576381"/>
            <a:ext cx="685800" cy="593903"/>
            <a:chOff x="0" y="0"/>
            <a:chExt cx="914400" cy="791870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914400" cy="791845"/>
            </a:xfrm>
            <a:custGeom>
              <a:avLst/>
              <a:gdLst/>
              <a:ahLst/>
              <a:cxnLst/>
              <a:rect l="l" t="t" r="r" b="b"/>
              <a:pathLst>
                <a:path w="914400" h="791845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sp>
        <p:nvSpPr>
          <p:cNvPr id="129" name="TextBox 129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130" name="TextBox 130"/>
          <p:cNvSpPr txBox="1"/>
          <p:nvPr/>
        </p:nvSpPr>
        <p:spPr>
          <a:xfrm>
            <a:off x="6149004" y="9648914"/>
            <a:ext cx="4936689" cy="32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Genesis Ideathon – Pre-Ideathon Template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7233804" y="9667964"/>
            <a:ext cx="158008" cy="333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4</a:t>
            </a:r>
          </a:p>
        </p:txBody>
      </p:sp>
      <p:sp>
        <p:nvSpPr>
          <p:cNvPr id="132" name="Freeform 132"/>
          <p:cNvSpPr/>
          <p:nvPr/>
        </p:nvSpPr>
        <p:spPr>
          <a:xfrm>
            <a:off x="754380" y="456245"/>
            <a:ext cx="872538" cy="872538"/>
          </a:xfrm>
          <a:custGeom>
            <a:avLst/>
            <a:gdLst/>
            <a:ahLst/>
            <a:cxnLst/>
            <a:rect l="l" t="t" r="r" b="b"/>
            <a:pathLst>
              <a:path w="872538" h="872538">
                <a:moveTo>
                  <a:pt x="0" y="0"/>
                </a:moveTo>
                <a:lnTo>
                  <a:pt x="872538" y="0"/>
                </a:lnTo>
                <a:lnTo>
                  <a:pt x="872538" y="872538"/>
                </a:lnTo>
                <a:lnTo>
                  <a:pt x="0" y="872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3" name="TextBox 133"/>
          <p:cNvSpPr txBox="1"/>
          <p:nvPr/>
        </p:nvSpPr>
        <p:spPr>
          <a:xfrm>
            <a:off x="1775478" y="726088"/>
            <a:ext cx="1196321" cy="336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Nexus0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45344" y="-142875"/>
            <a:ext cx="11247120" cy="1234440"/>
            <a:chOff x="0" y="0"/>
            <a:chExt cx="14996160" cy="1645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996161" cy="1645920"/>
            </a:xfrm>
            <a:custGeom>
              <a:avLst/>
              <a:gdLst/>
              <a:ahLst/>
              <a:cxnLst/>
              <a:rect l="l" t="t" r="r" b="b"/>
              <a:pathLst>
                <a:path w="14996161" h="1645920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7530" b="-12753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CHALLENGES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360159" y="472916"/>
            <a:ext cx="1248727" cy="1248727"/>
            <a:chOff x="0" y="0"/>
            <a:chExt cx="1664970" cy="16649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64970" cy="1664970"/>
            </a:xfrm>
            <a:custGeom>
              <a:avLst/>
              <a:gdLst/>
              <a:ahLst/>
              <a:cxnLst/>
              <a:rect l="l" t="t" r="r" b="b"/>
              <a:pathLst>
                <a:path w="1664970" h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6583920" y="576072"/>
            <a:ext cx="801195" cy="1042416"/>
            <a:chOff x="0" y="0"/>
            <a:chExt cx="1068260" cy="1389888"/>
          </a:xfrm>
        </p:grpSpPr>
        <p:sp>
          <p:nvSpPr>
            <p:cNvPr id="8" name="Freeform 8" descr="Genesis logo"/>
            <p:cNvSpPr/>
            <p:nvPr/>
          </p:nvSpPr>
          <p:spPr>
            <a:xfrm>
              <a:off x="0" y="0"/>
              <a:ext cx="1068324" cy="1389888"/>
            </a:xfrm>
            <a:custGeom>
              <a:avLst/>
              <a:gdLst/>
              <a:ahLst/>
              <a:cxnLst/>
              <a:rect l="l" t="t" r="r" b="b"/>
              <a:pathLst>
                <a:path w="1068324" h="1389888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604463" y="139803"/>
            <a:ext cx="872538" cy="872538"/>
          </a:xfrm>
          <a:custGeom>
            <a:avLst/>
            <a:gdLst/>
            <a:ahLst/>
            <a:cxnLst/>
            <a:rect l="l" t="t" r="r" b="b"/>
            <a:pathLst>
              <a:path w="872538" h="872538">
                <a:moveTo>
                  <a:pt x="0" y="0"/>
                </a:moveTo>
                <a:lnTo>
                  <a:pt x="872538" y="0"/>
                </a:lnTo>
                <a:lnTo>
                  <a:pt x="872538" y="872538"/>
                </a:lnTo>
                <a:lnTo>
                  <a:pt x="0" y="8725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04463" y="1069334"/>
            <a:ext cx="15205758" cy="754380"/>
            <a:chOff x="0" y="0"/>
            <a:chExt cx="20274344" cy="100584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54960"/>
              <a:ext cx="914400" cy="791870"/>
              <a:chOff x="0" y="0"/>
              <a:chExt cx="914400" cy="79187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914400" cy="791845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791845">
                    <a:moveTo>
                      <a:pt x="0" y="395986"/>
                    </a:moveTo>
                    <a:lnTo>
                      <a:pt x="197993" y="0"/>
                    </a:lnTo>
                    <a:lnTo>
                      <a:pt x="716407" y="0"/>
                    </a:lnTo>
                    <a:lnTo>
                      <a:pt x="914400" y="395986"/>
                    </a:lnTo>
                    <a:lnTo>
                      <a:pt x="716407" y="791845"/>
                    </a:lnTo>
                    <a:lnTo>
                      <a:pt x="197993" y="791845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182880" y="175661"/>
              <a:ext cx="548640" cy="548640"/>
              <a:chOff x="0" y="0"/>
              <a:chExt cx="548640" cy="548640"/>
            </a:xfrm>
          </p:grpSpPr>
          <p:sp>
            <p:nvSpPr>
              <p:cNvPr id="14" name="Freeform 14" descr="Lightbulb icon"/>
              <p:cNvSpPr/>
              <p:nvPr/>
            </p:nvSpPr>
            <p:spPr>
              <a:xfrm>
                <a:off x="0" y="0"/>
                <a:ext cx="548640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</p:sp>
        </p:grpSp>
        <p:grpSp>
          <p:nvGrpSpPr>
            <p:cNvPr id="15" name="Group 15"/>
            <p:cNvGrpSpPr/>
            <p:nvPr/>
          </p:nvGrpSpPr>
          <p:grpSpPr>
            <a:xfrm>
              <a:off x="1071944" y="0"/>
              <a:ext cx="19202400" cy="1005840"/>
              <a:chOff x="0" y="0"/>
              <a:chExt cx="19202400" cy="100584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9202400" cy="1005840"/>
              </a:xfrm>
              <a:custGeom>
                <a:avLst/>
                <a:gdLst/>
                <a:ahLst/>
                <a:cxnLst/>
                <a:rect l="l" t="t" r="r" b="b"/>
                <a:pathLst>
                  <a:path w="19202400" h="1005840">
                    <a:moveTo>
                      <a:pt x="0" y="0"/>
                    </a:moveTo>
                    <a:lnTo>
                      <a:pt x="19202400" y="0"/>
                    </a:lnTo>
                    <a:lnTo>
                      <a:pt x="19202400" y="1005840"/>
                    </a:lnTo>
                    <a:lnTo>
                      <a:pt x="0" y="10058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21987" b="-321987"/>
                </a:stretch>
              </a:blip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57150"/>
                <a:ext cx="19202400" cy="106299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599"/>
                  </a:lnSpc>
                </a:pPr>
                <a:r>
                  <a:rPr lang="en-US" sz="2999" b="1">
                    <a:solidFill>
                      <a:srgbClr val="094542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The Core Challenges</a:t>
                </a:r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8729166" y="5020447"/>
            <a:ext cx="4307117" cy="3002434"/>
            <a:chOff x="0" y="0"/>
            <a:chExt cx="1134385" cy="79076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4385" cy="790765"/>
            </a:xfrm>
            <a:custGeom>
              <a:avLst/>
              <a:gdLst/>
              <a:ahLst/>
              <a:cxnLst/>
              <a:rect l="l" t="t" r="r" b="b"/>
              <a:pathLst>
                <a:path w="1134385" h="790765">
                  <a:moveTo>
                    <a:pt x="30557" y="0"/>
                  </a:moveTo>
                  <a:lnTo>
                    <a:pt x="1103828" y="0"/>
                  </a:lnTo>
                  <a:cubicBezTo>
                    <a:pt x="1111932" y="0"/>
                    <a:pt x="1119704" y="3219"/>
                    <a:pt x="1125435" y="8950"/>
                  </a:cubicBezTo>
                  <a:cubicBezTo>
                    <a:pt x="1131165" y="14680"/>
                    <a:pt x="1134385" y="22453"/>
                    <a:pt x="1134385" y="30557"/>
                  </a:cubicBezTo>
                  <a:lnTo>
                    <a:pt x="1134385" y="760208"/>
                  </a:lnTo>
                  <a:cubicBezTo>
                    <a:pt x="1134385" y="768312"/>
                    <a:pt x="1131165" y="776084"/>
                    <a:pt x="1125435" y="781815"/>
                  </a:cubicBezTo>
                  <a:cubicBezTo>
                    <a:pt x="1119704" y="787545"/>
                    <a:pt x="1111932" y="790765"/>
                    <a:pt x="1103828" y="790765"/>
                  </a:cubicBezTo>
                  <a:lnTo>
                    <a:pt x="30557" y="790765"/>
                  </a:lnTo>
                  <a:cubicBezTo>
                    <a:pt x="22453" y="790765"/>
                    <a:pt x="14680" y="787545"/>
                    <a:pt x="8950" y="781815"/>
                  </a:cubicBezTo>
                  <a:cubicBezTo>
                    <a:pt x="3219" y="776084"/>
                    <a:pt x="0" y="768312"/>
                    <a:pt x="0" y="760208"/>
                  </a:cubicBezTo>
                  <a:lnTo>
                    <a:pt x="0" y="30557"/>
                  </a:lnTo>
                  <a:cubicBezTo>
                    <a:pt x="0" y="22453"/>
                    <a:pt x="3219" y="14680"/>
                    <a:pt x="8950" y="8950"/>
                  </a:cubicBezTo>
                  <a:cubicBezTo>
                    <a:pt x="14680" y="3219"/>
                    <a:pt x="22453" y="0"/>
                    <a:pt x="3055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134385" cy="809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880783" y="5080953"/>
            <a:ext cx="633517" cy="548640"/>
            <a:chOff x="0" y="0"/>
            <a:chExt cx="84469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44677" cy="731520"/>
            </a:xfrm>
            <a:custGeom>
              <a:avLst/>
              <a:gdLst/>
              <a:ahLst/>
              <a:cxnLst/>
              <a:rect l="l" t="t" r="r" b="b"/>
              <a:pathLst>
                <a:path w="844677" h="731520">
                  <a:moveTo>
                    <a:pt x="0" y="365760"/>
                  </a:moveTo>
                  <a:lnTo>
                    <a:pt x="182880" y="0"/>
                  </a:lnTo>
                  <a:lnTo>
                    <a:pt x="661797" y="0"/>
                  </a:lnTo>
                  <a:lnTo>
                    <a:pt x="844677" y="365760"/>
                  </a:lnTo>
                  <a:lnTo>
                    <a:pt x="661797" y="731520"/>
                  </a:lnTo>
                  <a:lnTo>
                    <a:pt x="182880" y="731520"/>
                  </a:lnTo>
                  <a:close/>
                </a:path>
              </a:pathLst>
            </a:custGeom>
            <a:solidFill>
              <a:srgbClr val="7AC143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844690" cy="75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880783" y="5764855"/>
            <a:ext cx="1605189" cy="308625"/>
            <a:chOff x="0" y="0"/>
            <a:chExt cx="422766" cy="8128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22766" cy="81284"/>
            </a:xfrm>
            <a:custGeom>
              <a:avLst/>
              <a:gdLst/>
              <a:ahLst/>
              <a:cxnLst/>
              <a:rect l="l" t="t" r="r" b="b"/>
              <a:pathLst>
                <a:path w="422766" h="81284">
                  <a:moveTo>
                    <a:pt x="40642" y="0"/>
                  </a:moveTo>
                  <a:lnTo>
                    <a:pt x="382124" y="0"/>
                  </a:lnTo>
                  <a:cubicBezTo>
                    <a:pt x="404570" y="0"/>
                    <a:pt x="422766" y="18196"/>
                    <a:pt x="422766" y="40642"/>
                  </a:cubicBezTo>
                  <a:lnTo>
                    <a:pt x="422766" y="40642"/>
                  </a:lnTo>
                  <a:cubicBezTo>
                    <a:pt x="422766" y="51421"/>
                    <a:pt x="418484" y="61758"/>
                    <a:pt x="410862" y="69380"/>
                  </a:cubicBezTo>
                  <a:cubicBezTo>
                    <a:pt x="403240" y="77002"/>
                    <a:pt x="392903" y="81284"/>
                    <a:pt x="382124" y="81284"/>
                  </a:cubicBezTo>
                  <a:lnTo>
                    <a:pt x="40642" y="81284"/>
                  </a:lnTo>
                  <a:cubicBezTo>
                    <a:pt x="18196" y="81284"/>
                    <a:pt x="0" y="63088"/>
                    <a:pt x="0" y="40642"/>
                  </a:cubicBezTo>
                  <a:lnTo>
                    <a:pt x="0" y="40642"/>
                  </a:lnTo>
                  <a:cubicBezTo>
                    <a:pt x="0" y="18196"/>
                    <a:pt x="18196" y="0"/>
                    <a:pt x="40642" y="0"/>
                  </a:cubicBezTo>
                  <a:close/>
                </a:path>
              </a:pathLst>
            </a:custGeom>
            <a:solidFill>
              <a:srgbClr val="D3E8B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422766" cy="1003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930968" y="7045031"/>
            <a:ext cx="1389186" cy="285264"/>
            <a:chOff x="0" y="0"/>
            <a:chExt cx="365876" cy="7513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65876" cy="75131"/>
            </a:xfrm>
            <a:custGeom>
              <a:avLst/>
              <a:gdLst/>
              <a:ahLst/>
              <a:cxnLst/>
              <a:rect l="l" t="t" r="r" b="b"/>
              <a:pathLst>
                <a:path w="365876" h="75131">
                  <a:moveTo>
                    <a:pt x="37566" y="0"/>
                  </a:moveTo>
                  <a:lnTo>
                    <a:pt x="328311" y="0"/>
                  </a:lnTo>
                  <a:cubicBezTo>
                    <a:pt x="338274" y="0"/>
                    <a:pt x="347829" y="3958"/>
                    <a:pt x="354874" y="11003"/>
                  </a:cubicBezTo>
                  <a:cubicBezTo>
                    <a:pt x="361918" y="18048"/>
                    <a:pt x="365876" y="27603"/>
                    <a:pt x="365876" y="37566"/>
                  </a:cubicBezTo>
                  <a:lnTo>
                    <a:pt x="365876" y="37566"/>
                  </a:lnTo>
                  <a:cubicBezTo>
                    <a:pt x="365876" y="47529"/>
                    <a:pt x="361918" y="57084"/>
                    <a:pt x="354874" y="64129"/>
                  </a:cubicBezTo>
                  <a:cubicBezTo>
                    <a:pt x="347829" y="71173"/>
                    <a:pt x="338274" y="75131"/>
                    <a:pt x="328311" y="75131"/>
                  </a:cubicBezTo>
                  <a:lnTo>
                    <a:pt x="37566" y="75131"/>
                  </a:lnTo>
                  <a:cubicBezTo>
                    <a:pt x="27603" y="75131"/>
                    <a:pt x="18048" y="71173"/>
                    <a:pt x="11003" y="64129"/>
                  </a:cubicBezTo>
                  <a:cubicBezTo>
                    <a:pt x="3958" y="57084"/>
                    <a:pt x="0" y="47529"/>
                    <a:pt x="0" y="37566"/>
                  </a:cubicBezTo>
                  <a:lnTo>
                    <a:pt x="0" y="37566"/>
                  </a:lnTo>
                  <a:cubicBezTo>
                    <a:pt x="0" y="27603"/>
                    <a:pt x="3958" y="18048"/>
                    <a:pt x="11003" y="11003"/>
                  </a:cubicBezTo>
                  <a:cubicBezTo>
                    <a:pt x="18048" y="3958"/>
                    <a:pt x="27603" y="0"/>
                    <a:pt x="37566" y="0"/>
                  </a:cubicBezTo>
                  <a:close/>
                </a:path>
              </a:pathLst>
            </a:custGeom>
            <a:solidFill>
              <a:srgbClr val="D3E8B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365876" cy="94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8880783" y="7320770"/>
            <a:ext cx="4427934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Most tools don't allow scenario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simulation or back-testing</a:t>
            </a:r>
            <a:r>
              <a:rPr lang="en-US" sz="2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342150" y="4951812"/>
            <a:ext cx="3951865" cy="3002434"/>
            <a:chOff x="0" y="0"/>
            <a:chExt cx="1040820" cy="79076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40820" cy="790765"/>
            </a:xfrm>
            <a:custGeom>
              <a:avLst/>
              <a:gdLst/>
              <a:ahLst/>
              <a:cxnLst/>
              <a:rect l="l" t="t" r="r" b="b"/>
              <a:pathLst>
                <a:path w="1040820" h="790765">
                  <a:moveTo>
                    <a:pt x="33304" y="0"/>
                  </a:moveTo>
                  <a:lnTo>
                    <a:pt x="1007517" y="0"/>
                  </a:lnTo>
                  <a:cubicBezTo>
                    <a:pt x="1025910" y="0"/>
                    <a:pt x="1040820" y="14911"/>
                    <a:pt x="1040820" y="33304"/>
                  </a:cubicBezTo>
                  <a:lnTo>
                    <a:pt x="1040820" y="757461"/>
                  </a:lnTo>
                  <a:cubicBezTo>
                    <a:pt x="1040820" y="775854"/>
                    <a:pt x="1025910" y="790765"/>
                    <a:pt x="1007517" y="790765"/>
                  </a:cubicBezTo>
                  <a:lnTo>
                    <a:pt x="33304" y="790765"/>
                  </a:lnTo>
                  <a:cubicBezTo>
                    <a:pt x="14911" y="790765"/>
                    <a:pt x="0" y="775854"/>
                    <a:pt x="0" y="757461"/>
                  </a:cubicBezTo>
                  <a:lnTo>
                    <a:pt x="0" y="33304"/>
                  </a:lnTo>
                  <a:cubicBezTo>
                    <a:pt x="0" y="14911"/>
                    <a:pt x="14911" y="0"/>
                    <a:pt x="3330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1040820" cy="809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13708" y="5077604"/>
            <a:ext cx="633517" cy="548640"/>
            <a:chOff x="0" y="0"/>
            <a:chExt cx="844690" cy="731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44677" cy="731520"/>
            </a:xfrm>
            <a:custGeom>
              <a:avLst/>
              <a:gdLst/>
              <a:ahLst/>
              <a:cxnLst/>
              <a:rect l="l" t="t" r="r" b="b"/>
              <a:pathLst>
                <a:path w="844677" h="731520">
                  <a:moveTo>
                    <a:pt x="0" y="365760"/>
                  </a:moveTo>
                  <a:lnTo>
                    <a:pt x="182880" y="0"/>
                  </a:lnTo>
                  <a:lnTo>
                    <a:pt x="661797" y="0"/>
                  </a:lnTo>
                  <a:lnTo>
                    <a:pt x="844677" y="365760"/>
                  </a:lnTo>
                  <a:lnTo>
                    <a:pt x="661797" y="731520"/>
                  </a:lnTo>
                  <a:lnTo>
                    <a:pt x="182880" y="731520"/>
                  </a:lnTo>
                  <a:close/>
                </a:path>
              </a:pathLst>
            </a:custGeom>
            <a:solidFill>
              <a:srgbClr val="7AC143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844690" cy="75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89088" y="5801504"/>
            <a:ext cx="1605189" cy="308625"/>
            <a:chOff x="0" y="0"/>
            <a:chExt cx="422766" cy="8128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22766" cy="81284"/>
            </a:xfrm>
            <a:custGeom>
              <a:avLst/>
              <a:gdLst/>
              <a:ahLst/>
              <a:cxnLst/>
              <a:rect l="l" t="t" r="r" b="b"/>
              <a:pathLst>
                <a:path w="422766" h="81284">
                  <a:moveTo>
                    <a:pt x="40642" y="0"/>
                  </a:moveTo>
                  <a:lnTo>
                    <a:pt x="382124" y="0"/>
                  </a:lnTo>
                  <a:cubicBezTo>
                    <a:pt x="404570" y="0"/>
                    <a:pt x="422766" y="18196"/>
                    <a:pt x="422766" y="40642"/>
                  </a:cubicBezTo>
                  <a:lnTo>
                    <a:pt x="422766" y="40642"/>
                  </a:lnTo>
                  <a:cubicBezTo>
                    <a:pt x="422766" y="51421"/>
                    <a:pt x="418484" y="61758"/>
                    <a:pt x="410862" y="69380"/>
                  </a:cubicBezTo>
                  <a:cubicBezTo>
                    <a:pt x="403240" y="77002"/>
                    <a:pt x="392903" y="81284"/>
                    <a:pt x="382124" y="81284"/>
                  </a:cubicBezTo>
                  <a:lnTo>
                    <a:pt x="40642" y="81284"/>
                  </a:lnTo>
                  <a:cubicBezTo>
                    <a:pt x="18196" y="81284"/>
                    <a:pt x="0" y="63088"/>
                    <a:pt x="0" y="40642"/>
                  </a:cubicBezTo>
                  <a:lnTo>
                    <a:pt x="0" y="40642"/>
                  </a:lnTo>
                  <a:cubicBezTo>
                    <a:pt x="0" y="18196"/>
                    <a:pt x="18196" y="0"/>
                    <a:pt x="40642" y="0"/>
                  </a:cubicBezTo>
                  <a:close/>
                </a:path>
              </a:pathLst>
            </a:custGeom>
            <a:solidFill>
              <a:srgbClr val="D3E8B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422766" cy="1003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36320" y="6891179"/>
            <a:ext cx="1389186" cy="285264"/>
            <a:chOff x="0" y="0"/>
            <a:chExt cx="365876" cy="7513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65876" cy="75131"/>
            </a:xfrm>
            <a:custGeom>
              <a:avLst/>
              <a:gdLst/>
              <a:ahLst/>
              <a:cxnLst/>
              <a:rect l="l" t="t" r="r" b="b"/>
              <a:pathLst>
                <a:path w="365876" h="75131">
                  <a:moveTo>
                    <a:pt x="37566" y="0"/>
                  </a:moveTo>
                  <a:lnTo>
                    <a:pt x="328311" y="0"/>
                  </a:lnTo>
                  <a:cubicBezTo>
                    <a:pt x="338274" y="0"/>
                    <a:pt x="347829" y="3958"/>
                    <a:pt x="354874" y="11003"/>
                  </a:cubicBezTo>
                  <a:cubicBezTo>
                    <a:pt x="361918" y="18048"/>
                    <a:pt x="365876" y="27603"/>
                    <a:pt x="365876" y="37566"/>
                  </a:cubicBezTo>
                  <a:lnTo>
                    <a:pt x="365876" y="37566"/>
                  </a:lnTo>
                  <a:cubicBezTo>
                    <a:pt x="365876" y="47529"/>
                    <a:pt x="361918" y="57084"/>
                    <a:pt x="354874" y="64129"/>
                  </a:cubicBezTo>
                  <a:cubicBezTo>
                    <a:pt x="347829" y="71173"/>
                    <a:pt x="338274" y="75131"/>
                    <a:pt x="328311" y="75131"/>
                  </a:cubicBezTo>
                  <a:lnTo>
                    <a:pt x="37566" y="75131"/>
                  </a:lnTo>
                  <a:cubicBezTo>
                    <a:pt x="27603" y="75131"/>
                    <a:pt x="18048" y="71173"/>
                    <a:pt x="11003" y="64129"/>
                  </a:cubicBezTo>
                  <a:cubicBezTo>
                    <a:pt x="3958" y="57084"/>
                    <a:pt x="0" y="47529"/>
                    <a:pt x="0" y="37566"/>
                  </a:cubicBezTo>
                  <a:lnTo>
                    <a:pt x="0" y="37566"/>
                  </a:lnTo>
                  <a:cubicBezTo>
                    <a:pt x="0" y="27603"/>
                    <a:pt x="3958" y="18048"/>
                    <a:pt x="11003" y="11003"/>
                  </a:cubicBezTo>
                  <a:cubicBezTo>
                    <a:pt x="18048" y="3958"/>
                    <a:pt x="27603" y="0"/>
                    <a:pt x="37566" y="0"/>
                  </a:cubicBezTo>
                  <a:close/>
                </a:path>
              </a:pathLst>
            </a:custGeom>
            <a:solidFill>
              <a:srgbClr val="D3E8B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365876" cy="94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216303" y="5018549"/>
            <a:ext cx="3075648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Forecasts are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unreliable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36320" y="6138704"/>
            <a:ext cx="4080087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Predictions often don't match real market movements.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36320" y="7243604"/>
            <a:ext cx="4405016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Tools use limited data and ignore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local variations.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4522722" y="1757395"/>
            <a:ext cx="4054043" cy="3040561"/>
            <a:chOff x="0" y="0"/>
            <a:chExt cx="1067732" cy="80080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67732" cy="800806"/>
            </a:xfrm>
            <a:custGeom>
              <a:avLst/>
              <a:gdLst/>
              <a:ahLst/>
              <a:cxnLst/>
              <a:rect l="l" t="t" r="r" b="b"/>
              <a:pathLst>
                <a:path w="1067732" h="800806">
                  <a:moveTo>
                    <a:pt x="32465" y="0"/>
                  </a:moveTo>
                  <a:lnTo>
                    <a:pt x="1035267" y="0"/>
                  </a:lnTo>
                  <a:cubicBezTo>
                    <a:pt x="1043877" y="0"/>
                    <a:pt x="1052135" y="3420"/>
                    <a:pt x="1058223" y="9509"/>
                  </a:cubicBezTo>
                  <a:cubicBezTo>
                    <a:pt x="1064311" y="15597"/>
                    <a:pt x="1067732" y="23854"/>
                    <a:pt x="1067732" y="32465"/>
                  </a:cubicBezTo>
                  <a:lnTo>
                    <a:pt x="1067732" y="768342"/>
                  </a:lnTo>
                  <a:cubicBezTo>
                    <a:pt x="1067732" y="786271"/>
                    <a:pt x="1053197" y="800806"/>
                    <a:pt x="1035267" y="800806"/>
                  </a:cubicBezTo>
                  <a:lnTo>
                    <a:pt x="32465" y="800806"/>
                  </a:lnTo>
                  <a:cubicBezTo>
                    <a:pt x="23854" y="800806"/>
                    <a:pt x="15597" y="797386"/>
                    <a:pt x="9509" y="791297"/>
                  </a:cubicBezTo>
                  <a:cubicBezTo>
                    <a:pt x="3420" y="785209"/>
                    <a:pt x="0" y="776952"/>
                    <a:pt x="0" y="768342"/>
                  </a:cubicBezTo>
                  <a:lnTo>
                    <a:pt x="0" y="32465"/>
                  </a:lnTo>
                  <a:cubicBezTo>
                    <a:pt x="0" y="23854"/>
                    <a:pt x="3420" y="15597"/>
                    <a:pt x="9509" y="9509"/>
                  </a:cubicBezTo>
                  <a:cubicBezTo>
                    <a:pt x="15597" y="3420"/>
                    <a:pt x="23854" y="0"/>
                    <a:pt x="3246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1067732" cy="819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698188" y="1873000"/>
            <a:ext cx="633517" cy="548640"/>
            <a:chOff x="0" y="0"/>
            <a:chExt cx="844690" cy="73152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44677" cy="731520"/>
            </a:xfrm>
            <a:custGeom>
              <a:avLst/>
              <a:gdLst/>
              <a:ahLst/>
              <a:cxnLst/>
              <a:rect l="l" t="t" r="r" b="b"/>
              <a:pathLst>
                <a:path w="844677" h="731520">
                  <a:moveTo>
                    <a:pt x="0" y="365760"/>
                  </a:moveTo>
                  <a:lnTo>
                    <a:pt x="182880" y="0"/>
                  </a:lnTo>
                  <a:lnTo>
                    <a:pt x="661797" y="0"/>
                  </a:lnTo>
                  <a:lnTo>
                    <a:pt x="844677" y="365760"/>
                  </a:lnTo>
                  <a:lnTo>
                    <a:pt x="661797" y="731520"/>
                  </a:lnTo>
                  <a:lnTo>
                    <a:pt x="182880" y="731520"/>
                  </a:lnTo>
                  <a:close/>
                </a:path>
              </a:pathLst>
            </a:custGeom>
            <a:solidFill>
              <a:srgbClr val="7AC143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844690" cy="75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760918" y="2757036"/>
            <a:ext cx="1605189" cy="308625"/>
            <a:chOff x="0" y="0"/>
            <a:chExt cx="422766" cy="8128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22766" cy="81284"/>
            </a:xfrm>
            <a:custGeom>
              <a:avLst/>
              <a:gdLst/>
              <a:ahLst/>
              <a:cxnLst/>
              <a:rect l="l" t="t" r="r" b="b"/>
              <a:pathLst>
                <a:path w="422766" h="81284">
                  <a:moveTo>
                    <a:pt x="40642" y="0"/>
                  </a:moveTo>
                  <a:lnTo>
                    <a:pt x="382124" y="0"/>
                  </a:lnTo>
                  <a:cubicBezTo>
                    <a:pt x="404570" y="0"/>
                    <a:pt x="422766" y="18196"/>
                    <a:pt x="422766" y="40642"/>
                  </a:cubicBezTo>
                  <a:lnTo>
                    <a:pt x="422766" y="40642"/>
                  </a:lnTo>
                  <a:cubicBezTo>
                    <a:pt x="422766" y="51421"/>
                    <a:pt x="418484" y="61758"/>
                    <a:pt x="410862" y="69380"/>
                  </a:cubicBezTo>
                  <a:cubicBezTo>
                    <a:pt x="403240" y="77002"/>
                    <a:pt x="392903" y="81284"/>
                    <a:pt x="382124" y="81284"/>
                  </a:cubicBezTo>
                  <a:lnTo>
                    <a:pt x="40642" y="81284"/>
                  </a:lnTo>
                  <a:cubicBezTo>
                    <a:pt x="18196" y="81284"/>
                    <a:pt x="0" y="63088"/>
                    <a:pt x="0" y="40642"/>
                  </a:cubicBezTo>
                  <a:lnTo>
                    <a:pt x="0" y="40642"/>
                  </a:lnTo>
                  <a:cubicBezTo>
                    <a:pt x="0" y="18196"/>
                    <a:pt x="18196" y="0"/>
                    <a:pt x="40642" y="0"/>
                  </a:cubicBezTo>
                  <a:close/>
                </a:path>
              </a:pathLst>
            </a:custGeom>
            <a:solidFill>
              <a:srgbClr val="D3E8B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422766" cy="1003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739226" y="3788126"/>
            <a:ext cx="1389186" cy="285264"/>
            <a:chOff x="0" y="0"/>
            <a:chExt cx="365876" cy="75131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65876" cy="75131"/>
            </a:xfrm>
            <a:custGeom>
              <a:avLst/>
              <a:gdLst/>
              <a:ahLst/>
              <a:cxnLst/>
              <a:rect l="l" t="t" r="r" b="b"/>
              <a:pathLst>
                <a:path w="365876" h="75131">
                  <a:moveTo>
                    <a:pt x="37566" y="0"/>
                  </a:moveTo>
                  <a:lnTo>
                    <a:pt x="328311" y="0"/>
                  </a:lnTo>
                  <a:cubicBezTo>
                    <a:pt x="338274" y="0"/>
                    <a:pt x="347829" y="3958"/>
                    <a:pt x="354874" y="11003"/>
                  </a:cubicBezTo>
                  <a:cubicBezTo>
                    <a:pt x="361918" y="18048"/>
                    <a:pt x="365876" y="27603"/>
                    <a:pt x="365876" y="37566"/>
                  </a:cubicBezTo>
                  <a:lnTo>
                    <a:pt x="365876" y="37566"/>
                  </a:lnTo>
                  <a:cubicBezTo>
                    <a:pt x="365876" y="47529"/>
                    <a:pt x="361918" y="57084"/>
                    <a:pt x="354874" y="64129"/>
                  </a:cubicBezTo>
                  <a:cubicBezTo>
                    <a:pt x="347829" y="71173"/>
                    <a:pt x="338274" y="75131"/>
                    <a:pt x="328311" y="75131"/>
                  </a:cubicBezTo>
                  <a:lnTo>
                    <a:pt x="37566" y="75131"/>
                  </a:lnTo>
                  <a:cubicBezTo>
                    <a:pt x="27603" y="75131"/>
                    <a:pt x="18048" y="71173"/>
                    <a:pt x="11003" y="64129"/>
                  </a:cubicBezTo>
                  <a:cubicBezTo>
                    <a:pt x="3958" y="57084"/>
                    <a:pt x="0" y="47529"/>
                    <a:pt x="0" y="37566"/>
                  </a:cubicBezTo>
                  <a:lnTo>
                    <a:pt x="0" y="37566"/>
                  </a:lnTo>
                  <a:cubicBezTo>
                    <a:pt x="0" y="27603"/>
                    <a:pt x="3958" y="18048"/>
                    <a:pt x="11003" y="11003"/>
                  </a:cubicBezTo>
                  <a:cubicBezTo>
                    <a:pt x="18048" y="3958"/>
                    <a:pt x="27603" y="0"/>
                    <a:pt x="37566" y="0"/>
                  </a:cubicBezTo>
                  <a:close/>
                </a:path>
              </a:pathLst>
            </a:custGeom>
            <a:solidFill>
              <a:srgbClr val="D3E8B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365876" cy="94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4577125" y="3770780"/>
            <a:ext cx="1646976" cy="28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4"/>
              </a:lnSpc>
            </a:pPr>
            <a:r>
              <a:rPr lang="en-US" sz="1653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Root cause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410669" y="1853950"/>
            <a:ext cx="3155461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Hidden costs reduce  actual earnings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760918" y="3151386"/>
            <a:ext cx="3805212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1"/>
              </a:lnSpc>
              <a:spcBef>
                <a:spcPct val="0"/>
              </a:spcBef>
            </a:pPr>
            <a:r>
              <a:rPr lang="en-US" sz="195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Transport, market charges, spoilage</a:t>
            </a:r>
          </a:p>
          <a:p>
            <a:pPr algn="l">
              <a:lnSpc>
                <a:spcPts val="2351"/>
              </a:lnSpc>
              <a:spcBef>
                <a:spcPct val="0"/>
              </a:spcBef>
            </a:pPr>
            <a:r>
              <a:rPr lang="en-US" sz="195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and handling costs eat into profits.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4425738" y="4987523"/>
            <a:ext cx="4079979" cy="3035358"/>
            <a:chOff x="0" y="0"/>
            <a:chExt cx="1074562" cy="79943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074562" cy="799436"/>
            </a:xfrm>
            <a:custGeom>
              <a:avLst/>
              <a:gdLst/>
              <a:ahLst/>
              <a:cxnLst/>
              <a:rect l="l" t="t" r="r" b="b"/>
              <a:pathLst>
                <a:path w="1074562" h="799436">
                  <a:moveTo>
                    <a:pt x="32258" y="0"/>
                  </a:moveTo>
                  <a:lnTo>
                    <a:pt x="1042304" y="0"/>
                  </a:lnTo>
                  <a:cubicBezTo>
                    <a:pt x="1060120" y="0"/>
                    <a:pt x="1074562" y="14442"/>
                    <a:pt x="1074562" y="32258"/>
                  </a:cubicBezTo>
                  <a:lnTo>
                    <a:pt x="1074562" y="767178"/>
                  </a:lnTo>
                  <a:cubicBezTo>
                    <a:pt x="1074562" y="784993"/>
                    <a:pt x="1060120" y="799436"/>
                    <a:pt x="1042304" y="799436"/>
                  </a:cubicBezTo>
                  <a:lnTo>
                    <a:pt x="32258" y="799436"/>
                  </a:lnTo>
                  <a:cubicBezTo>
                    <a:pt x="14442" y="799436"/>
                    <a:pt x="0" y="784993"/>
                    <a:pt x="0" y="767178"/>
                  </a:cubicBezTo>
                  <a:lnTo>
                    <a:pt x="0" y="32258"/>
                  </a:lnTo>
                  <a:cubicBezTo>
                    <a:pt x="0" y="14442"/>
                    <a:pt x="14442" y="0"/>
                    <a:pt x="322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1074562" cy="8184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571986" y="5067533"/>
            <a:ext cx="633517" cy="548640"/>
            <a:chOff x="0" y="0"/>
            <a:chExt cx="844690" cy="7315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44677" cy="731520"/>
            </a:xfrm>
            <a:custGeom>
              <a:avLst/>
              <a:gdLst/>
              <a:ahLst/>
              <a:cxnLst/>
              <a:rect l="l" t="t" r="r" b="b"/>
              <a:pathLst>
                <a:path w="844677" h="731520">
                  <a:moveTo>
                    <a:pt x="0" y="365760"/>
                  </a:moveTo>
                  <a:lnTo>
                    <a:pt x="182880" y="0"/>
                  </a:lnTo>
                  <a:lnTo>
                    <a:pt x="661797" y="0"/>
                  </a:lnTo>
                  <a:lnTo>
                    <a:pt x="844677" y="365760"/>
                  </a:lnTo>
                  <a:lnTo>
                    <a:pt x="661797" y="731520"/>
                  </a:lnTo>
                  <a:lnTo>
                    <a:pt x="182880" y="731520"/>
                  </a:lnTo>
                  <a:close/>
                </a:path>
              </a:pathLst>
            </a:custGeom>
            <a:solidFill>
              <a:srgbClr val="7AC143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844690" cy="75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618913" y="5787623"/>
            <a:ext cx="1605189" cy="308625"/>
            <a:chOff x="0" y="0"/>
            <a:chExt cx="422766" cy="8128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22766" cy="81284"/>
            </a:xfrm>
            <a:custGeom>
              <a:avLst/>
              <a:gdLst/>
              <a:ahLst/>
              <a:cxnLst/>
              <a:rect l="l" t="t" r="r" b="b"/>
              <a:pathLst>
                <a:path w="422766" h="81284">
                  <a:moveTo>
                    <a:pt x="40642" y="0"/>
                  </a:moveTo>
                  <a:lnTo>
                    <a:pt x="382124" y="0"/>
                  </a:lnTo>
                  <a:cubicBezTo>
                    <a:pt x="404570" y="0"/>
                    <a:pt x="422766" y="18196"/>
                    <a:pt x="422766" y="40642"/>
                  </a:cubicBezTo>
                  <a:lnTo>
                    <a:pt x="422766" y="40642"/>
                  </a:lnTo>
                  <a:cubicBezTo>
                    <a:pt x="422766" y="51421"/>
                    <a:pt x="418484" y="61758"/>
                    <a:pt x="410862" y="69380"/>
                  </a:cubicBezTo>
                  <a:cubicBezTo>
                    <a:pt x="403240" y="77002"/>
                    <a:pt x="392903" y="81284"/>
                    <a:pt x="382124" y="81284"/>
                  </a:cubicBezTo>
                  <a:lnTo>
                    <a:pt x="40642" y="81284"/>
                  </a:lnTo>
                  <a:cubicBezTo>
                    <a:pt x="18196" y="81284"/>
                    <a:pt x="0" y="63088"/>
                    <a:pt x="0" y="40642"/>
                  </a:cubicBezTo>
                  <a:lnTo>
                    <a:pt x="0" y="40642"/>
                  </a:lnTo>
                  <a:cubicBezTo>
                    <a:pt x="0" y="18196"/>
                    <a:pt x="18196" y="0"/>
                    <a:pt x="40642" y="0"/>
                  </a:cubicBezTo>
                  <a:close/>
                </a:path>
              </a:pathLst>
            </a:custGeom>
            <a:solidFill>
              <a:srgbClr val="D3E8B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422766" cy="1003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4618913" y="6879836"/>
            <a:ext cx="1389186" cy="285264"/>
            <a:chOff x="0" y="0"/>
            <a:chExt cx="365876" cy="75131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365876" cy="75131"/>
            </a:xfrm>
            <a:custGeom>
              <a:avLst/>
              <a:gdLst/>
              <a:ahLst/>
              <a:cxnLst/>
              <a:rect l="l" t="t" r="r" b="b"/>
              <a:pathLst>
                <a:path w="365876" h="75131">
                  <a:moveTo>
                    <a:pt x="37566" y="0"/>
                  </a:moveTo>
                  <a:lnTo>
                    <a:pt x="328311" y="0"/>
                  </a:lnTo>
                  <a:cubicBezTo>
                    <a:pt x="338274" y="0"/>
                    <a:pt x="347829" y="3958"/>
                    <a:pt x="354874" y="11003"/>
                  </a:cubicBezTo>
                  <a:cubicBezTo>
                    <a:pt x="361918" y="18048"/>
                    <a:pt x="365876" y="27603"/>
                    <a:pt x="365876" y="37566"/>
                  </a:cubicBezTo>
                  <a:lnTo>
                    <a:pt x="365876" y="37566"/>
                  </a:lnTo>
                  <a:cubicBezTo>
                    <a:pt x="365876" y="47529"/>
                    <a:pt x="361918" y="57084"/>
                    <a:pt x="354874" y="64129"/>
                  </a:cubicBezTo>
                  <a:cubicBezTo>
                    <a:pt x="347829" y="71173"/>
                    <a:pt x="338274" y="75131"/>
                    <a:pt x="328311" y="75131"/>
                  </a:cubicBezTo>
                  <a:lnTo>
                    <a:pt x="37566" y="75131"/>
                  </a:lnTo>
                  <a:cubicBezTo>
                    <a:pt x="27603" y="75131"/>
                    <a:pt x="18048" y="71173"/>
                    <a:pt x="11003" y="64129"/>
                  </a:cubicBezTo>
                  <a:cubicBezTo>
                    <a:pt x="3958" y="57084"/>
                    <a:pt x="0" y="47529"/>
                    <a:pt x="0" y="37566"/>
                  </a:cubicBezTo>
                  <a:lnTo>
                    <a:pt x="0" y="37566"/>
                  </a:lnTo>
                  <a:cubicBezTo>
                    <a:pt x="0" y="27603"/>
                    <a:pt x="3958" y="18048"/>
                    <a:pt x="11003" y="11003"/>
                  </a:cubicBezTo>
                  <a:cubicBezTo>
                    <a:pt x="18048" y="3958"/>
                    <a:pt x="27603" y="0"/>
                    <a:pt x="37566" y="0"/>
                  </a:cubicBezTo>
                  <a:close/>
                </a:path>
              </a:pathLst>
            </a:custGeom>
            <a:solidFill>
              <a:srgbClr val="D3E8B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365876" cy="94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729166" y="1757395"/>
            <a:ext cx="4307117" cy="3058735"/>
            <a:chOff x="0" y="0"/>
            <a:chExt cx="1134385" cy="805593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134385" cy="805593"/>
            </a:xfrm>
            <a:custGeom>
              <a:avLst/>
              <a:gdLst/>
              <a:ahLst/>
              <a:cxnLst/>
              <a:rect l="l" t="t" r="r" b="b"/>
              <a:pathLst>
                <a:path w="1134385" h="805593">
                  <a:moveTo>
                    <a:pt x="30557" y="0"/>
                  </a:moveTo>
                  <a:lnTo>
                    <a:pt x="1103828" y="0"/>
                  </a:lnTo>
                  <a:cubicBezTo>
                    <a:pt x="1111932" y="0"/>
                    <a:pt x="1119704" y="3219"/>
                    <a:pt x="1125435" y="8950"/>
                  </a:cubicBezTo>
                  <a:cubicBezTo>
                    <a:pt x="1131165" y="14680"/>
                    <a:pt x="1134385" y="22453"/>
                    <a:pt x="1134385" y="30557"/>
                  </a:cubicBezTo>
                  <a:lnTo>
                    <a:pt x="1134385" y="775036"/>
                  </a:lnTo>
                  <a:cubicBezTo>
                    <a:pt x="1134385" y="783140"/>
                    <a:pt x="1131165" y="790912"/>
                    <a:pt x="1125435" y="796643"/>
                  </a:cubicBezTo>
                  <a:cubicBezTo>
                    <a:pt x="1119704" y="802373"/>
                    <a:pt x="1111932" y="805593"/>
                    <a:pt x="1103828" y="805593"/>
                  </a:cubicBezTo>
                  <a:lnTo>
                    <a:pt x="30557" y="805593"/>
                  </a:lnTo>
                  <a:cubicBezTo>
                    <a:pt x="13681" y="805593"/>
                    <a:pt x="0" y="791912"/>
                    <a:pt x="0" y="775036"/>
                  </a:cubicBezTo>
                  <a:lnTo>
                    <a:pt x="0" y="30557"/>
                  </a:lnTo>
                  <a:cubicBezTo>
                    <a:pt x="0" y="22453"/>
                    <a:pt x="3219" y="14680"/>
                    <a:pt x="8950" y="8950"/>
                  </a:cubicBezTo>
                  <a:cubicBezTo>
                    <a:pt x="14680" y="3219"/>
                    <a:pt x="22453" y="0"/>
                    <a:pt x="3055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1134385" cy="824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868247" y="1987594"/>
            <a:ext cx="633517" cy="548640"/>
            <a:chOff x="0" y="0"/>
            <a:chExt cx="844690" cy="73152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44677" cy="731520"/>
            </a:xfrm>
            <a:custGeom>
              <a:avLst/>
              <a:gdLst/>
              <a:ahLst/>
              <a:cxnLst/>
              <a:rect l="l" t="t" r="r" b="b"/>
              <a:pathLst>
                <a:path w="844677" h="731520">
                  <a:moveTo>
                    <a:pt x="0" y="365760"/>
                  </a:moveTo>
                  <a:lnTo>
                    <a:pt x="182880" y="0"/>
                  </a:lnTo>
                  <a:lnTo>
                    <a:pt x="661797" y="0"/>
                  </a:lnTo>
                  <a:lnTo>
                    <a:pt x="844677" y="365760"/>
                  </a:lnTo>
                  <a:lnTo>
                    <a:pt x="661797" y="731520"/>
                  </a:lnTo>
                  <a:lnTo>
                    <a:pt x="182880" y="731520"/>
                  </a:lnTo>
                  <a:close/>
                </a:path>
              </a:pathLst>
            </a:custGeom>
            <a:solidFill>
              <a:srgbClr val="7AC143"/>
            </a:solidFill>
          </p:spPr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844690" cy="75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948241" y="2796574"/>
            <a:ext cx="1605189" cy="308625"/>
            <a:chOff x="0" y="0"/>
            <a:chExt cx="422766" cy="8128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22766" cy="81284"/>
            </a:xfrm>
            <a:custGeom>
              <a:avLst/>
              <a:gdLst/>
              <a:ahLst/>
              <a:cxnLst/>
              <a:rect l="l" t="t" r="r" b="b"/>
              <a:pathLst>
                <a:path w="422766" h="81284">
                  <a:moveTo>
                    <a:pt x="40642" y="0"/>
                  </a:moveTo>
                  <a:lnTo>
                    <a:pt x="382124" y="0"/>
                  </a:lnTo>
                  <a:cubicBezTo>
                    <a:pt x="404570" y="0"/>
                    <a:pt x="422766" y="18196"/>
                    <a:pt x="422766" y="40642"/>
                  </a:cubicBezTo>
                  <a:lnTo>
                    <a:pt x="422766" y="40642"/>
                  </a:lnTo>
                  <a:cubicBezTo>
                    <a:pt x="422766" y="51421"/>
                    <a:pt x="418484" y="61758"/>
                    <a:pt x="410862" y="69380"/>
                  </a:cubicBezTo>
                  <a:cubicBezTo>
                    <a:pt x="403240" y="77002"/>
                    <a:pt x="392903" y="81284"/>
                    <a:pt x="382124" y="81284"/>
                  </a:cubicBezTo>
                  <a:lnTo>
                    <a:pt x="40642" y="81284"/>
                  </a:lnTo>
                  <a:cubicBezTo>
                    <a:pt x="18196" y="81284"/>
                    <a:pt x="0" y="63088"/>
                    <a:pt x="0" y="40642"/>
                  </a:cubicBezTo>
                  <a:lnTo>
                    <a:pt x="0" y="40642"/>
                  </a:lnTo>
                  <a:cubicBezTo>
                    <a:pt x="0" y="18196"/>
                    <a:pt x="18196" y="0"/>
                    <a:pt x="40642" y="0"/>
                  </a:cubicBezTo>
                  <a:close/>
                </a:path>
              </a:pathLst>
            </a:custGeom>
            <a:solidFill>
              <a:srgbClr val="D3E8B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422766" cy="1003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8945168" y="3839345"/>
            <a:ext cx="1389186" cy="285264"/>
            <a:chOff x="0" y="0"/>
            <a:chExt cx="365876" cy="75131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365876" cy="75131"/>
            </a:xfrm>
            <a:custGeom>
              <a:avLst/>
              <a:gdLst/>
              <a:ahLst/>
              <a:cxnLst/>
              <a:rect l="l" t="t" r="r" b="b"/>
              <a:pathLst>
                <a:path w="365876" h="75131">
                  <a:moveTo>
                    <a:pt x="37566" y="0"/>
                  </a:moveTo>
                  <a:lnTo>
                    <a:pt x="328311" y="0"/>
                  </a:lnTo>
                  <a:cubicBezTo>
                    <a:pt x="338274" y="0"/>
                    <a:pt x="347829" y="3958"/>
                    <a:pt x="354874" y="11003"/>
                  </a:cubicBezTo>
                  <a:cubicBezTo>
                    <a:pt x="361918" y="18048"/>
                    <a:pt x="365876" y="27603"/>
                    <a:pt x="365876" y="37566"/>
                  </a:cubicBezTo>
                  <a:lnTo>
                    <a:pt x="365876" y="37566"/>
                  </a:lnTo>
                  <a:cubicBezTo>
                    <a:pt x="365876" y="47529"/>
                    <a:pt x="361918" y="57084"/>
                    <a:pt x="354874" y="64129"/>
                  </a:cubicBezTo>
                  <a:cubicBezTo>
                    <a:pt x="347829" y="71173"/>
                    <a:pt x="338274" y="75131"/>
                    <a:pt x="328311" y="75131"/>
                  </a:cubicBezTo>
                  <a:lnTo>
                    <a:pt x="37566" y="75131"/>
                  </a:lnTo>
                  <a:cubicBezTo>
                    <a:pt x="27603" y="75131"/>
                    <a:pt x="18048" y="71173"/>
                    <a:pt x="11003" y="64129"/>
                  </a:cubicBezTo>
                  <a:cubicBezTo>
                    <a:pt x="3958" y="57084"/>
                    <a:pt x="0" y="47529"/>
                    <a:pt x="0" y="37566"/>
                  </a:cubicBezTo>
                  <a:lnTo>
                    <a:pt x="0" y="37566"/>
                  </a:lnTo>
                  <a:cubicBezTo>
                    <a:pt x="0" y="27603"/>
                    <a:pt x="3958" y="18048"/>
                    <a:pt x="11003" y="11003"/>
                  </a:cubicBezTo>
                  <a:cubicBezTo>
                    <a:pt x="18048" y="3958"/>
                    <a:pt x="27603" y="0"/>
                    <a:pt x="37566" y="0"/>
                  </a:cubicBezTo>
                  <a:close/>
                </a:path>
              </a:pathLst>
            </a:custGeom>
            <a:solidFill>
              <a:srgbClr val="D3E8B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0" y="-19050"/>
              <a:ext cx="365876" cy="94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9639762" y="1967791"/>
            <a:ext cx="2878334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Sell now or wait?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It's a risk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342150" y="1757395"/>
            <a:ext cx="4028159" cy="3058735"/>
            <a:chOff x="0" y="0"/>
            <a:chExt cx="1060914" cy="805593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060914" cy="805593"/>
            </a:xfrm>
            <a:custGeom>
              <a:avLst/>
              <a:gdLst/>
              <a:ahLst/>
              <a:cxnLst/>
              <a:rect l="l" t="t" r="r" b="b"/>
              <a:pathLst>
                <a:path w="1060914" h="805593">
                  <a:moveTo>
                    <a:pt x="32673" y="0"/>
                  </a:moveTo>
                  <a:lnTo>
                    <a:pt x="1028241" y="0"/>
                  </a:lnTo>
                  <a:cubicBezTo>
                    <a:pt x="1036907" y="0"/>
                    <a:pt x="1045217" y="3442"/>
                    <a:pt x="1051345" y="9570"/>
                  </a:cubicBezTo>
                  <a:cubicBezTo>
                    <a:pt x="1057472" y="15697"/>
                    <a:pt x="1060914" y="24008"/>
                    <a:pt x="1060914" y="32673"/>
                  </a:cubicBezTo>
                  <a:lnTo>
                    <a:pt x="1060914" y="772920"/>
                  </a:lnTo>
                  <a:cubicBezTo>
                    <a:pt x="1060914" y="790964"/>
                    <a:pt x="1046286" y="805593"/>
                    <a:pt x="1028241" y="805593"/>
                  </a:cubicBezTo>
                  <a:lnTo>
                    <a:pt x="32673" y="805593"/>
                  </a:lnTo>
                  <a:cubicBezTo>
                    <a:pt x="14628" y="805593"/>
                    <a:pt x="0" y="790964"/>
                    <a:pt x="0" y="772920"/>
                  </a:cubicBezTo>
                  <a:lnTo>
                    <a:pt x="0" y="32673"/>
                  </a:lnTo>
                  <a:cubicBezTo>
                    <a:pt x="0" y="14628"/>
                    <a:pt x="14628" y="0"/>
                    <a:pt x="3267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1060914" cy="824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420508" y="1873000"/>
            <a:ext cx="656389" cy="568447"/>
            <a:chOff x="0" y="0"/>
            <a:chExt cx="844690" cy="73152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844677" cy="731520"/>
            </a:xfrm>
            <a:custGeom>
              <a:avLst/>
              <a:gdLst/>
              <a:ahLst/>
              <a:cxnLst/>
              <a:rect l="l" t="t" r="r" b="b"/>
              <a:pathLst>
                <a:path w="844677" h="731520">
                  <a:moveTo>
                    <a:pt x="0" y="365760"/>
                  </a:moveTo>
                  <a:lnTo>
                    <a:pt x="182880" y="0"/>
                  </a:lnTo>
                  <a:lnTo>
                    <a:pt x="661797" y="0"/>
                  </a:lnTo>
                  <a:lnTo>
                    <a:pt x="844677" y="365760"/>
                  </a:lnTo>
                  <a:lnTo>
                    <a:pt x="661797" y="731520"/>
                  </a:lnTo>
                  <a:lnTo>
                    <a:pt x="182880" y="731520"/>
                  </a:lnTo>
                  <a:close/>
                </a:path>
              </a:pathLst>
            </a:custGeom>
            <a:solidFill>
              <a:srgbClr val="7AC143"/>
            </a:solidFill>
          </p:spPr>
        </p:sp>
        <p:sp>
          <p:nvSpPr>
            <p:cNvPr id="91" name="TextBox 91"/>
            <p:cNvSpPr txBox="1"/>
            <p:nvPr/>
          </p:nvSpPr>
          <p:spPr>
            <a:xfrm>
              <a:off x="0" y="-19050"/>
              <a:ext cx="844690" cy="7505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404183" y="3073918"/>
            <a:ext cx="4791796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4"/>
              </a:lnSpc>
              <a:spcBef>
                <a:spcPct val="0"/>
              </a:spcBef>
            </a:pPr>
            <a:r>
              <a:rPr lang="en-US" sz="202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Farmers don't know which market </a:t>
            </a:r>
          </a:p>
          <a:p>
            <a:pPr algn="l">
              <a:lnSpc>
                <a:spcPts val="2424"/>
              </a:lnSpc>
              <a:spcBef>
                <a:spcPct val="0"/>
              </a:spcBef>
            </a:pPr>
            <a:r>
              <a:rPr lang="en-US" sz="202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gives the best price after all costs.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514678" y="4160830"/>
            <a:ext cx="3911060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0"/>
              </a:lnSpc>
              <a:spcBef>
                <a:spcPct val="0"/>
              </a:spcBef>
            </a:pPr>
            <a:r>
              <a:rPr lang="en-US" sz="195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Prices are tables; costs are never</a:t>
            </a:r>
          </a:p>
          <a:p>
            <a:pPr algn="l">
              <a:lnSpc>
                <a:spcPts val="2350"/>
              </a:lnSpc>
              <a:spcBef>
                <a:spcPct val="0"/>
              </a:spcBef>
            </a:pPr>
            <a:r>
              <a:rPr lang="en-US" sz="195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calculated.</a:t>
            </a:r>
          </a:p>
        </p:txBody>
      </p:sp>
      <p:grpSp>
        <p:nvGrpSpPr>
          <p:cNvPr id="94" name="Group 94"/>
          <p:cNvGrpSpPr/>
          <p:nvPr/>
        </p:nvGrpSpPr>
        <p:grpSpPr>
          <a:xfrm>
            <a:off x="492066" y="2734705"/>
            <a:ext cx="1605189" cy="308625"/>
            <a:chOff x="0" y="0"/>
            <a:chExt cx="422766" cy="81284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422766" cy="81284"/>
            </a:xfrm>
            <a:custGeom>
              <a:avLst/>
              <a:gdLst/>
              <a:ahLst/>
              <a:cxnLst/>
              <a:rect l="l" t="t" r="r" b="b"/>
              <a:pathLst>
                <a:path w="422766" h="81284">
                  <a:moveTo>
                    <a:pt x="40642" y="0"/>
                  </a:moveTo>
                  <a:lnTo>
                    <a:pt x="382124" y="0"/>
                  </a:lnTo>
                  <a:cubicBezTo>
                    <a:pt x="404570" y="0"/>
                    <a:pt x="422766" y="18196"/>
                    <a:pt x="422766" y="40642"/>
                  </a:cubicBezTo>
                  <a:lnTo>
                    <a:pt x="422766" y="40642"/>
                  </a:lnTo>
                  <a:cubicBezTo>
                    <a:pt x="422766" y="51421"/>
                    <a:pt x="418484" y="61758"/>
                    <a:pt x="410862" y="69380"/>
                  </a:cubicBezTo>
                  <a:cubicBezTo>
                    <a:pt x="403240" y="77002"/>
                    <a:pt x="392903" y="81284"/>
                    <a:pt x="382124" y="81284"/>
                  </a:cubicBezTo>
                  <a:lnTo>
                    <a:pt x="40642" y="81284"/>
                  </a:lnTo>
                  <a:cubicBezTo>
                    <a:pt x="18196" y="81284"/>
                    <a:pt x="0" y="63088"/>
                    <a:pt x="0" y="40642"/>
                  </a:cubicBezTo>
                  <a:lnTo>
                    <a:pt x="0" y="40642"/>
                  </a:lnTo>
                  <a:cubicBezTo>
                    <a:pt x="0" y="18196"/>
                    <a:pt x="18196" y="0"/>
                    <a:pt x="40642" y="0"/>
                  </a:cubicBezTo>
                  <a:close/>
                </a:path>
              </a:pathLst>
            </a:custGeom>
            <a:solidFill>
              <a:srgbClr val="D3E8B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0" y="-19050"/>
              <a:ext cx="422766" cy="1003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492066" y="3894130"/>
            <a:ext cx="1389186" cy="285264"/>
            <a:chOff x="0" y="0"/>
            <a:chExt cx="365876" cy="75131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65876" cy="75131"/>
            </a:xfrm>
            <a:custGeom>
              <a:avLst/>
              <a:gdLst/>
              <a:ahLst/>
              <a:cxnLst/>
              <a:rect l="l" t="t" r="r" b="b"/>
              <a:pathLst>
                <a:path w="365876" h="75131">
                  <a:moveTo>
                    <a:pt x="37566" y="0"/>
                  </a:moveTo>
                  <a:lnTo>
                    <a:pt x="328311" y="0"/>
                  </a:lnTo>
                  <a:cubicBezTo>
                    <a:pt x="338274" y="0"/>
                    <a:pt x="347829" y="3958"/>
                    <a:pt x="354874" y="11003"/>
                  </a:cubicBezTo>
                  <a:cubicBezTo>
                    <a:pt x="361918" y="18048"/>
                    <a:pt x="365876" y="27603"/>
                    <a:pt x="365876" y="37566"/>
                  </a:cubicBezTo>
                  <a:lnTo>
                    <a:pt x="365876" y="37566"/>
                  </a:lnTo>
                  <a:cubicBezTo>
                    <a:pt x="365876" y="47529"/>
                    <a:pt x="361918" y="57084"/>
                    <a:pt x="354874" y="64129"/>
                  </a:cubicBezTo>
                  <a:cubicBezTo>
                    <a:pt x="347829" y="71173"/>
                    <a:pt x="338274" y="75131"/>
                    <a:pt x="328311" y="75131"/>
                  </a:cubicBezTo>
                  <a:lnTo>
                    <a:pt x="37566" y="75131"/>
                  </a:lnTo>
                  <a:cubicBezTo>
                    <a:pt x="27603" y="75131"/>
                    <a:pt x="18048" y="71173"/>
                    <a:pt x="11003" y="64129"/>
                  </a:cubicBezTo>
                  <a:cubicBezTo>
                    <a:pt x="3958" y="57084"/>
                    <a:pt x="0" y="47529"/>
                    <a:pt x="0" y="37566"/>
                  </a:cubicBezTo>
                  <a:lnTo>
                    <a:pt x="0" y="37566"/>
                  </a:lnTo>
                  <a:cubicBezTo>
                    <a:pt x="0" y="27603"/>
                    <a:pt x="3958" y="18048"/>
                    <a:pt x="11003" y="11003"/>
                  </a:cubicBezTo>
                  <a:cubicBezTo>
                    <a:pt x="18048" y="3958"/>
                    <a:pt x="27603" y="0"/>
                    <a:pt x="37566" y="0"/>
                  </a:cubicBezTo>
                  <a:close/>
                </a:path>
              </a:pathLst>
            </a:custGeom>
            <a:solidFill>
              <a:srgbClr val="D3E8B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0" y="-19050"/>
              <a:ext cx="365876" cy="94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0" name="Freeform 100"/>
          <p:cNvSpPr/>
          <p:nvPr/>
        </p:nvSpPr>
        <p:spPr>
          <a:xfrm>
            <a:off x="3131802" y="5080953"/>
            <a:ext cx="812769" cy="812769"/>
          </a:xfrm>
          <a:custGeom>
            <a:avLst/>
            <a:gdLst/>
            <a:ahLst/>
            <a:cxnLst/>
            <a:rect l="l" t="t" r="r" b="b"/>
            <a:pathLst>
              <a:path w="812769" h="812769">
                <a:moveTo>
                  <a:pt x="0" y="0"/>
                </a:moveTo>
                <a:lnTo>
                  <a:pt x="812769" y="0"/>
                </a:lnTo>
                <a:lnTo>
                  <a:pt x="812769" y="812769"/>
                </a:lnTo>
                <a:lnTo>
                  <a:pt x="0" y="8127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1" name="Freeform 101"/>
          <p:cNvSpPr/>
          <p:nvPr/>
        </p:nvSpPr>
        <p:spPr>
          <a:xfrm>
            <a:off x="7346257" y="2175919"/>
            <a:ext cx="861085" cy="861085"/>
          </a:xfrm>
          <a:custGeom>
            <a:avLst/>
            <a:gdLst/>
            <a:ahLst/>
            <a:cxnLst/>
            <a:rect l="l" t="t" r="r" b="b"/>
            <a:pathLst>
              <a:path w="861085" h="861085">
                <a:moveTo>
                  <a:pt x="0" y="0"/>
                </a:moveTo>
                <a:lnTo>
                  <a:pt x="861085" y="0"/>
                </a:lnTo>
                <a:lnTo>
                  <a:pt x="861085" y="861085"/>
                </a:lnTo>
                <a:lnTo>
                  <a:pt x="0" y="8610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02" name="Group 102"/>
          <p:cNvGrpSpPr/>
          <p:nvPr/>
        </p:nvGrpSpPr>
        <p:grpSpPr>
          <a:xfrm>
            <a:off x="13139508" y="1823714"/>
            <a:ext cx="4926230" cy="6323211"/>
            <a:chOff x="0" y="0"/>
            <a:chExt cx="6568306" cy="8430948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6568306" cy="8430948"/>
            </a:xfrm>
            <a:custGeom>
              <a:avLst/>
              <a:gdLst/>
              <a:ahLst/>
              <a:cxnLst/>
              <a:rect l="l" t="t" r="r" b="b"/>
              <a:pathLst>
                <a:path w="6568306" h="8430948">
                  <a:moveTo>
                    <a:pt x="0" y="321468"/>
                  </a:moveTo>
                  <a:cubicBezTo>
                    <a:pt x="0" y="143908"/>
                    <a:pt x="117611" y="0"/>
                    <a:pt x="262723" y="0"/>
                  </a:cubicBezTo>
                  <a:lnTo>
                    <a:pt x="6305583" y="0"/>
                  </a:lnTo>
                  <a:cubicBezTo>
                    <a:pt x="6450695" y="0"/>
                    <a:pt x="6568306" y="143908"/>
                    <a:pt x="6568306" y="321468"/>
                  </a:cubicBezTo>
                  <a:lnTo>
                    <a:pt x="6568306" y="8109479"/>
                  </a:lnTo>
                  <a:cubicBezTo>
                    <a:pt x="6568306" y="8287039"/>
                    <a:pt x="6450695" y="8430948"/>
                    <a:pt x="6305583" y="8430948"/>
                  </a:cubicBezTo>
                  <a:lnTo>
                    <a:pt x="262723" y="8430948"/>
                  </a:lnTo>
                  <a:cubicBezTo>
                    <a:pt x="117611" y="8430948"/>
                    <a:pt x="0" y="8287039"/>
                    <a:pt x="0" y="8109479"/>
                  </a:cubicBezTo>
                  <a:close/>
                </a:path>
              </a:pathLst>
            </a:custGeom>
            <a:solidFill>
              <a:srgbClr val="155955"/>
            </a:solidFill>
          </p:spPr>
        </p:sp>
      </p:grpSp>
      <p:grpSp>
        <p:nvGrpSpPr>
          <p:cNvPr id="104" name="Group 104"/>
          <p:cNvGrpSpPr/>
          <p:nvPr/>
        </p:nvGrpSpPr>
        <p:grpSpPr>
          <a:xfrm>
            <a:off x="275803" y="8413625"/>
            <a:ext cx="17843476" cy="975316"/>
            <a:chOff x="0" y="0"/>
            <a:chExt cx="23791301" cy="1300422"/>
          </a:xfrm>
        </p:grpSpPr>
        <p:grpSp>
          <p:nvGrpSpPr>
            <p:cNvPr id="105" name="Group 105"/>
            <p:cNvGrpSpPr/>
            <p:nvPr/>
          </p:nvGrpSpPr>
          <p:grpSpPr>
            <a:xfrm>
              <a:off x="0" y="0"/>
              <a:ext cx="23791301" cy="1300422"/>
              <a:chOff x="0" y="0"/>
              <a:chExt cx="23791301" cy="1300422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23791276" cy="1300421"/>
              </a:xfrm>
              <a:custGeom>
                <a:avLst/>
                <a:gdLst/>
                <a:ahLst/>
                <a:cxnLst/>
                <a:rect l="l" t="t" r="r" b="b"/>
                <a:pathLst>
                  <a:path w="23791276" h="1300421">
                    <a:moveTo>
                      <a:pt x="221273" y="0"/>
                    </a:moveTo>
                    <a:lnTo>
                      <a:pt x="23570003" y="0"/>
                    </a:lnTo>
                    <a:cubicBezTo>
                      <a:pt x="23628688" y="0"/>
                      <a:pt x="23684970" y="23313"/>
                      <a:pt x="23726466" y="64809"/>
                    </a:cubicBezTo>
                    <a:cubicBezTo>
                      <a:pt x="23767963" y="106306"/>
                      <a:pt x="23791276" y="162588"/>
                      <a:pt x="23791276" y="221273"/>
                    </a:cubicBezTo>
                    <a:lnTo>
                      <a:pt x="23791276" y="1079148"/>
                    </a:lnTo>
                    <a:cubicBezTo>
                      <a:pt x="23791276" y="1137834"/>
                      <a:pt x="23767963" y="1194115"/>
                      <a:pt x="23726466" y="1235612"/>
                    </a:cubicBezTo>
                    <a:cubicBezTo>
                      <a:pt x="23684970" y="1277109"/>
                      <a:pt x="23628688" y="1300421"/>
                      <a:pt x="23570003" y="1300421"/>
                    </a:cubicBezTo>
                    <a:lnTo>
                      <a:pt x="221273" y="1300421"/>
                    </a:lnTo>
                    <a:cubicBezTo>
                      <a:pt x="162588" y="1300421"/>
                      <a:pt x="106306" y="1277109"/>
                      <a:pt x="64809" y="1235612"/>
                    </a:cubicBezTo>
                    <a:cubicBezTo>
                      <a:pt x="23313" y="1194115"/>
                      <a:pt x="0" y="1137834"/>
                      <a:pt x="0" y="1079148"/>
                    </a:cubicBezTo>
                    <a:lnTo>
                      <a:pt x="0" y="221273"/>
                    </a:lnTo>
                    <a:cubicBezTo>
                      <a:pt x="0" y="162588"/>
                      <a:pt x="23313" y="106306"/>
                      <a:pt x="64809" y="64809"/>
                    </a:cubicBezTo>
                    <a:cubicBezTo>
                      <a:pt x="106306" y="23313"/>
                      <a:pt x="162588" y="0"/>
                      <a:pt x="221273" y="0"/>
                    </a:cubicBezTo>
                    <a:close/>
                  </a:path>
                </a:pathLst>
              </a:custGeom>
              <a:solidFill>
                <a:srgbClr val="094542"/>
              </a:solidFill>
            </p:spPr>
          </p:sp>
        </p:grpSp>
        <p:sp>
          <p:nvSpPr>
            <p:cNvPr id="107" name="TextBox 107"/>
            <p:cNvSpPr txBox="1"/>
            <p:nvPr/>
          </p:nvSpPr>
          <p:spPr>
            <a:xfrm>
              <a:off x="1522466" y="311150"/>
              <a:ext cx="2983706" cy="438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BOTTLENECK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065311" y="95250"/>
              <a:ext cx="13314998" cy="438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It's not just the price. It's the complete picture - costs, risk, constraints and timing.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234372" y="680745"/>
              <a:ext cx="13314998" cy="438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7AC14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SellSmart fills this gap with a personalized, risk-aware selling decision engine.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0" y="9532620"/>
            <a:ext cx="18287543" cy="754380"/>
            <a:chOff x="0" y="0"/>
            <a:chExt cx="24383390" cy="100584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24383364" cy="1005840"/>
            </a:xfrm>
            <a:custGeom>
              <a:avLst/>
              <a:gdLst/>
              <a:ahLst/>
              <a:cxnLst/>
              <a:rect l="l" t="t" r="r" b="b"/>
              <a:pathLst>
                <a:path w="24383364" h="1005840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id="112" name="Group 112"/>
          <p:cNvGrpSpPr/>
          <p:nvPr/>
        </p:nvGrpSpPr>
        <p:grpSpPr>
          <a:xfrm>
            <a:off x="3429000" y="9532620"/>
            <a:ext cx="11429543" cy="754380"/>
            <a:chOff x="0" y="0"/>
            <a:chExt cx="15239390" cy="100584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15239391" cy="1005840"/>
            </a:xfrm>
            <a:custGeom>
              <a:avLst/>
              <a:gdLst/>
              <a:ahLst/>
              <a:cxnLst/>
              <a:rect l="l" t="t" r="r" b="b"/>
              <a:pathLst>
                <a:path w="15239391" h="1005840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5216" b="-245216"/>
              </a:stretch>
            </a:blipFill>
          </p:spPr>
        </p:sp>
        <p:sp>
          <p:nvSpPr>
            <p:cNvPr id="114" name="TextBox 114"/>
            <p:cNvSpPr txBox="1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– Pre-Ideathon Template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6888511" y="9614916"/>
            <a:ext cx="685800" cy="593903"/>
            <a:chOff x="0" y="0"/>
            <a:chExt cx="914400" cy="79187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914400" cy="791845"/>
            </a:xfrm>
            <a:custGeom>
              <a:avLst/>
              <a:gdLst/>
              <a:ahLst/>
              <a:cxnLst/>
              <a:rect l="l" t="t" r="r" b="b"/>
              <a:pathLst>
                <a:path w="914400" h="791845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id="117" name="Group 117"/>
          <p:cNvGrpSpPr/>
          <p:nvPr/>
        </p:nvGrpSpPr>
        <p:grpSpPr>
          <a:xfrm>
            <a:off x="16888511" y="9614916"/>
            <a:ext cx="685800" cy="593903"/>
            <a:chOff x="0" y="0"/>
            <a:chExt cx="914400" cy="791870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914400" cy="791870"/>
            </a:xfrm>
            <a:custGeom>
              <a:avLst/>
              <a:gdLst/>
              <a:ahLst/>
              <a:cxnLst/>
              <a:rect l="l" t="t" r="r" b="b"/>
              <a:pathLst>
                <a:path w="914400" h="79187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1110" r="-61110"/>
              </a:stretch>
            </a:blipFill>
          </p:spPr>
        </p:sp>
        <p:sp>
          <p:nvSpPr>
            <p:cNvPr id="119" name="TextBox 119"/>
            <p:cNvSpPr txBox="1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sp>
        <p:nvSpPr>
          <p:cNvPr id="120" name="Freeform 120"/>
          <p:cNvSpPr/>
          <p:nvPr/>
        </p:nvSpPr>
        <p:spPr>
          <a:xfrm>
            <a:off x="11806912" y="2282635"/>
            <a:ext cx="993511" cy="948803"/>
          </a:xfrm>
          <a:custGeom>
            <a:avLst/>
            <a:gdLst/>
            <a:ahLst/>
            <a:cxnLst/>
            <a:rect l="l" t="t" r="r" b="b"/>
            <a:pathLst>
              <a:path w="993511" h="948803">
                <a:moveTo>
                  <a:pt x="0" y="0"/>
                </a:moveTo>
                <a:lnTo>
                  <a:pt x="993511" y="0"/>
                </a:lnTo>
                <a:lnTo>
                  <a:pt x="993511" y="948802"/>
                </a:lnTo>
                <a:lnTo>
                  <a:pt x="0" y="948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1" name="Freeform 121"/>
          <p:cNvSpPr/>
          <p:nvPr/>
        </p:nvSpPr>
        <p:spPr>
          <a:xfrm>
            <a:off x="13360272" y="3956144"/>
            <a:ext cx="780690" cy="706525"/>
          </a:xfrm>
          <a:custGeom>
            <a:avLst/>
            <a:gdLst/>
            <a:ahLst/>
            <a:cxnLst/>
            <a:rect l="l" t="t" r="r" b="b"/>
            <a:pathLst>
              <a:path w="780690" h="706525">
                <a:moveTo>
                  <a:pt x="0" y="0"/>
                </a:moveTo>
                <a:lnTo>
                  <a:pt x="780690" y="0"/>
                </a:lnTo>
                <a:lnTo>
                  <a:pt x="780690" y="706525"/>
                </a:lnTo>
                <a:lnTo>
                  <a:pt x="0" y="706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2" name="Freeform 122"/>
          <p:cNvSpPr/>
          <p:nvPr/>
        </p:nvSpPr>
        <p:spPr>
          <a:xfrm>
            <a:off x="13436214" y="4837353"/>
            <a:ext cx="760164" cy="1000216"/>
          </a:xfrm>
          <a:custGeom>
            <a:avLst/>
            <a:gdLst/>
            <a:ahLst/>
            <a:cxnLst/>
            <a:rect l="l" t="t" r="r" b="b"/>
            <a:pathLst>
              <a:path w="760164" h="1000216">
                <a:moveTo>
                  <a:pt x="0" y="0"/>
                </a:moveTo>
                <a:lnTo>
                  <a:pt x="760164" y="0"/>
                </a:lnTo>
                <a:lnTo>
                  <a:pt x="760164" y="1000215"/>
                </a:lnTo>
                <a:lnTo>
                  <a:pt x="0" y="100021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3" name="Freeform 123"/>
          <p:cNvSpPr/>
          <p:nvPr/>
        </p:nvSpPr>
        <p:spPr>
          <a:xfrm>
            <a:off x="13495092" y="6040198"/>
            <a:ext cx="556806" cy="912797"/>
          </a:xfrm>
          <a:custGeom>
            <a:avLst/>
            <a:gdLst/>
            <a:ahLst/>
            <a:cxnLst/>
            <a:rect l="l" t="t" r="r" b="b"/>
            <a:pathLst>
              <a:path w="556806" h="912797">
                <a:moveTo>
                  <a:pt x="0" y="0"/>
                </a:moveTo>
                <a:lnTo>
                  <a:pt x="556806" y="0"/>
                </a:lnTo>
                <a:lnTo>
                  <a:pt x="556806" y="912797"/>
                </a:lnTo>
                <a:lnTo>
                  <a:pt x="0" y="9127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24" name="Freeform 124"/>
          <p:cNvSpPr/>
          <p:nvPr/>
        </p:nvSpPr>
        <p:spPr>
          <a:xfrm>
            <a:off x="13670045" y="6229253"/>
            <a:ext cx="238296" cy="355666"/>
          </a:xfrm>
          <a:custGeom>
            <a:avLst/>
            <a:gdLst/>
            <a:ahLst/>
            <a:cxnLst/>
            <a:rect l="l" t="t" r="r" b="b"/>
            <a:pathLst>
              <a:path w="238296" h="355666">
                <a:moveTo>
                  <a:pt x="0" y="0"/>
                </a:moveTo>
                <a:lnTo>
                  <a:pt x="238296" y="0"/>
                </a:lnTo>
                <a:lnTo>
                  <a:pt x="238296" y="355666"/>
                </a:lnTo>
                <a:lnTo>
                  <a:pt x="0" y="35566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5" name="Freeform 125"/>
          <p:cNvSpPr/>
          <p:nvPr/>
        </p:nvSpPr>
        <p:spPr>
          <a:xfrm>
            <a:off x="13360272" y="7218696"/>
            <a:ext cx="691626" cy="605173"/>
          </a:xfrm>
          <a:custGeom>
            <a:avLst/>
            <a:gdLst/>
            <a:ahLst/>
            <a:cxnLst/>
            <a:rect l="l" t="t" r="r" b="b"/>
            <a:pathLst>
              <a:path w="691626" h="605173">
                <a:moveTo>
                  <a:pt x="0" y="0"/>
                </a:moveTo>
                <a:lnTo>
                  <a:pt x="691626" y="0"/>
                </a:lnTo>
                <a:lnTo>
                  <a:pt x="691626" y="605173"/>
                </a:lnTo>
                <a:lnTo>
                  <a:pt x="0" y="60517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26" name="Freeform 126"/>
          <p:cNvSpPr/>
          <p:nvPr/>
        </p:nvSpPr>
        <p:spPr>
          <a:xfrm>
            <a:off x="13308717" y="3012408"/>
            <a:ext cx="832245" cy="686602"/>
          </a:xfrm>
          <a:custGeom>
            <a:avLst/>
            <a:gdLst/>
            <a:ahLst/>
            <a:cxnLst/>
            <a:rect l="l" t="t" r="r" b="b"/>
            <a:pathLst>
              <a:path w="832245" h="686602">
                <a:moveTo>
                  <a:pt x="0" y="0"/>
                </a:moveTo>
                <a:lnTo>
                  <a:pt x="832245" y="0"/>
                </a:lnTo>
                <a:lnTo>
                  <a:pt x="832245" y="686602"/>
                </a:lnTo>
                <a:lnTo>
                  <a:pt x="0" y="68660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27" name="Freeform 127"/>
          <p:cNvSpPr/>
          <p:nvPr/>
        </p:nvSpPr>
        <p:spPr>
          <a:xfrm>
            <a:off x="2915388" y="2235919"/>
            <a:ext cx="950109" cy="741085"/>
          </a:xfrm>
          <a:custGeom>
            <a:avLst/>
            <a:gdLst/>
            <a:ahLst/>
            <a:cxnLst/>
            <a:rect l="l" t="t" r="r" b="b"/>
            <a:pathLst>
              <a:path w="950109" h="741085">
                <a:moveTo>
                  <a:pt x="0" y="0"/>
                </a:moveTo>
                <a:lnTo>
                  <a:pt x="950109" y="0"/>
                </a:lnTo>
                <a:lnTo>
                  <a:pt x="950109" y="741085"/>
                </a:lnTo>
                <a:lnTo>
                  <a:pt x="0" y="741085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28" name="Freeform 128"/>
          <p:cNvSpPr/>
          <p:nvPr/>
        </p:nvSpPr>
        <p:spPr>
          <a:xfrm>
            <a:off x="11909041" y="5110282"/>
            <a:ext cx="789254" cy="801273"/>
          </a:xfrm>
          <a:custGeom>
            <a:avLst/>
            <a:gdLst/>
            <a:ahLst/>
            <a:cxnLst/>
            <a:rect l="l" t="t" r="r" b="b"/>
            <a:pathLst>
              <a:path w="789254" h="801273">
                <a:moveTo>
                  <a:pt x="0" y="0"/>
                </a:moveTo>
                <a:lnTo>
                  <a:pt x="789254" y="0"/>
                </a:lnTo>
                <a:lnTo>
                  <a:pt x="789254" y="801274"/>
                </a:lnTo>
                <a:lnTo>
                  <a:pt x="0" y="80127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29" name="Freeform 129"/>
          <p:cNvSpPr/>
          <p:nvPr/>
        </p:nvSpPr>
        <p:spPr>
          <a:xfrm>
            <a:off x="7350990" y="5189575"/>
            <a:ext cx="994389" cy="880034"/>
          </a:xfrm>
          <a:custGeom>
            <a:avLst/>
            <a:gdLst/>
            <a:ahLst/>
            <a:cxnLst/>
            <a:rect l="l" t="t" r="r" b="b"/>
            <a:pathLst>
              <a:path w="994389" h="880034">
                <a:moveTo>
                  <a:pt x="0" y="0"/>
                </a:moveTo>
                <a:lnTo>
                  <a:pt x="994389" y="0"/>
                </a:lnTo>
                <a:lnTo>
                  <a:pt x="994389" y="880035"/>
                </a:lnTo>
                <a:lnTo>
                  <a:pt x="0" y="88003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a:blipFill>
        </p:spPr>
      </p:sp>
      <p:sp>
        <p:nvSpPr>
          <p:cNvPr id="130" name="TextBox 130"/>
          <p:cNvSpPr txBox="1"/>
          <p:nvPr/>
        </p:nvSpPr>
        <p:spPr>
          <a:xfrm>
            <a:off x="8981145" y="5755330"/>
            <a:ext cx="2619630" cy="26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1"/>
              </a:lnSpc>
              <a:spcBef>
                <a:spcPct val="0"/>
              </a:spcBef>
            </a:pPr>
            <a:r>
              <a:rPr lang="en-US" sz="1676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What happens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8418928" y="7006931"/>
            <a:ext cx="2396713" cy="28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4"/>
              </a:lnSpc>
            </a:pPr>
            <a:r>
              <a:rPr lang="en-US" sz="1653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Root cause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9653627" y="5061903"/>
            <a:ext cx="1947148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No "what-if"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scenario testing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8880783" y="6063956"/>
            <a:ext cx="3909536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Farmers can't see how changes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 distance, quantity or timing affect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outcome.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589451" y="5791979"/>
            <a:ext cx="2542352" cy="26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1"/>
              </a:lnSpc>
              <a:spcBef>
                <a:spcPct val="0"/>
              </a:spcBef>
            </a:pPr>
            <a:r>
              <a:rPr lang="en-US" sz="1676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What happens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342150" y="6853079"/>
            <a:ext cx="1500068" cy="28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4"/>
              </a:lnSpc>
            </a:pPr>
            <a:r>
              <a:rPr lang="en-US" sz="1653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Root cause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4861281" y="2747511"/>
            <a:ext cx="2610585" cy="26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1"/>
              </a:lnSpc>
              <a:spcBef>
                <a:spcPct val="0"/>
              </a:spcBef>
            </a:pPr>
            <a:r>
              <a:rPr lang="en-US" sz="1676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What happens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4790806" y="4170355"/>
            <a:ext cx="3149824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These costs are not visible or</a:t>
            </a:r>
          </a:p>
          <a:p>
            <a:pPr algn="l">
              <a:lnSpc>
                <a:spcPts val="2237"/>
              </a:lnSpc>
              <a:spcBef>
                <a:spcPct val="0"/>
              </a:spcBef>
            </a:pPr>
            <a:r>
              <a:rPr lang="en-US" sz="186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considered in decisions</a:t>
            </a:r>
            <a:r>
              <a:rPr lang="en-US" sz="1864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.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4719275" y="5778098"/>
            <a:ext cx="2697367" cy="26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1"/>
              </a:lnSpc>
              <a:spcBef>
                <a:spcPct val="0"/>
              </a:spcBef>
            </a:pPr>
            <a:r>
              <a:rPr lang="en-US" sz="1676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What happens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4482435" y="6862490"/>
            <a:ext cx="1525664" cy="28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4"/>
              </a:lnSpc>
            </a:pPr>
            <a:r>
              <a:rPr lang="en-US" sz="1653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Root cause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5268663" y="5008478"/>
            <a:ext cx="1910877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Generic advice,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not personal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4552058" y="6174242"/>
            <a:ext cx="4211584" cy="619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6"/>
              </a:lnSpc>
              <a:spcBef>
                <a:spcPct val="0"/>
              </a:spcBef>
            </a:pPr>
            <a:r>
              <a:rPr lang="en-US" sz="2038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One-size-fits-all suggestions don't</a:t>
            </a:r>
          </a:p>
          <a:p>
            <a:pPr algn="l">
              <a:lnSpc>
                <a:spcPts val="2446"/>
              </a:lnSpc>
              <a:spcBef>
                <a:spcPct val="0"/>
              </a:spcBef>
            </a:pPr>
            <a:r>
              <a:rPr lang="en-US" sz="2038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fit every farmer's situation.</a:t>
            </a:r>
          </a:p>
        </p:txBody>
      </p:sp>
      <p:sp>
        <p:nvSpPr>
          <p:cNvPr id="142" name="TextBox 142"/>
          <p:cNvSpPr txBox="1"/>
          <p:nvPr/>
        </p:nvSpPr>
        <p:spPr>
          <a:xfrm>
            <a:off x="4571986" y="7241300"/>
            <a:ext cx="433790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No input on storage, urgency,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distance, or risk appetite.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9048603" y="2787049"/>
            <a:ext cx="2552172" cy="26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1"/>
              </a:lnSpc>
              <a:spcBef>
                <a:spcPct val="0"/>
              </a:spcBef>
            </a:pPr>
            <a:r>
              <a:rPr lang="en-US" sz="1676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What happens</a:t>
            </a:r>
          </a:p>
        </p:txBody>
      </p:sp>
      <p:sp>
        <p:nvSpPr>
          <p:cNvPr id="144" name="TextBox 144"/>
          <p:cNvSpPr txBox="1"/>
          <p:nvPr/>
        </p:nvSpPr>
        <p:spPr>
          <a:xfrm>
            <a:off x="8593192" y="3801245"/>
            <a:ext cx="2315287" cy="28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4"/>
              </a:lnSpc>
            </a:pPr>
            <a:r>
              <a:rPr lang="en-US" sz="1653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Root cause</a:t>
            </a:r>
          </a:p>
        </p:txBody>
      </p:sp>
      <p:sp>
        <p:nvSpPr>
          <p:cNvPr id="145" name="TextBox 145"/>
          <p:cNvSpPr txBox="1"/>
          <p:nvPr/>
        </p:nvSpPr>
        <p:spPr>
          <a:xfrm>
            <a:off x="8932987" y="3189791"/>
            <a:ext cx="3765308" cy="545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11"/>
              </a:lnSpc>
              <a:spcBef>
                <a:spcPct val="0"/>
              </a:spcBef>
            </a:pPr>
            <a:r>
              <a:rPr lang="en-US" sz="175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Farmers are unsure whether to sell</a:t>
            </a:r>
          </a:p>
          <a:p>
            <a:pPr algn="l">
              <a:lnSpc>
                <a:spcPts val="2111"/>
              </a:lnSpc>
              <a:spcBef>
                <a:spcPct val="0"/>
              </a:spcBef>
            </a:pPr>
            <a:r>
              <a:rPr lang="en-US" sz="175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immediately or wait for better prices.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8868247" y="4153184"/>
            <a:ext cx="3894787" cy="59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2"/>
              </a:lnSpc>
              <a:spcBef>
                <a:spcPct val="0"/>
              </a:spcBef>
            </a:pPr>
            <a:r>
              <a:rPr lang="en-US" sz="196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Uncertain future prices and</a:t>
            </a:r>
          </a:p>
          <a:p>
            <a:pPr algn="l">
              <a:lnSpc>
                <a:spcPts val="2352"/>
              </a:lnSpc>
              <a:spcBef>
                <a:spcPct val="0"/>
              </a:spcBef>
            </a:pPr>
            <a:r>
              <a:rPr lang="en-US" sz="196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perishable produce.</a:t>
            </a:r>
          </a:p>
        </p:txBody>
      </p:sp>
      <p:sp>
        <p:nvSpPr>
          <p:cNvPr id="147" name="TextBox 147"/>
          <p:cNvSpPr txBox="1"/>
          <p:nvPr/>
        </p:nvSpPr>
        <p:spPr>
          <a:xfrm>
            <a:off x="1076896" y="1853950"/>
            <a:ext cx="3293413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Comparing markets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is difficult</a:t>
            </a:r>
          </a:p>
        </p:txBody>
      </p:sp>
      <p:sp>
        <p:nvSpPr>
          <p:cNvPr id="148" name="TextBox 148"/>
          <p:cNvSpPr txBox="1"/>
          <p:nvPr/>
        </p:nvSpPr>
        <p:spPr>
          <a:xfrm>
            <a:off x="592429" y="2725180"/>
            <a:ext cx="2218184" cy="26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1"/>
              </a:lnSpc>
              <a:spcBef>
                <a:spcPct val="0"/>
              </a:spcBef>
            </a:pPr>
            <a:r>
              <a:rPr lang="en-US" sz="1676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What happens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425317" y="3880852"/>
            <a:ext cx="1522686" cy="28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4"/>
              </a:lnSpc>
            </a:pPr>
            <a:r>
              <a:rPr lang="en-US" sz="1653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Root cause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1771536" y="413098"/>
            <a:ext cx="1143852" cy="336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Nexus0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6053065" y="736948"/>
            <a:ext cx="7508596" cy="554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6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Farmers have the crop. But the real question is - where, when and how to sell</a:t>
            </a:r>
          </a:p>
          <a:p>
            <a:pPr algn="ctr">
              <a:lnSpc>
                <a:spcPts val="2249"/>
              </a:lnSpc>
            </a:pPr>
            <a:r>
              <a:rPr lang="en-US" sz="160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the best net earnings?</a:t>
            </a:r>
          </a:p>
        </p:txBody>
      </p:sp>
      <p:sp>
        <p:nvSpPr>
          <p:cNvPr id="152" name="TextBox 152"/>
          <p:cNvSpPr txBox="1"/>
          <p:nvPr/>
        </p:nvSpPr>
        <p:spPr>
          <a:xfrm>
            <a:off x="13750857" y="1937794"/>
            <a:ext cx="382345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7AC143"/>
                </a:solidFill>
                <a:latin typeface="Cambria Bold"/>
                <a:ea typeface="Cambria Bold"/>
                <a:cs typeface="Cambria Bold"/>
                <a:sym typeface="Cambria Bold"/>
              </a:rPr>
              <a:t>THE REAL IMPACT</a:t>
            </a:r>
          </a:p>
        </p:txBody>
      </p:sp>
      <p:sp>
        <p:nvSpPr>
          <p:cNvPr id="153" name="TextBox 153"/>
          <p:cNvSpPr txBox="1"/>
          <p:nvPr/>
        </p:nvSpPr>
        <p:spPr>
          <a:xfrm>
            <a:off x="13288191" y="2430249"/>
            <a:ext cx="3823454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These challenges lead to:</a:t>
            </a:r>
          </a:p>
        </p:txBody>
      </p:sp>
      <p:sp>
        <p:nvSpPr>
          <p:cNvPr id="154" name="TextBox 154"/>
          <p:cNvSpPr txBox="1"/>
          <p:nvPr/>
        </p:nvSpPr>
        <p:spPr>
          <a:xfrm>
            <a:off x="14323876" y="2785113"/>
            <a:ext cx="3741862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7AC143"/>
                </a:solidFill>
                <a:latin typeface="Cambria Bold"/>
                <a:ea typeface="Cambria Bold"/>
                <a:cs typeface="Cambria Bold"/>
                <a:sym typeface="Cambria Bold"/>
              </a:rPr>
              <a:t>Lost earning potential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Farmers miss better prices and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more profitable markets.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1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5" name="TextBox 155"/>
          <p:cNvSpPr txBox="1"/>
          <p:nvPr/>
        </p:nvSpPr>
        <p:spPr>
          <a:xfrm>
            <a:off x="14341573" y="3867150"/>
            <a:ext cx="4970696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7AC143"/>
                </a:solidFill>
                <a:latin typeface="Cambria Bold"/>
                <a:ea typeface="Cambria Bold"/>
                <a:cs typeface="Cambria Bold"/>
                <a:sym typeface="Cambria Bold"/>
              </a:rPr>
              <a:t>Post-harvest losses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Poor timing and storage lead to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spoilage and waste.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1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6" name="TextBox 156"/>
          <p:cNvSpPr txBox="1"/>
          <p:nvPr/>
        </p:nvSpPr>
        <p:spPr>
          <a:xfrm>
            <a:off x="14323876" y="4871088"/>
            <a:ext cx="4970696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7AC143"/>
                </a:solidFill>
                <a:latin typeface="Cambria Bold"/>
                <a:ea typeface="Cambria Bold"/>
                <a:cs typeface="Cambria Bold"/>
                <a:sym typeface="Cambria Bold"/>
              </a:rPr>
              <a:t>Unstable rural income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Income remains unpredictable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and seasonal.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1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7" name="TextBox 157"/>
          <p:cNvSpPr txBox="1"/>
          <p:nvPr/>
        </p:nvSpPr>
        <p:spPr>
          <a:xfrm>
            <a:off x="14341573" y="5937219"/>
            <a:ext cx="3448169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>
                <a:solidFill>
                  <a:srgbClr val="7AC143"/>
                </a:solidFill>
                <a:latin typeface="Cambria Bold"/>
                <a:ea typeface="Cambria Bold"/>
                <a:cs typeface="Cambria Bold"/>
                <a:sym typeface="Cambria Bold"/>
              </a:rPr>
              <a:t>Underuse of digital tools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Farmers don't get value from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existing apps and information.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1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8" name="TextBox 158"/>
          <p:cNvSpPr txBox="1"/>
          <p:nvPr/>
        </p:nvSpPr>
        <p:spPr>
          <a:xfrm>
            <a:off x="14341573" y="6985638"/>
            <a:ext cx="4138918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AC143"/>
                </a:solidFill>
                <a:latin typeface="Cambria Bold"/>
                <a:ea typeface="Cambria Bold"/>
                <a:cs typeface="Cambria Bold"/>
                <a:sym typeface="Cambria Bold"/>
              </a:rPr>
              <a:t>Price swings hurt everyone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Gluts and storages affect both farmers and consumers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60159" y="472916"/>
            <a:ext cx="1248727" cy="1248727"/>
            <a:chOff x="0" y="0"/>
            <a:chExt cx="1664970" cy="16649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4970" cy="1664970"/>
            </a:xfrm>
            <a:custGeom>
              <a:avLst/>
              <a:gdLst/>
              <a:ahLst/>
              <a:cxnLst/>
              <a:rect l="l" t="t" r="r" b="b"/>
              <a:pathLst>
                <a:path w="1664970" h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6583920" y="576072"/>
            <a:ext cx="801195" cy="1042416"/>
            <a:chOff x="0" y="0"/>
            <a:chExt cx="1068260" cy="1389888"/>
          </a:xfrm>
        </p:grpSpPr>
        <p:sp>
          <p:nvSpPr>
            <p:cNvPr id="5" name="Freeform 5" descr="Genesis logo"/>
            <p:cNvSpPr/>
            <p:nvPr/>
          </p:nvSpPr>
          <p:spPr>
            <a:xfrm>
              <a:off x="0" y="0"/>
              <a:ext cx="1068324" cy="1389888"/>
            </a:xfrm>
            <a:custGeom>
              <a:avLst/>
              <a:gdLst/>
              <a:ahLst/>
              <a:cxnLst/>
              <a:rect l="l" t="t" r="r" b="b"/>
              <a:pathLst>
                <a:path w="1068324" h="1389888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532620"/>
            <a:ext cx="18287543" cy="754380"/>
            <a:chOff x="0" y="0"/>
            <a:chExt cx="24383390" cy="1005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3364" cy="1005840"/>
            </a:xfrm>
            <a:custGeom>
              <a:avLst/>
              <a:gdLst/>
              <a:ahLst/>
              <a:cxnLst/>
              <a:rect l="l" t="t" r="r" b="b"/>
              <a:pathLst>
                <a:path w="24383364" h="1005840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3429000" y="9532620"/>
            <a:ext cx="11429543" cy="754380"/>
            <a:chOff x="0" y="0"/>
            <a:chExt cx="15239390" cy="1005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39391" cy="1005840"/>
            </a:xfrm>
            <a:custGeom>
              <a:avLst/>
              <a:gdLst/>
              <a:ahLst/>
              <a:cxnLst/>
              <a:rect l="l" t="t" r="r" b="b"/>
              <a:pathLst>
                <a:path w="15239391" h="1005840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216" b="-24521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– Pre-Ideathon Template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888511" y="9614916"/>
            <a:ext cx="685800" cy="593903"/>
            <a:chOff x="0" y="0"/>
            <a:chExt cx="914400" cy="7918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400" cy="791845"/>
            </a:xfrm>
            <a:custGeom>
              <a:avLst/>
              <a:gdLst/>
              <a:ahLst/>
              <a:cxnLst/>
              <a:rect l="l" t="t" r="r" b="b"/>
              <a:pathLst>
                <a:path w="914400" h="791845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id="13" name="Group 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82519" cy="2500630"/>
            </a:xfrm>
            <a:custGeom>
              <a:avLst/>
              <a:gdLst/>
              <a:ahLst/>
              <a:cxnLst/>
              <a:rect l="l" t="t" r="r" b="b"/>
              <a:pathLst>
                <a:path w="2882519" h="2500630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r="-613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32178" cy="1677670"/>
            </a:xfrm>
            <a:custGeom>
              <a:avLst/>
              <a:gdLst/>
              <a:ahLst/>
              <a:cxnLst/>
              <a:rect l="l" t="t" r="r" b="b"/>
              <a:pathLst>
                <a:path w="1932178" h="1677670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r="-614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4466337" y="-479091"/>
            <a:ext cx="11247120" cy="2637206"/>
            <a:chOff x="0" y="0"/>
            <a:chExt cx="14996160" cy="351627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996161" cy="3516274"/>
            </a:xfrm>
            <a:custGeom>
              <a:avLst/>
              <a:gdLst/>
              <a:ahLst/>
              <a:cxnLst/>
              <a:rect l="l" t="t" r="r" b="b"/>
              <a:pathLst>
                <a:path w="14996161" h="3516274">
                  <a:moveTo>
                    <a:pt x="0" y="0"/>
                  </a:moveTo>
                  <a:lnTo>
                    <a:pt x="14996161" y="0"/>
                  </a:lnTo>
                  <a:lnTo>
                    <a:pt x="14996161" y="3516274"/>
                  </a:lnTo>
                  <a:lnTo>
                    <a:pt x="0" y="35162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695" b="-6503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4996160" cy="3535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INSIGHTS &amp; OPPORTUNITY AREAS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888511" y="9614916"/>
            <a:ext cx="685800" cy="593903"/>
            <a:chOff x="0" y="0"/>
            <a:chExt cx="914400" cy="79187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" cy="791870"/>
            </a:xfrm>
            <a:custGeom>
              <a:avLst/>
              <a:gdLst/>
              <a:ahLst/>
              <a:cxnLst/>
              <a:rect l="l" t="t" r="r" b="b"/>
              <a:pathLst>
                <a:path w="914400" h="79187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r="-6111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2695" y="1360796"/>
            <a:ext cx="9071305" cy="2955418"/>
            <a:chOff x="0" y="0"/>
            <a:chExt cx="12095074" cy="3940557"/>
          </a:xfrm>
        </p:grpSpPr>
        <p:grpSp>
          <p:nvGrpSpPr>
            <p:cNvPr id="24" name="Group 24"/>
            <p:cNvGrpSpPr/>
            <p:nvPr/>
          </p:nvGrpSpPr>
          <p:grpSpPr>
            <a:xfrm>
              <a:off x="98095" y="177124"/>
              <a:ext cx="490473" cy="880847"/>
              <a:chOff x="0" y="0"/>
              <a:chExt cx="490473" cy="88084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490473" cy="880819"/>
              </a:xfrm>
              <a:custGeom>
                <a:avLst/>
                <a:gdLst/>
                <a:ahLst/>
                <a:cxnLst/>
                <a:rect l="l" t="t" r="r" b="b"/>
                <a:pathLst>
                  <a:path w="490473" h="880819">
                    <a:moveTo>
                      <a:pt x="0" y="440480"/>
                    </a:moveTo>
                    <a:lnTo>
                      <a:pt x="106201" y="0"/>
                    </a:lnTo>
                    <a:lnTo>
                      <a:pt x="384272" y="0"/>
                    </a:lnTo>
                    <a:lnTo>
                      <a:pt x="490473" y="440480"/>
                    </a:lnTo>
                    <a:lnTo>
                      <a:pt x="384272" y="880819"/>
                    </a:lnTo>
                    <a:lnTo>
                      <a:pt x="106201" y="880819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196189" y="311387"/>
              <a:ext cx="294284" cy="610286"/>
              <a:chOff x="0" y="0"/>
              <a:chExt cx="294284" cy="610286"/>
            </a:xfrm>
          </p:grpSpPr>
          <p:sp>
            <p:nvSpPr>
              <p:cNvPr id="27" name="Freeform 27" descr="Lightbulb icon"/>
              <p:cNvSpPr/>
              <p:nvPr/>
            </p:nvSpPr>
            <p:spPr>
              <a:xfrm>
                <a:off x="0" y="0"/>
                <a:ext cx="294284" cy="610286"/>
              </a:xfrm>
              <a:custGeom>
                <a:avLst/>
                <a:gdLst/>
                <a:ahLst/>
                <a:cxnLst/>
                <a:rect l="l" t="t" r="r" b="b"/>
                <a:pathLst>
                  <a:path w="294284" h="610286">
                    <a:moveTo>
                      <a:pt x="0" y="0"/>
                    </a:moveTo>
                    <a:lnTo>
                      <a:pt x="294284" y="0"/>
                    </a:lnTo>
                    <a:lnTo>
                      <a:pt x="294284" y="610286"/>
                    </a:lnTo>
                    <a:lnTo>
                      <a:pt x="0" y="61028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53690" r="-53690"/>
                </a:stretch>
              </a:blipFill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765138" y="0"/>
              <a:ext cx="10299941" cy="1269678"/>
              <a:chOff x="0" y="0"/>
              <a:chExt cx="10299941" cy="1269678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0299941" cy="1269678"/>
              </a:xfrm>
              <a:custGeom>
                <a:avLst/>
                <a:gdLst/>
                <a:ahLst/>
                <a:cxnLst/>
                <a:rect l="l" t="t" r="r" b="b"/>
                <a:pathLst>
                  <a:path w="10299941" h="1269678">
                    <a:moveTo>
                      <a:pt x="0" y="0"/>
                    </a:moveTo>
                    <a:lnTo>
                      <a:pt x="10299941" y="0"/>
                    </a:lnTo>
                    <a:lnTo>
                      <a:pt x="10299941" y="1269678"/>
                    </a:lnTo>
                    <a:lnTo>
                      <a:pt x="0" y="126967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55078" r="-86432" b="-234298"/>
                </a:stretch>
              </a:blip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57150"/>
                <a:ext cx="10299941" cy="132682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240"/>
                  </a:lnSpc>
                </a:pPr>
                <a:r>
                  <a:rPr lang="en-US" sz="2700" b="1">
                    <a:solidFill>
                      <a:srgbClr val="094542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Software-only, free tools and public data: a near-zero-budget build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0" y="1601126"/>
              <a:ext cx="12095074" cy="2339432"/>
              <a:chOff x="0" y="0"/>
              <a:chExt cx="12095074" cy="233943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2095074" cy="2339431"/>
              </a:xfrm>
              <a:custGeom>
                <a:avLst/>
                <a:gdLst/>
                <a:ahLst/>
                <a:cxnLst/>
                <a:rect l="l" t="t" r="r" b="b"/>
                <a:pathLst>
                  <a:path w="12095074" h="2339431">
                    <a:moveTo>
                      <a:pt x="0" y="93521"/>
                    </a:moveTo>
                    <a:cubicBezTo>
                      <a:pt x="0" y="41957"/>
                      <a:pt x="20232" y="0"/>
                      <a:pt x="45096" y="0"/>
                    </a:cubicBezTo>
                    <a:lnTo>
                      <a:pt x="12049978" y="0"/>
                    </a:lnTo>
                    <a:cubicBezTo>
                      <a:pt x="12074910" y="0"/>
                      <a:pt x="12095074" y="41957"/>
                      <a:pt x="12095074" y="93521"/>
                    </a:cubicBezTo>
                    <a:lnTo>
                      <a:pt x="12095074" y="2245911"/>
                    </a:lnTo>
                    <a:cubicBezTo>
                      <a:pt x="12095074" y="2297616"/>
                      <a:pt x="12074842" y="2339431"/>
                      <a:pt x="12049978" y="2339431"/>
                    </a:cubicBezTo>
                    <a:lnTo>
                      <a:pt x="45096" y="2339431"/>
                    </a:lnTo>
                    <a:cubicBezTo>
                      <a:pt x="20164" y="2339431"/>
                      <a:pt x="0" y="2297474"/>
                      <a:pt x="0" y="2245911"/>
                    </a:cubicBezTo>
                    <a:close/>
                  </a:path>
                </a:pathLst>
              </a:custGeom>
              <a:solidFill>
                <a:srgbClr val="052B35"/>
              </a:solidFill>
            </p:spPr>
          </p:sp>
        </p:grpSp>
      </p:grpSp>
      <p:sp>
        <p:nvSpPr>
          <p:cNvPr id="33" name="Freeform 33"/>
          <p:cNvSpPr/>
          <p:nvPr/>
        </p:nvSpPr>
        <p:spPr>
          <a:xfrm>
            <a:off x="754380" y="456245"/>
            <a:ext cx="872538" cy="872538"/>
          </a:xfrm>
          <a:custGeom>
            <a:avLst/>
            <a:gdLst/>
            <a:ahLst/>
            <a:cxnLst/>
            <a:rect l="l" t="t" r="r" b="b"/>
            <a:pathLst>
              <a:path w="872538" h="872538">
                <a:moveTo>
                  <a:pt x="0" y="0"/>
                </a:moveTo>
                <a:lnTo>
                  <a:pt x="872538" y="0"/>
                </a:lnTo>
                <a:lnTo>
                  <a:pt x="872538" y="872538"/>
                </a:lnTo>
                <a:lnTo>
                  <a:pt x="0" y="872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94355" y="4367019"/>
            <a:ext cx="9071077" cy="2434367"/>
            <a:chOff x="0" y="0"/>
            <a:chExt cx="2389090" cy="64115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389090" cy="641150"/>
            </a:xfrm>
            <a:custGeom>
              <a:avLst/>
              <a:gdLst/>
              <a:ahLst/>
              <a:cxnLst/>
              <a:rect l="l" t="t" r="r" b="b"/>
              <a:pathLst>
                <a:path w="2389090" h="641150">
                  <a:moveTo>
                    <a:pt x="17069" y="0"/>
                  </a:moveTo>
                  <a:lnTo>
                    <a:pt x="2372021" y="0"/>
                  </a:lnTo>
                  <a:cubicBezTo>
                    <a:pt x="2376548" y="0"/>
                    <a:pt x="2380890" y="1798"/>
                    <a:pt x="2384091" y="5000"/>
                  </a:cubicBezTo>
                  <a:cubicBezTo>
                    <a:pt x="2387292" y="8201"/>
                    <a:pt x="2389090" y="12542"/>
                    <a:pt x="2389090" y="17069"/>
                  </a:cubicBezTo>
                  <a:lnTo>
                    <a:pt x="2389090" y="624081"/>
                  </a:lnTo>
                  <a:cubicBezTo>
                    <a:pt x="2389090" y="633508"/>
                    <a:pt x="2381448" y="641150"/>
                    <a:pt x="2372021" y="641150"/>
                  </a:cubicBezTo>
                  <a:lnTo>
                    <a:pt x="17069" y="641150"/>
                  </a:lnTo>
                  <a:cubicBezTo>
                    <a:pt x="12542" y="641150"/>
                    <a:pt x="8201" y="639352"/>
                    <a:pt x="5000" y="636151"/>
                  </a:cubicBezTo>
                  <a:cubicBezTo>
                    <a:pt x="1798" y="632950"/>
                    <a:pt x="0" y="628608"/>
                    <a:pt x="0" y="624081"/>
                  </a:cubicBezTo>
                  <a:lnTo>
                    <a:pt x="0" y="17069"/>
                  </a:lnTo>
                  <a:cubicBezTo>
                    <a:pt x="0" y="7642"/>
                    <a:pt x="7642" y="0"/>
                    <a:pt x="17069" y="0"/>
                  </a:cubicBezTo>
                  <a:close/>
                </a:path>
              </a:pathLst>
            </a:custGeom>
            <a:solidFill>
              <a:srgbClr val="D3E8BE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2389090" cy="68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4355" y="6852192"/>
            <a:ext cx="9060132" cy="2680428"/>
            <a:chOff x="0" y="0"/>
            <a:chExt cx="2386208" cy="70595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386208" cy="705956"/>
            </a:xfrm>
            <a:custGeom>
              <a:avLst/>
              <a:gdLst/>
              <a:ahLst/>
              <a:cxnLst/>
              <a:rect l="l" t="t" r="r" b="b"/>
              <a:pathLst>
                <a:path w="2386208" h="705956">
                  <a:moveTo>
                    <a:pt x="43580" y="0"/>
                  </a:moveTo>
                  <a:lnTo>
                    <a:pt x="2342628" y="0"/>
                  </a:lnTo>
                  <a:cubicBezTo>
                    <a:pt x="2354186" y="0"/>
                    <a:pt x="2365271" y="4591"/>
                    <a:pt x="2373443" y="12764"/>
                  </a:cubicBezTo>
                  <a:cubicBezTo>
                    <a:pt x="2381616" y="20937"/>
                    <a:pt x="2386208" y="32022"/>
                    <a:pt x="2386208" y="43580"/>
                  </a:cubicBezTo>
                  <a:lnTo>
                    <a:pt x="2386208" y="662377"/>
                  </a:lnTo>
                  <a:cubicBezTo>
                    <a:pt x="2386208" y="673935"/>
                    <a:pt x="2381616" y="685019"/>
                    <a:pt x="2373443" y="693192"/>
                  </a:cubicBezTo>
                  <a:cubicBezTo>
                    <a:pt x="2365271" y="701365"/>
                    <a:pt x="2354186" y="705956"/>
                    <a:pt x="2342628" y="705956"/>
                  </a:cubicBezTo>
                  <a:lnTo>
                    <a:pt x="43580" y="705956"/>
                  </a:lnTo>
                  <a:cubicBezTo>
                    <a:pt x="32022" y="705956"/>
                    <a:pt x="20937" y="701365"/>
                    <a:pt x="12764" y="693192"/>
                  </a:cubicBezTo>
                  <a:cubicBezTo>
                    <a:pt x="4591" y="685019"/>
                    <a:pt x="0" y="673935"/>
                    <a:pt x="0" y="662377"/>
                  </a:cubicBezTo>
                  <a:lnTo>
                    <a:pt x="0" y="43580"/>
                  </a:lnTo>
                  <a:cubicBezTo>
                    <a:pt x="0" y="32022"/>
                    <a:pt x="4591" y="20937"/>
                    <a:pt x="12764" y="12764"/>
                  </a:cubicBezTo>
                  <a:cubicBezTo>
                    <a:pt x="20937" y="4591"/>
                    <a:pt x="32022" y="0"/>
                    <a:pt x="4358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2386208" cy="7535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-228652" y="7102621"/>
            <a:ext cx="8869057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6"/>
              </a:lnSpc>
              <a:spcBef>
                <a:spcPct val="0"/>
              </a:spcBef>
            </a:pPr>
            <a:r>
              <a:rPr lang="en-US" sz="2255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Other Resources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2398404" y="7014610"/>
            <a:ext cx="690527" cy="598017"/>
            <a:chOff x="0" y="0"/>
            <a:chExt cx="1055853" cy="9144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55878" cy="914400"/>
            </a:xfrm>
            <a:custGeom>
              <a:avLst/>
              <a:gdLst/>
              <a:ahLst/>
              <a:cxnLst/>
              <a:rect l="l" t="t" r="r" b="b"/>
              <a:pathLst>
                <a:path w="1055878" h="914400">
                  <a:moveTo>
                    <a:pt x="0" y="457200"/>
                  </a:moveTo>
                  <a:lnTo>
                    <a:pt x="228600" y="0"/>
                  </a:lnTo>
                  <a:lnTo>
                    <a:pt x="827278" y="0"/>
                  </a:lnTo>
                  <a:lnTo>
                    <a:pt x="1055878" y="457200"/>
                  </a:lnTo>
                  <a:lnTo>
                    <a:pt x="827278" y="914400"/>
                  </a:lnTo>
                  <a:lnTo>
                    <a:pt x="228600" y="914400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2616565" y="7186517"/>
            <a:ext cx="254204" cy="254204"/>
            <a:chOff x="0" y="0"/>
            <a:chExt cx="475488" cy="475488"/>
          </a:xfrm>
        </p:grpSpPr>
        <p:sp>
          <p:nvSpPr>
            <p:cNvPr id="44" name="Freeform 44" descr="UsersCog icon"/>
            <p:cNvSpPr/>
            <p:nvPr/>
          </p:nvSpPr>
          <p:spPr>
            <a:xfrm>
              <a:off x="0" y="0"/>
              <a:ext cx="475488" cy="475488"/>
            </a:xfrm>
            <a:custGeom>
              <a:avLst/>
              <a:gdLst/>
              <a:ahLst/>
              <a:cxn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5" name="Group 45"/>
          <p:cNvGrpSpPr/>
          <p:nvPr/>
        </p:nvGrpSpPr>
        <p:grpSpPr>
          <a:xfrm>
            <a:off x="9247123" y="3260290"/>
            <a:ext cx="12820645" cy="6224905"/>
            <a:chOff x="0" y="0"/>
            <a:chExt cx="17162939" cy="8299873"/>
          </a:xfrm>
        </p:grpSpPr>
        <p:grpSp>
          <p:nvGrpSpPr>
            <p:cNvPr id="46" name="Group 46"/>
            <p:cNvGrpSpPr/>
            <p:nvPr/>
          </p:nvGrpSpPr>
          <p:grpSpPr>
            <a:xfrm>
              <a:off x="0" y="0"/>
              <a:ext cx="12119694" cy="8281074"/>
              <a:chOff x="0" y="0"/>
              <a:chExt cx="10103025" cy="690313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10102969" cy="6903048"/>
              </a:xfrm>
              <a:custGeom>
                <a:avLst/>
                <a:gdLst/>
                <a:ahLst/>
                <a:cxnLst/>
                <a:rect l="l" t="t" r="r" b="b"/>
                <a:pathLst>
                  <a:path w="10102969" h="6903048">
                    <a:moveTo>
                      <a:pt x="0" y="1150508"/>
                    </a:moveTo>
                    <a:cubicBezTo>
                      <a:pt x="0" y="515136"/>
                      <a:pt x="329282" y="0"/>
                      <a:pt x="735420" y="0"/>
                    </a:cubicBezTo>
                    <a:lnTo>
                      <a:pt x="9367549" y="0"/>
                    </a:lnTo>
                    <a:cubicBezTo>
                      <a:pt x="9773687" y="0"/>
                      <a:pt x="10102969" y="515136"/>
                      <a:pt x="10102969" y="1150508"/>
                    </a:cubicBezTo>
                    <a:lnTo>
                      <a:pt x="10102969" y="5752540"/>
                    </a:lnTo>
                    <a:cubicBezTo>
                      <a:pt x="10102969" y="6387912"/>
                      <a:pt x="9773687" y="6903048"/>
                      <a:pt x="9367549" y="6903048"/>
                    </a:cubicBezTo>
                    <a:lnTo>
                      <a:pt x="735420" y="6903048"/>
                    </a:lnTo>
                    <a:cubicBezTo>
                      <a:pt x="329282" y="6903174"/>
                      <a:pt x="0" y="6388038"/>
                      <a:pt x="0" y="5752540"/>
                    </a:cubicBez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9507" r="-66985" b="-662"/>
                </a:stretch>
              </a:blipFill>
              <a:ln w="28575" cap="sq">
                <a:solidFill>
                  <a:srgbClr val="14524D"/>
                </a:solidFill>
                <a:prstDash val="solid"/>
                <a:miter/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20689" y="26907"/>
              <a:ext cx="5264054" cy="689502"/>
              <a:chOff x="0" y="0"/>
              <a:chExt cx="4388136" cy="574772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388136" cy="574772"/>
              </a:xfrm>
              <a:custGeom>
                <a:avLst/>
                <a:gdLst/>
                <a:ahLst/>
                <a:cxnLst/>
                <a:rect l="l" t="t" r="r" b="b"/>
                <a:pathLst>
                  <a:path w="4388136" h="574772">
                    <a:moveTo>
                      <a:pt x="0" y="0"/>
                    </a:moveTo>
                    <a:lnTo>
                      <a:pt x="4388136" y="0"/>
                    </a:lnTo>
                    <a:lnTo>
                      <a:pt x="4388136" y="574772"/>
                    </a:lnTo>
                    <a:lnTo>
                      <a:pt x="0" y="574772"/>
                    </a:lnTo>
                    <a:close/>
                  </a:path>
                </a:pathLst>
              </a:custGeom>
              <a:solidFill>
                <a:srgbClr val="12524D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0"/>
                <a:ext cx="4388136" cy="574772"/>
              </a:xfrm>
              <a:prstGeom prst="rect">
                <a:avLst/>
              </a:prstGeom>
            </p:spPr>
            <p:txBody>
              <a:bodyPr lIns="76319" tIns="76319" rIns="76319" bIns="76319" rtlCol="0" anchor="ctr"/>
              <a:lstStyle/>
              <a:p>
                <a:pPr algn="ctr">
                  <a:lnSpc>
                    <a:spcPts val="2704"/>
                  </a:lnSpc>
                </a:pPr>
                <a:r>
                  <a:rPr lang="en-US" sz="2253" b="1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Tool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5310553" y="26907"/>
              <a:ext cx="6809141" cy="689502"/>
              <a:chOff x="0" y="0"/>
              <a:chExt cx="5676127" cy="574772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5676127" cy="574772"/>
              </a:xfrm>
              <a:custGeom>
                <a:avLst/>
                <a:gdLst/>
                <a:ahLst/>
                <a:cxnLst/>
                <a:rect l="l" t="t" r="r" b="b"/>
                <a:pathLst>
                  <a:path w="5676127" h="574772">
                    <a:moveTo>
                      <a:pt x="0" y="0"/>
                    </a:moveTo>
                    <a:lnTo>
                      <a:pt x="5676127" y="0"/>
                    </a:lnTo>
                    <a:lnTo>
                      <a:pt x="5676127" y="574772"/>
                    </a:lnTo>
                    <a:lnTo>
                      <a:pt x="0" y="574772"/>
                    </a:lnTo>
                    <a:close/>
                  </a:path>
                </a:pathLst>
              </a:custGeom>
              <a:solidFill>
                <a:srgbClr val="12524D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0"/>
                <a:ext cx="5676127" cy="574772"/>
              </a:xfrm>
              <a:prstGeom prst="rect">
                <a:avLst/>
              </a:prstGeom>
            </p:spPr>
            <p:txBody>
              <a:bodyPr lIns="76319" tIns="76319" rIns="76319" bIns="76319" rtlCol="0" anchor="ctr"/>
              <a:lstStyle/>
              <a:p>
                <a:pPr algn="ctr">
                  <a:lnSpc>
                    <a:spcPts val="2704"/>
                  </a:lnSpc>
                </a:pPr>
                <a:r>
                  <a:rPr lang="en-US" sz="2253" b="1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Purpose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2792" y="701856"/>
              <a:ext cx="7897228" cy="687735"/>
              <a:chOff x="0" y="0"/>
              <a:chExt cx="6583161" cy="573298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6583161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6583161" h="573298">
                    <a:moveTo>
                      <a:pt x="0" y="0"/>
                    </a:moveTo>
                    <a:lnTo>
                      <a:pt x="6583161" y="0"/>
                    </a:lnTo>
                    <a:lnTo>
                      <a:pt x="6583161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DEEFDE"/>
              </a:solidFill>
            </p:spPr>
          </p:sp>
        </p:grpSp>
        <p:grpSp>
          <p:nvGrpSpPr>
            <p:cNvPr id="56" name="Group 56"/>
            <p:cNvGrpSpPr/>
            <p:nvPr/>
          </p:nvGrpSpPr>
          <p:grpSpPr>
            <a:xfrm>
              <a:off x="5310553" y="657103"/>
              <a:ext cx="6809141" cy="687735"/>
              <a:chOff x="0" y="0"/>
              <a:chExt cx="5676127" cy="573298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5676127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5676127" h="573298">
                    <a:moveTo>
                      <a:pt x="0" y="0"/>
                    </a:moveTo>
                    <a:lnTo>
                      <a:pt x="5676127" y="0"/>
                    </a:lnTo>
                    <a:lnTo>
                      <a:pt x="5676127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DEEFDE"/>
              </a:solidFill>
            </p:spPr>
          </p:sp>
        </p:grpSp>
        <p:grpSp>
          <p:nvGrpSpPr>
            <p:cNvPr id="58" name="Group 58"/>
            <p:cNvGrpSpPr/>
            <p:nvPr/>
          </p:nvGrpSpPr>
          <p:grpSpPr>
            <a:xfrm>
              <a:off x="1105242" y="716385"/>
              <a:ext cx="6686320" cy="658675"/>
              <a:chOff x="0" y="0"/>
              <a:chExt cx="5573743" cy="549074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557374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5573743" h="549074">
                    <a:moveTo>
                      <a:pt x="0" y="0"/>
                    </a:moveTo>
                    <a:lnTo>
                      <a:pt x="5573743" y="0"/>
                    </a:lnTo>
                    <a:lnTo>
                      <a:pt x="557374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69459" r="-11119" b="-170120"/>
                </a:stretch>
              </a:blipFill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0" y="0"/>
                <a:ext cx="5573743" cy="54907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53"/>
                  </a:lnSpc>
                </a:pPr>
                <a:r>
                  <a:rPr lang="en-US" sz="1877" b="1">
                    <a:solidFill>
                      <a:srgbClr val="133645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Python 3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5336363" y="716385"/>
              <a:ext cx="8792248" cy="658675"/>
              <a:chOff x="0" y="0"/>
              <a:chExt cx="7329252" cy="549074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732925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7329253" h="549074">
                    <a:moveTo>
                      <a:pt x="0" y="0"/>
                    </a:moveTo>
                    <a:lnTo>
                      <a:pt x="7329253" y="0"/>
                    </a:lnTo>
                    <a:lnTo>
                      <a:pt x="732925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38685" r="-11119" b="-239346"/>
                </a:stretch>
              </a:blipFill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0" y="-9525"/>
                <a:ext cx="7329252" cy="55859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27"/>
                  </a:lnSpc>
                </a:pPr>
                <a:r>
                  <a:rPr lang="en-US" sz="1772">
                    <a:solidFill>
                      <a:srgbClr val="17404D"/>
                    </a:solidFill>
                    <a:latin typeface="Aptos"/>
                    <a:ea typeface="Aptos"/>
                    <a:cs typeface="Aptos"/>
                    <a:sym typeface="Aptos"/>
                  </a:rPr>
                  <a:t>Processes market data and calculates earnings.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12792" y="1389590"/>
              <a:ext cx="7897228" cy="687735"/>
              <a:chOff x="0" y="0"/>
              <a:chExt cx="6583161" cy="573298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6583161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6583161" h="573298">
                    <a:moveTo>
                      <a:pt x="0" y="0"/>
                    </a:moveTo>
                    <a:lnTo>
                      <a:pt x="6583161" y="0"/>
                    </a:lnTo>
                    <a:lnTo>
                      <a:pt x="6583161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F4F9F5"/>
              </a:solidFill>
            </p:spPr>
          </p:sp>
        </p:grpSp>
        <p:grpSp>
          <p:nvGrpSpPr>
            <p:cNvPr id="66" name="Group 66"/>
            <p:cNvGrpSpPr/>
            <p:nvPr/>
          </p:nvGrpSpPr>
          <p:grpSpPr>
            <a:xfrm>
              <a:off x="5336363" y="1422500"/>
              <a:ext cx="6783331" cy="687735"/>
              <a:chOff x="0" y="0"/>
              <a:chExt cx="5654612" cy="573298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5654612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5654612" h="573298">
                    <a:moveTo>
                      <a:pt x="0" y="0"/>
                    </a:moveTo>
                    <a:lnTo>
                      <a:pt x="5654612" y="0"/>
                    </a:lnTo>
                    <a:lnTo>
                      <a:pt x="5654612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F4F9F5"/>
              </a:solidFill>
            </p:spPr>
          </p:sp>
        </p:grpSp>
        <p:grpSp>
          <p:nvGrpSpPr>
            <p:cNvPr id="68" name="Group 68"/>
            <p:cNvGrpSpPr/>
            <p:nvPr/>
          </p:nvGrpSpPr>
          <p:grpSpPr>
            <a:xfrm>
              <a:off x="1105242" y="1404120"/>
              <a:ext cx="6686320" cy="658675"/>
              <a:chOff x="0" y="0"/>
              <a:chExt cx="5573743" cy="549074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557374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5573743" h="549074">
                    <a:moveTo>
                      <a:pt x="0" y="0"/>
                    </a:moveTo>
                    <a:lnTo>
                      <a:pt x="5573743" y="0"/>
                    </a:lnTo>
                    <a:lnTo>
                      <a:pt x="557374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69459" r="-11119" b="-170120"/>
                </a:stretch>
              </a:blipFill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0" y="0"/>
                <a:ext cx="5573743" cy="54907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53"/>
                  </a:lnSpc>
                </a:pPr>
                <a:r>
                  <a:rPr lang="en-US" sz="1877" b="1">
                    <a:solidFill>
                      <a:srgbClr val="133645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Pandas &amp; NumPy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5336363" y="1375061"/>
              <a:ext cx="8792248" cy="658675"/>
              <a:chOff x="0" y="0"/>
              <a:chExt cx="7329252" cy="549074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732925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7329253" h="549074">
                    <a:moveTo>
                      <a:pt x="0" y="0"/>
                    </a:moveTo>
                    <a:lnTo>
                      <a:pt x="7329253" y="0"/>
                    </a:lnTo>
                    <a:lnTo>
                      <a:pt x="732925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38685" r="-11119" b="-239346"/>
                </a:stretch>
              </a:blipFill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0" y="-9525"/>
                <a:ext cx="7329252" cy="55859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27"/>
                  </a:lnSpc>
                </a:pPr>
                <a:r>
                  <a:rPr lang="en-US" sz="1772">
                    <a:solidFill>
                      <a:srgbClr val="17404D"/>
                    </a:solidFill>
                    <a:latin typeface="Aptos"/>
                    <a:ea typeface="Aptos"/>
                    <a:cs typeface="Aptos"/>
                    <a:sym typeface="Aptos"/>
                  </a:rPr>
                  <a:t>Organize data and perform calculations.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12792" y="2077325"/>
              <a:ext cx="7897228" cy="687735"/>
              <a:chOff x="0" y="0"/>
              <a:chExt cx="6583161" cy="573298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6583161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6583161" h="573298">
                    <a:moveTo>
                      <a:pt x="0" y="0"/>
                    </a:moveTo>
                    <a:lnTo>
                      <a:pt x="6583161" y="0"/>
                    </a:lnTo>
                    <a:lnTo>
                      <a:pt x="6583161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DEEFDE"/>
              </a:solidFill>
            </p:spPr>
          </p:sp>
        </p:grpSp>
        <p:grpSp>
          <p:nvGrpSpPr>
            <p:cNvPr id="76" name="Group 76"/>
            <p:cNvGrpSpPr/>
            <p:nvPr/>
          </p:nvGrpSpPr>
          <p:grpSpPr>
            <a:xfrm>
              <a:off x="5336363" y="2110234"/>
              <a:ext cx="6783331" cy="687735"/>
              <a:chOff x="0" y="0"/>
              <a:chExt cx="5654612" cy="573298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5654612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5654612" h="573298">
                    <a:moveTo>
                      <a:pt x="0" y="0"/>
                    </a:moveTo>
                    <a:lnTo>
                      <a:pt x="5654612" y="0"/>
                    </a:lnTo>
                    <a:lnTo>
                      <a:pt x="5654612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DEEFDE"/>
              </a:solidFill>
            </p:spPr>
          </p:sp>
        </p:grpSp>
        <p:grpSp>
          <p:nvGrpSpPr>
            <p:cNvPr id="78" name="Group 78"/>
            <p:cNvGrpSpPr/>
            <p:nvPr/>
          </p:nvGrpSpPr>
          <p:grpSpPr>
            <a:xfrm>
              <a:off x="1105242" y="2091855"/>
              <a:ext cx="6686320" cy="658675"/>
              <a:chOff x="0" y="0"/>
              <a:chExt cx="5573743" cy="549074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557374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5573743" h="549074">
                    <a:moveTo>
                      <a:pt x="0" y="0"/>
                    </a:moveTo>
                    <a:lnTo>
                      <a:pt x="5573743" y="0"/>
                    </a:lnTo>
                    <a:lnTo>
                      <a:pt x="557374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69459" r="-11119" b="-170120"/>
                </a:stretch>
              </a:blip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0" y="0"/>
                <a:ext cx="5573743" cy="54907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53"/>
                  </a:lnSpc>
                </a:pPr>
                <a:r>
                  <a:rPr lang="en-US" sz="1877" b="1">
                    <a:solidFill>
                      <a:srgbClr val="133645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Statsmodels (ARIMA)</a:t>
                </a: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5336363" y="2091855"/>
              <a:ext cx="8792248" cy="658675"/>
              <a:chOff x="0" y="0"/>
              <a:chExt cx="7329252" cy="549074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732925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7329253" h="549074">
                    <a:moveTo>
                      <a:pt x="0" y="0"/>
                    </a:moveTo>
                    <a:lnTo>
                      <a:pt x="7329253" y="0"/>
                    </a:lnTo>
                    <a:lnTo>
                      <a:pt x="732925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38685" r="-11119" b="-239346"/>
                </a:stretch>
              </a:blip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-9525"/>
                <a:ext cx="7329252" cy="55859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27"/>
                  </a:lnSpc>
                </a:pPr>
                <a:r>
                  <a:rPr lang="en-US" sz="1772">
                    <a:solidFill>
                      <a:srgbClr val="17404D"/>
                    </a:solidFill>
                    <a:latin typeface="Aptos"/>
                    <a:ea typeface="Aptos"/>
                    <a:cs typeface="Aptos"/>
                    <a:sym typeface="Aptos"/>
                  </a:rPr>
                  <a:t>Forecasts prices and analyzes prediction errors.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12792" y="2765060"/>
              <a:ext cx="7897228" cy="687735"/>
              <a:chOff x="0" y="0"/>
              <a:chExt cx="6583161" cy="573298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6583161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6583161" h="573298">
                    <a:moveTo>
                      <a:pt x="0" y="0"/>
                    </a:moveTo>
                    <a:lnTo>
                      <a:pt x="6583161" y="0"/>
                    </a:lnTo>
                    <a:lnTo>
                      <a:pt x="6583161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F4F9F5"/>
              </a:solidFill>
            </p:spPr>
          </p:sp>
        </p:grpSp>
        <p:grpSp>
          <p:nvGrpSpPr>
            <p:cNvPr id="86" name="Group 86"/>
            <p:cNvGrpSpPr/>
            <p:nvPr/>
          </p:nvGrpSpPr>
          <p:grpSpPr>
            <a:xfrm>
              <a:off x="5336363" y="2786758"/>
              <a:ext cx="9252919" cy="687735"/>
              <a:chOff x="0" y="0"/>
              <a:chExt cx="7713270" cy="573298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7713270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7713270" h="573298">
                    <a:moveTo>
                      <a:pt x="0" y="0"/>
                    </a:moveTo>
                    <a:lnTo>
                      <a:pt x="7713270" y="0"/>
                    </a:lnTo>
                    <a:lnTo>
                      <a:pt x="7713270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F4F9F5"/>
              </a:solidFill>
            </p:spPr>
          </p:sp>
        </p:grpSp>
        <p:grpSp>
          <p:nvGrpSpPr>
            <p:cNvPr id="88" name="Group 88"/>
            <p:cNvGrpSpPr/>
            <p:nvPr/>
          </p:nvGrpSpPr>
          <p:grpSpPr>
            <a:xfrm>
              <a:off x="1105242" y="2779589"/>
              <a:ext cx="6686320" cy="658675"/>
              <a:chOff x="0" y="0"/>
              <a:chExt cx="5573743" cy="549074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557374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5573743" h="549074">
                    <a:moveTo>
                      <a:pt x="0" y="0"/>
                    </a:moveTo>
                    <a:lnTo>
                      <a:pt x="5573743" y="0"/>
                    </a:lnTo>
                    <a:lnTo>
                      <a:pt x="557374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69459" r="-11119" b="-170120"/>
                </a:stretch>
              </a:blipFill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0" y="0"/>
                <a:ext cx="5573743" cy="54907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53"/>
                  </a:lnSpc>
                </a:pPr>
                <a:r>
                  <a:rPr lang="en-US" sz="1877" b="1">
                    <a:solidFill>
                      <a:srgbClr val="133645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Matplotlib / Plotly</a:t>
                </a: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5336363" y="2743774"/>
              <a:ext cx="6783331" cy="658675"/>
              <a:chOff x="0" y="0"/>
              <a:chExt cx="5654612" cy="549074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5654612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5654612" h="549074">
                    <a:moveTo>
                      <a:pt x="0" y="0"/>
                    </a:moveTo>
                    <a:lnTo>
                      <a:pt x="5654612" y="0"/>
                    </a:lnTo>
                    <a:lnTo>
                      <a:pt x="5654612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38685" r="-44028" b="-239346"/>
                </a:stretch>
              </a:blipFill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0" y="-9525"/>
                <a:ext cx="5654612" cy="55859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27"/>
                  </a:lnSpc>
                </a:pPr>
                <a:r>
                  <a:rPr lang="en-US" sz="1772">
                    <a:solidFill>
                      <a:srgbClr val="17404D"/>
                    </a:solidFill>
                    <a:latin typeface="Aptos"/>
                    <a:ea typeface="Aptos"/>
                    <a:cs typeface="Aptos"/>
                    <a:sym typeface="Aptos"/>
                  </a:rPr>
                  <a:t>Displays price trends and comparison charts.</a:t>
                </a: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12792" y="3452795"/>
              <a:ext cx="7897228" cy="687735"/>
              <a:chOff x="0" y="0"/>
              <a:chExt cx="6583161" cy="573298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6583161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6583161" h="573298">
                    <a:moveTo>
                      <a:pt x="0" y="0"/>
                    </a:moveTo>
                    <a:lnTo>
                      <a:pt x="6583161" y="0"/>
                    </a:lnTo>
                    <a:lnTo>
                      <a:pt x="6583161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DEEFDE"/>
              </a:solidFill>
            </p:spPr>
          </p:sp>
        </p:grpSp>
        <p:grpSp>
          <p:nvGrpSpPr>
            <p:cNvPr id="96" name="Group 96"/>
            <p:cNvGrpSpPr/>
            <p:nvPr/>
          </p:nvGrpSpPr>
          <p:grpSpPr>
            <a:xfrm>
              <a:off x="5281781" y="3478948"/>
              <a:ext cx="6837913" cy="687735"/>
              <a:chOff x="0" y="0"/>
              <a:chExt cx="5700111" cy="573298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5700111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5700111" h="573298">
                    <a:moveTo>
                      <a:pt x="0" y="0"/>
                    </a:moveTo>
                    <a:lnTo>
                      <a:pt x="5700111" y="0"/>
                    </a:lnTo>
                    <a:lnTo>
                      <a:pt x="5700111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DEEFDE"/>
              </a:solidFill>
            </p:spPr>
          </p:sp>
        </p:grpSp>
        <p:grpSp>
          <p:nvGrpSpPr>
            <p:cNvPr id="98" name="Group 98"/>
            <p:cNvGrpSpPr/>
            <p:nvPr/>
          </p:nvGrpSpPr>
          <p:grpSpPr>
            <a:xfrm>
              <a:off x="1105242" y="3467324"/>
              <a:ext cx="6686320" cy="658675"/>
              <a:chOff x="0" y="0"/>
              <a:chExt cx="5573743" cy="549074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0" y="0"/>
                <a:ext cx="557374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5573743" h="549074">
                    <a:moveTo>
                      <a:pt x="0" y="0"/>
                    </a:moveTo>
                    <a:lnTo>
                      <a:pt x="5573743" y="0"/>
                    </a:lnTo>
                    <a:lnTo>
                      <a:pt x="557374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69459" r="-11119" b="-170120"/>
                </a:stretch>
              </a:blipFill>
            </p:spPr>
          </p:sp>
          <p:sp>
            <p:nvSpPr>
              <p:cNvPr id="100" name="TextBox 100"/>
              <p:cNvSpPr txBox="1"/>
              <p:nvPr/>
            </p:nvSpPr>
            <p:spPr>
              <a:xfrm>
                <a:off x="0" y="0"/>
                <a:ext cx="5573743" cy="54907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53"/>
                  </a:lnSpc>
                </a:pPr>
                <a:r>
                  <a:rPr lang="en-US" sz="1877" b="1">
                    <a:solidFill>
                      <a:srgbClr val="133645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Streamlit</a:t>
                </a:r>
              </a:p>
            </p:txBody>
          </p:sp>
        </p:grpSp>
        <p:grpSp>
          <p:nvGrpSpPr>
            <p:cNvPr id="101" name="Group 101"/>
            <p:cNvGrpSpPr/>
            <p:nvPr/>
          </p:nvGrpSpPr>
          <p:grpSpPr>
            <a:xfrm>
              <a:off x="5336363" y="3493477"/>
              <a:ext cx="8792248" cy="658675"/>
              <a:chOff x="0" y="0"/>
              <a:chExt cx="7329252" cy="549074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0" y="0"/>
                <a:ext cx="732925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7329253" h="549074">
                    <a:moveTo>
                      <a:pt x="0" y="0"/>
                    </a:moveTo>
                    <a:lnTo>
                      <a:pt x="7329253" y="0"/>
                    </a:lnTo>
                    <a:lnTo>
                      <a:pt x="732925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38685" r="-11119" b="-239346"/>
                </a:stretch>
              </a:blipFill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0" y="-9525"/>
                <a:ext cx="7329252" cy="55859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27"/>
                  </a:lnSpc>
                </a:pPr>
                <a:r>
                  <a:rPr lang="en-US" sz="1772">
                    <a:solidFill>
                      <a:srgbClr val="17404D"/>
                    </a:solidFill>
                    <a:latin typeface="Aptos"/>
                    <a:ea typeface="Aptos"/>
                    <a:cs typeface="Aptos"/>
                    <a:sym typeface="Aptos"/>
                  </a:rPr>
                  <a:t>Creates the farmer-facing interface.</a:t>
                </a:r>
              </a:p>
            </p:txBody>
          </p:sp>
        </p:grpSp>
        <p:grpSp>
          <p:nvGrpSpPr>
            <p:cNvPr id="104" name="Group 104"/>
            <p:cNvGrpSpPr/>
            <p:nvPr/>
          </p:nvGrpSpPr>
          <p:grpSpPr>
            <a:xfrm>
              <a:off x="12792" y="4140529"/>
              <a:ext cx="7897228" cy="687735"/>
              <a:chOff x="0" y="0"/>
              <a:chExt cx="6583161" cy="573298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0" y="0"/>
                <a:ext cx="6583161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6583161" h="573298">
                    <a:moveTo>
                      <a:pt x="0" y="0"/>
                    </a:moveTo>
                    <a:lnTo>
                      <a:pt x="6583161" y="0"/>
                    </a:lnTo>
                    <a:lnTo>
                      <a:pt x="6583161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F4F9F5"/>
              </a:solidFill>
            </p:spPr>
          </p:sp>
        </p:grpSp>
        <p:grpSp>
          <p:nvGrpSpPr>
            <p:cNvPr id="106" name="Group 106"/>
            <p:cNvGrpSpPr/>
            <p:nvPr/>
          </p:nvGrpSpPr>
          <p:grpSpPr>
            <a:xfrm>
              <a:off x="5336363" y="4126000"/>
              <a:ext cx="6783331" cy="687735"/>
              <a:chOff x="0" y="0"/>
              <a:chExt cx="5654612" cy="573298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5654612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5654612" h="573298">
                    <a:moveTo>
                      <a:pt x="0" y="0"/>
                    </a:moveTo>
                    <a:lnTo>
                      <a:pt x="5654612" y="0"/>
                    </a:lnTo>
                    <a:lnTo>
                      <a:pt x="5654612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F4F9F5"/>
              </a:solidFill>
            </p:spPr>
          </p:sp>
        </p:grpSp>
        <p:grpSp>
          <p:nvGrpSpPr>
            <p:cNvPr id="108" name="Group 108"/>
            <p:cNvGrpSpPr/>
            <p:nvPr/>
          </p:nvGrpSpPr>
          <p:grpSpPr>
            <a:xfrm>
              <a:off x="1105242" y="4155059"/>
              <a:ext cx="6686320" cy="658675"/>
              <a:chOff x="0" y="0"/>
              <a:chExt cx="5573743" cy="549074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557374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5573743" h="549074">
                    <a:moveTo>
                      <a:pt x="0" y="0"/>
                    </a:moveTo>
                    <a:lnTo>
                      <a:pt x="5573743" y="0"/>
                    </a:lnTo>
                    <a:lnTo>
                      <a:pt x="557374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69459" r="-11119" b="-170120"/>
                </a:stretch>
              </a:blipFill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0" y="0"/>
                <a:ext cx="5573743" cy="54907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53"/>
                  </a:lnSpc>
                </a:pPr>
                <a:r>
                  <a:rPr lang="en-US" sz="1877" b="1">
                    <a:solidFill>
                      <a:srgbClr val="133645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Google Colab / Jupyter</a:t>
                </a: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5336363" y="4181212"/>
              <a:ext cx="8792248" cy="658675"/>
              <a:chOff x="0" y="0"/>
              <a:chExt cx="7329252" cy="549074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0" y="0"/>
                <a:ext cx="732925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7329253" h="549074">
                    <a:moveTo>
                      <a:pt x="0" y="0"/>
                    </a:moveTo>
                    <a:lnTo>
                      <a:pt x="7329253" y="0"/>
                    </a:lnTo>
                    <a:lnTo>
                      <a:pt x="732925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38685" r="-11119" b="-239346"/>
                </a:stretch>
              </a:blipFill>
            </p:spPr>
          </p:sp>
          <p:sp>
            <p:nvSpPr>
              <p:cNvPr id="113" name="TextBox 113"/>
              <p:cNvSpPr txBox="1"/>
              <p:nvPr/>
            </p:nvSpPr>
            <p:spPr>
              <a:xfrm>
                <a:off x="0" y="-9525"/>
                <a:ext cx="7329252" cy="55859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27"/>
                  </a:lnSpc>
                </a:pPr>
                <a:r>
                  <a:rPr lang="en-US" sz="1772">
                    <a:solidFill>
                      <a:srgbClr val="17404D"/>
                    </a:solidFill>
                    <a:latin typeface="Aptos"/>
                    <a:ea typeface="Aptos"/>
                    <a:cs typeface="Aptos"/>
                    <a:sym typeface="Aptos"/>
                  </a:rPr>
                  <a:t>Develops and tests the code.</a:t>
                </a:r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>
              <a:off x="12792" y="4828264"/>
              <a:ext cx="7897228" cy="687735"/>
              <a:chOff x="0" y="0"/>
              <a:chExt cx="6583161" cy="573298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6583161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6583161" h="573298">
                    <a:moveTo>
                      <a:pt x="0" y="0"/>
                    </a:moveTo>
                    <a:lnTo>
                      <a:pt x="6583161" y="0"/>
                    </a:lnTo>
                    <a:lnTo>
                      <a:pt x="6583161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DEEFDE"/>
              </a:solidFill>
            </p:spPr>
          </p:sp>
        </p:grpSp>
        <p:grpSp>
          <p:nvGrpSpPr>
            <p:cNvPr id="116" name="Group 116"/>
            <p:cNvGrpSpPr/>
            <p:nvPr/>
          </p:nvGrpSpPr>
          <p:grpSpPr>
            <a:xfrm>
              <a:off x="5310553" y="4813734"/>
              <a:ext cx="6809141" cy="687735"/>
              <a:chOff x="0" y="0"/>
              <a:chExt cx="5676127" cy="573298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5676127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5676127" h="573298">
                    <a:moveTo>
                      <a:pt x="0" y="0"/>
                    </a:moveTo>
                    <a:lnTo>
                      <a:pt x="5676127" y="0"/>
                    </a:lnTo>
                    <a:lnTo>
                      <a:pt x="5676127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DEEFDE"/>
              </a:solidFill>
            </p:spPr>
          </p:sp>
        </p:grpSp>
        <p:grpSp>
          <p:nvGrpSpPr>
            <p:cNvPr id="118" name="Group 118"/>
            <p:cNvGrpSpPr/>
            <p:nvPr/>
          </p:nvGrpSpPr>
          <p:grpSpPr>
            <a:xfrm>
              <a:off x="1105242" y="4842794"/>
              <a:ext cx="6686320" cy="658675"/>
              <a:chOff x="0" y="0"/>
              <a:chExt cx="5573743" cy="549074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557374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5573743" h="549074">
                    <a:moveTo>
                      <a:pt x="0" y="0"/>
                    </a:moveTo>
                    <a:lnTo>
                      <a:pt x="5573743" y="0"/>
                    </a:lnTo>
                    <a:lnTo>
                      <a:pt x="557374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69459" r="-11119" b="-170120"/>
                </a:stretch>
              </a:blipFill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0" y="0"/>
                <a:ext cx="5573743" cy="54907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53"/>
                  </a:lnSpc>
                </a:pPr>
                <a:r>
                  <a:rPr lang="en-US" sz="1877" b="1">
                    <a:solidFill>
                      <a:srgbClr val="133645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GitHub</a:t>
                </a: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5336363" y="4842794"/>
              <a:ext cx="8792248" cy="658675"/>
              <a:chOff x="0" y="0"/>
              <a:chExt cx="7329252" cy="549074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732925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7329253" h="549074">
                    <a:moveTo>
                      <a:pt x="0" y="0"/>
                    </a:moveTo>
                    <a:lnTo>
                      <a:pt x="7329253" y="0"/>
                    </a:lnTo>
                    <a:lnTo>
                      <a:pt x="732925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38685" r="-11119" b="-239346"/>
                </a:stretch>
              </a:blipFill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0" y="-9525"/>
                <a:ext cx="7329252" cy="55859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27"/>
                  </a:lnSpc>
                </a:pPr>
                <a:r>
                  <a:rPr lang="en-US" sz="1772">
                    <a:solidFill>
                      <a:srgbClr val="17404D"/>
                    </a:solidFill>
                    <a:latin typeface="Aptos"/>
                    <a:ea typeface="Aptos"/>
                    <a:cs typeface="Aptos"/>
                    <a:sym typeface="Aptos"/>
                  </a:rPr>
                  <a:t>Stores and shares project code.</a:t>
                </a:r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12792" y="5515999"/>
              <a:ext cx="7897228" cy="687735"/>
              <a:chOff x="0" y="0"/>
              <a:chExt cx="6583161" cy="573298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6583161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6583161" h="573298">
                    <a:moveTo>
                      <a:pt x="0" y="0"/>
                    </a:moveTo>
                    <a:lnTo>
                      <a:pt x="6583161" y="0"/>
                    </a:lnTo>
                    <a:lnTo>
                      <a:pt x="6583161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F4F9F5"/>
              </a:solidFill>
            </p:spPr>
          </p:sp>
        </p:grpSp>
        <p:grpSp>
          <p:nvGrpSpPr>
            <p:cNvPr id="126" name="Group 126"/>
            <p:cNvGrpSpPr/>
            <p:nvPr/>
          </p:nvGrpSpPr>
          <p:grpSpPr>
            <a:xfrm>
              <a:off x="5336363" y="5515999"/>
              <a:ext cx="6783331" cy="687735"/>
              <a:chOff x="0" y="0"/>
              <a:chExt cx="5654612" cy="573298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0" y="0"/>
                <a:ext cx="5654612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5654612" h="573298">
                    <a:moveTo>
                      <a:pt x="0" y="0"/>
                    </a:moveTo>
                    <a:lnTo>
                      <a:pt x="5654612" y="0"/>
                    </a:lnTo>
                    <a:lnTo>
                      <a:pt x="5654612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F4F9F5"/>
              </a:solidFill>
            </p:spPr>
          </p:sp>
        </p:grpSp>
        <p:grpSp>
          <p:nvGrpSpPr>
            <p:cNvPr id="128" name="Group 128"/>
            <p:cNvGrpSpPr/>
            <p:nvPr/>
          </p:nvGrpSpPr>
          <p:grpSpPr>
            <a:xfrm>
              <a:off x="1105242" y="5511610"/>
              <a:ext cx="6686320" cy="658675"/>
              <a:chOff x="0" y="0"/>
              <a:chExt cx="5573743" cy="549074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0" y="0"/>
                <a:ext cx="557374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5573743" h="549074">
                    <a:moveTo>
                      <a:pt x="0" y="0"/>
                    </a:moveTo>
                    <a:lnTo>
                      <a:pt x="5573743" y="0"/>
                    </a:lnTo>
                    <a:lnTo>
                      <a:pt x="557374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69459" r="-11119" b="-170120"/>
                </a:stretch>
              </a:blipFill>
            </p:spPr>
          </p:sp>
          <p:sp>
            <p:nvSpPr>
              <p:cNvPr id="130" name="TextBox 130"/>
              <p:cNvSpPr txBox="1"/>
              <p:nvPr/>
            </p:nvSpPr>
            <p:spPr>
              <a:xfrm>
                <a:off x="0" y="0"/>
                <a:ext cx="5573743" cy="54907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53"/>
                  </a:lnSpc>
                </a:pPr>
                <a:r>
                  <a:rPr lang="en-US" sz="1877" b="1">
                    <a:solidFill>
                      <a:srgbClr val="133645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Google Maps</a:t>
                </a:r>
              </a:p>
            </p:txBody>
          </p:sp>
        </p:grpSp>
        <p:grpSp>
          <p:nvGrpSpPr>
            <p:cNvPr id="131" name="Group 131"/>
            <p:cNvGrpSpPr/>
            <p:nvPr/>
          </p:nvGrpSpPr>
          <p:grpSpPr>
            <a:xfrm>
              <a:off x="5336363" y="5494713"/>
              <a:ext cx="8792248" cy="658675"/>
              <a:chOff x="0" y="0"/>
              <a:chExt cx="7329252" cy="549074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0" y="0"/>
                <a:ext cx="732925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7329253" h="549074">
                    <a:moveTo>
                      <a:pt x="0" y="0"/>
                    </a:moveTo>
                    <a:lnTo>
                      <a:pt x="7329253" y="0"/>
                    </a:lnTo>
                    <a:lnTo>
                      <a:pt x="732925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38685" r="-11119" b="-239346"/>
                </a:stretch>
              </a:blipFill>
            </p:spPr>
          </p:sp>
          <p:sp>
            <p:nvSpPr>
              <p:cNvPr id="133" name="TextBox 133"/>
              <p:cNvSpPr txBox="1"/>
              <p:nvPr/>
            </p:nvSpPr>
            <p:spPr>
              <a:xfrm>
                <a:off x="0" y="-9525"/>
                <a:ext cx="7329252" cy="55859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27"/>
                  </a:lnSpc>
                </a:pPr>
                <a:r>
                  <a:rPr lang="en-US" sz="1772">
                    <a:solidFill>
                      <a:srgbClr val="17404D"/>
                    </a:solidFill>
                    <a:latin typeface="Aptos"/>
                    <a:ea typeface="Aptos"/>
                    <a:cs typeface="Aptos"/>
                    <a:sym typeface="Aptos"/>
                  </a:rPr>
                  <a:t>Helps estimate distances to nearby mandis.</a:t>
                </a:r>
              </a:p>
            </p:txBody>
          </p:sp>
        </p:grpSp>
        <p:grpSp>
          <p:nvGrpSpPr>
            <p:cNvPr id="134" name="Group 134"/>
            <p:cNvGrpSpPr/>
            <p:nvPr/>
          </p:nvGrpSpPr>
          <p:grpSpPr>
            <a:xfrm>
              <a:off x="12792" y="6203733"/>
              <a:ext cx="7897228" cy="687735"/>
              <a:chOff x="0" y="0"/>
              <a:chExt cx="6583161" cy="573298"/>
            </a:xfrm>
          </p:grpSpPr>
          <p:sp>
            <p:nvSpPr>
              <p:cNvPr id="135" name="Freeform 135"/>
              <p:cNvSpPr/>
              <p:nvPr/>
            </p:nvSpPr>
            <p:spPr>
              <a:xfrm>
                <a:off x="0" y="0"/>
                <a:ext cx="6583161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6583161" h="573298">
                    <a:moveTo>
                      <a:pt x="0" y="0"/>
                    </a:moveTo>
                    <a:lnTo>
                      <a:pt x="6583161" y="0"/>
                    </a:lnTo>
                    <a:lnTo>
                      <a:pt x="6583161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DEEFDE"/>
              </a:solidFill>
            </p:spPr>
          </p:sp>
        </p:grpSp>
        <p:grpSp>
          <p:nvGrpSpPr>
            <p:cNvPr id="136" name="Group 136"/>
            <p:cNvGrpSpPr/>
            <p:nvPr/>
          </p:nvGrpSpPr>
          <p:grpSpPr>
            <a:xfrm>
              <a:off x="5336363" y="6189204"/>
              <a:ext cx="6783331" cy="687735"/>
              <a:chOff x="0" y="0"/>
              <a:chExt cx="5654612" cy="573298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5654612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5654612" h="573298">
                    <a:moveTo>
                      <a:pt x="0" y="0"/>
                    </a:moveTo>
                    <a:lnTo>
                      <a:pt x="5654612" y="0"/>
                    </a:lnTo>
                    <a:lnTo>
                      <a:pt x="5654612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DEEFDE"/>
              </a:solidFill>
            </p:spPr>
          </p:sp>
        </p:grpSp>
        <p:grpSp>
          <p:nvGrpSpPr>
            <p:cNvPr id="138" name="Group 138"/>
            <p:cNvGrpSpPr/>
            <p:nvPr/>
          </p:nvGrpSpPr>
          <p:grpSpPr>
            <a:xfrm>
              <a:off x="1105242" y="6218263"/>
              <a:ext cx="6686320" cy="658675"/>
              <a:chOff x="0" y="0"/>
              <a:chExt cx="5573743" cy="549074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0" y="0"/>
                <a:ext cx="557374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5573743" h="549074">
                    <a:moveTo>
                      <a:pt x="0" y="0"/>
                    </a:moveTo>
                    <a:lnTo>
                      <a:pt x="5573743" y="0"/>
                    </a:lnTo>
                    <a:lnTo>
                      <a:pt x="557374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69459" r="-11119" b="-170120"/>
                </a:stretch>
              </a:blipFill>
            </p:spPr>
          </p:sp>
          <p:sp>
            <p:nvSpPr>
              <p:cNvPr id="140" name="TextBox 140"/>
              <p:cNvSpPr txBox="1"/>
              <p:nvPr/>
            </p:nvSpPr>
            <p:spPr>
              <a:xfrm>
                <a:off x="0" y="0"/>
                <a:ext cx="5573743" cy="54907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53"/>
                  </a:lnSpc>
                </a:pPr>
                <a:r>
                  <a:rPr lang="en-US" sz="1877" b="1">
                    <a:solidFill>
                      <a:srgbClr val="133645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Prophet (Optional)</a:t>
                </a:r>
              </a:p>
            </p:txBody>
          </p:sp>
        </p:grpSp>
        <p:grpSp>
          <p:nvGrpSpPr>
            <p:cNvPr id="141" name="Group 141"/>
            <p:cNvGrpSpPr/>
            <p:nvPr/>
          </p:nvGrpSpPr>
          <p:grpSpPr>
            <a:xfrm>
              <a:off x="5336363" y="6163463"/>
              <a:ext cx="8792248" cy="658675"/>
              <a:chOff x="0" y="0"/>
              <a:chExt cx="7329252" cy="549074"/>
            </a:xfrm>
          </p:grpSpPr>
          <p:sp>
            <p:nvSpPr>
              <p:cNvPr id="142" name="Freeform 142"/>
              <p:cNvSpPr/>
              <p:nvPr/>
            </p:nvSpPr>
            <p:spPr>
              <a:xfrm>
                <a:off x="0" y="0"/>
                <a:ext cx="732925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7329253" h="549074">
                    <a:moveTo>
                      <a:pt x="0" y="0"/>
                    </a:moveTo>
                    <a:lnTo>
                      <a:pt x="7329253" y="0"/>
                    </a:lnTo>
                    <a:lnTo>
                      <a:pt x="732925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38685" r="-11119" b="-239346"/>
                </a:stretch>
              </a:blipFill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0" y="-9525"/>
                <a:ext cx="7329252" cy="55859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27"/>
                  </a:lnSpc>
                </a:pPr>
                <a:r>
                  <a:rPr lang="en-US" sz="1772">
                    <a:solidFill>
                      <a:srgbClr val="17404D"/>
                    </a:solidFill>
                    <a:latin typeface="Aptos"/>
                    <a:ea typeface="Aptos"/>
                    <a:cs typeface="Aptos"/>
                    <a:sym typeface="Aptos"/>
                  </a:rPr>
                  <a:t>Provides an alternative price-forecasting method.</a:t>
                </a:r>
              </a:p>
            </p:txBody>
          </p:sp>
        </p:grpSp>
        <p:grpSp>
          <p:nvGrpSpPr>
            <p:cNvPr id="144" name="Group 144"/>
            <p:cNvGrpSpPr/>
            <p:nvPr/>
          </p:nvGrpSpPr>
          <p:grpSpPr>
            <a:xfrm>
              <a:off x="12792" y="6891468"/>
              <a:ext cx="7897228" cy="687735"/>
              <a:chOff x="0" y="0"/>
              <a:chExt cx="6583161" cy="573298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0" y="0"/>
                <a:ext cx="6583161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6583161" h="573298">
                    <a:moveTo>
                      <a:pt x="0" y="0"/>
                    </a:moveTo>
                    <a:lnTo>
                      <a:pt x="6583161" y="0"/>
                    </a:lnTo>
                    <a:lnTo>
                      <a:pt x="6583161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F4F9F5"/>
              </a:solidFill>
            </p:spPr>
          </p:sp>
        </p:grpSp>
        <p:grpSp>
          <p:nvGrpSpPr>
            <p:cNvPr id="146" name="Group 146"/>
            <p:cNvGrpSpPr/>
            <p:nvPr/>
          </p:nvGrpSpPr>
          <p:grpSpPr>
            <a:xfrm>
              <a:off x="5336363" y="6891468"/>
              <a:ext cx="9252919" cy="687735"/>
              <a:chOff x="0" y="0"/>
              <a:chExt cx="7713270" cy="573298"/>
            </a:xfrm>
          </p:grpSpPr>
          <p:sp>
            <p:nvSpPr>
              <p:cNvPr id="147" name="Freeform 147"/>
              <p:cNvSpPr/>
              <p:nvPr/>
            </p:nvSpPr>
            <p:spPr>
              <a:xfrm>
                <a:off x="0" y="0"/>
                <a:ext cx="7713270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7713270" h="573298">
                    <a:moveTo>
                      <a:pt x="0" y="0"/>
                    </a:moveTo>
                    <a:lnTo>
                      <a:pt x="7713270" y="0"/>
                    </a:lnTo>
                    <a:lnTo>
                      <a:pt x="7713270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F4F9F5"/>
              </a:solidFill>
            </p:spPr>
          </p:sp>
        </p:grpSp>
        <p:grpSp>
          <p:nvGrpSpPr>
            <p:cNvPr id="148" name="Group 148"/>
            <p:cNvGrpSpPr/>
            <p:nvPr/>
          </p:nvGrpSpPr>
          <p:grpSpPr>
            <a:xfrm>
              <a:off x="1105242" y="6905998"/>
              <a:ext cx="6686320" cy="658675"/>
              <a:chOff x="0" y="0"/>
              <a:chExt cx="5573743" cy="549074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557374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5573743" h="549074">
                    <a:moveTo>
                      <a:pt x="0" y="0"/>
                    </a:moveTo>
                    <a:lnTo>
                      <a:pt x="5573743" y="0"/>
                    </a:lnTo>
                    <a:lnTo>
                      <a:pt x="557374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69459" r="-11119" b="-170120"/>
                </a:stretch>
              </a:blipFill>
            </p:spPr>
          </p:sp>
          <p:sp>
            <p:nvSpPr>
              <p:cNvPr id="150" name="TextBox 150"/>
              <p:cNvSpPr txBox="1"/>
              <p:nvPr/>
            </p:nvSpPr>
            <p:spPr>
              <a:xfrm>
                <a:off x="0" y="0"/>
                <a:ext cx="5573743" cy="54907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53"/>
                  </a:lnSpc>
                </a:pPr>
                <a:r>
                  <a:rPr lang="en-US" sz="1877" b="1">
                    <a:solidFill>
                      <a:srgbClr val="133645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SciPy (Optional)</a:t>
                </a:r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5310553" y="6905998"/>
              <a:ext cx="8792248" cy="658675"/>
              <a:chOff x="0" y="0"/>
              <a:chExt cx="7329252" cy="549074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732925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7329253" h="549074">
                    <a:moveTo>
                      <a:pt x="0" y="0"/>
                    </a:moveTo>
                    <a:lnTo>
                      <a:pt x="7329253" y="0"/>
                    </a:lnTo>
                    <a:lnTo>
                      <a:pt x="732925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38685" r="-11119" b="-239346"/>
                </a:stretch>
              </a:blipFill>
            </p:spPr>
          </p:sp>
          <p:sp>
            <p:nvSpPr>
              <p:cNvPr id="153" name="TextBox 153"/>
              <p:cNvSpPr txBox="1"/>
              <p:nvPr/>
            </p:nvSpPr>
            <p:spPr>
              <a:xfrm>
                <a:off x="0" y="-9525"/>
                <a:ext cx="7329252" cy="55859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27"/>
                  </a:lnSpc>
                </a:pPr>
                <a:r>
                  <a:rPr lang="en-US" sz="1772">
                    <a:solidFill>
                      <a:srgbClr val="17404D"/>
                    </a:solidFill>
                    <a:latin typeface="Aptos"/>
                    <a:ea typeface="Aptos"/>
                    <a:cs typeface="Aptos"/>
                    <a:sym typeface="Aptos"/>
                  </a:rPr>
                  <a:t>Supports mathematical calculations.</a:t>
                </a:r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12792" y="7579203"/>
              <a:ext cx="7897228" cy="687735"/>
              <a:chOff x="0" y="0"/>
              <a:chExt cx="6583161" cy="573298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6583161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6583161" h="573298">
                    <a:moveTo>
                      <a:pt x="0" y="0"/>
                    </a:moveTo>
                    <a:lnTo>
                      <a:pt x="6583161" y="0"/>
                    </a:lnTo>
                    <a:lnTo>
                      <a:pt x="6583161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DEEFDE"/>
              </a:solidFill>
            </p:spPr>
          </p:sp>
        </p:grpSp>
        <p:grpSp>
          <p:nvGrpSpPr>
            <p:cNvPr id="156" name="Group 156"/>
            <p:cNvGrpSpPr/>
            <p:nvPr/>
          </p:nvGrpSpPr>
          <p:grpSpPr>
            <a:xfrm>
              <a:off x="5336363" y="7579203"/>
              <a:ext cx="6783331" cy="687735"/>
              <a:chOff x="0" y="0"/>
              <a:chExt cx="5654612" cy="573298"/>
            </a:xfrm>
          </p:grpSpPr>
          <p:sp>
            <p:nvSpPr>
              <p:cNvPr id="157" name="Freeform 157"/>
              <p:cNvSpPr/>
              <p:nvPr/>
            </p:nvSpPr>
            <p:spPr>
              <a:xfrm>
                <a:off x="0" y="0"/>
                <a:ext cx="5654612" cy="573298"/>
              </a:xfrm>
              <a:custGeom>
                <a:avLst/>
                <a:gdLst/>
                <a:ahLst/>
                <a:cxnLst/>
                <a:rect l="l" t="t" r="r" b="b"/>
                <a:pathLst>
                  <a:path w="5654612" h="573298">
                    <a:moveTo>
                      <a:pt x="0" y="0"/>
                    </a:moveTo>
                    <a:lnTo>
                      <a:pt x="5654612" y="0"/>
                    </a:lnTo>
                    <a:lnTo>
                      <a:pt x="5654612" y="573298"/>
                    </a:lnTo>
                    <a:lnTo>
                      <a:pt x="0" y="573298"/>
                    </a:lnTo>
                    <a:close/>
                  </a:path>
                </a:pathLst>
              </a:custGeom>
              <a:solidFill>
                <a:srgbClr val="DEEFDE"/>
              </a:solidFill>
            </p:spPr>
          </p:sp>
        </p:grpSp>
        <p:grpSp>
          <p:nvGrpSpPr>
            <p:cNvPr id="158" name="Group 158"/>
            <p:cNvGrpSpPr/>
            <p:nvPr/>
          </p:nvGrpSpPr>
          <p:grpSpPr>
            <a:xfrm>
              <a:off x="1105242" y="7593732"/>
              <a:ext cx="6686320" cy="658675"/>
              <a:chOff x="0" y="0"/>
              <a:chExt cx="5573743" cy="549074"/>
            </a:xfrm>
          </p:grpSpPr>
          <p:sp>
            <p:nvSpPr>
              <p:cNvPr id="159" name="Freeform 159"/>
              <p:cNvSpPr/>
              <p:nvPr/>
            </p:nvSpPr>
            <p:spPr>
              <a:xfrm>
                <a:off x="0" y="0"/>
                <a:ext cx="557374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5573743" h="549074">
                    <a:moveTo>
                      <a:pt x="0" y="0"/>
                    </a:moveTo>
                    <a:lnTo>
                      <a:pt x="5573743" y="0"/>
                    </a:lnTo>
                    <a:lnTo>
                      <a:pt x="557374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69459" r="-11119" b="-170120"/>
                </a:stretch>
              </a:blipFill>
            </p:spPr>
          </p:sp>
          <p:sp>
            <p:nvSpPr>
              <p:cNvPr id="160" name="TextBox 160"/>
              <p:cNvSpPr txBox="1"/>
              <p:nvPr/>
            </p:nvSpPr>
            <p:spPr>
              <a:xfrm>
                <a:off x="0" y="0"/>
                <a:ext cx="5573743" cy="54907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53"/>
                  </a:lnSpc>
                </a:pPr>
                <a:r>
                  <a:rPr lang="en-US" sz="1877" b="1">
                    <a:solidFill>
                      <a:srgbClr val="133645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python-telegram-bot </a:t>
                </a:r>
              </a:p>
            </p:txBody>
          </p:sp>
        </p:grpSp>
        <p:grpSp>
          <p:nvGrpSpPr>
            <p:cNvPr id="161" name="Group 161"/>
            <p:cNvGrpSpPr/>
            <p:nvPr/>
          </p:nvGrpSpPr>
          <p:grpSpPr>
            <a:xfrm>
              <a:off x="5336363" y="7641198"/>
              <a:ext cx="8792248" cy="658675"/>
              <a:chOff x="0" y="0"/>
              <a:chExt cx="7329252" cy="549074"/>
            </a:xfrm>
          </p:grpSpPr>
          <p:sp>
            <p:nvSpPr>
              <p:cNvPr id="162" name="Freeform 162"/>
              <p:cNvSpPr/>
              <p:nvPr/>
            </p:nvSpPr>
            <p:spPr>
              <a:xfrm>
                <a:off x="0" y="0"/>
                <a:ext cx="7329253" cy="549074"/>
              </a:xfrm>
              <a:custGeom>
                <a:avLst/>
                <a:gdLst/>
                <a:ahLst/>
                <a:cxnLst/>
                <a:rect l="l" t="t" r="r" b="b"/>
                <a:pathLst>
                  <a:path w="7329253" h="549074">
                    <a:moveTo>
                      <a:pt x="0" y="0"/>
                    </a:moveTo>
                    <a:lnTo>
                      <a:pt x="7329253" y="0"/>
                    </a:lnTo>
                    <a:lnTo>
                      <a:pt x="7329253" y="549074"/>
                    </a:lnTo>
                    <a:lnTo>
                      <a:pt x="0" y="54907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38685" r="-11119" b="-239346"/>
                </a:stretch>
              </a:blipFill>
            </p:spPr>
          </p:sp>
          <p:sp>
            <p:nvSpPr>
              <p:cNvPr id="163" name="TextBox 163"/>
              <p:cNvSpPr txBox="1"/>
              <p:nvPr/>
            </p:nvSpPr>
            <p:spPr>
              <a:xfrm>
                <a:off x="0" y="-9525"/>
                <a:ext cx="7329252" cy="55859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27"/>
                  </a:lnSpc>
                </a:pPr>
                <a:r>
                  <a:rPr lang="en-US" sz="1772">
                    <a:solidFill>
                      <a:srgbClr val="17404D"/>
                    </a:solidFill>
                    <a:latin typeface="Aptos"/>
                    <a:ea typeface="Aptos"/>
                    <a:cs typeface="Aptos"/>
                    <a:sym typeface="Aptos"/>
                  </a:rPr>
                  <a:t>Enables interaction through Telegram.</a:t>
                </a:r>
              </a:p>
            </p:txBody>
          </p:sp>
        </p:grpSp>
        <p:grpSp>
          <p:nvGrpSpPr>
            <p:cNvPr id="164" name="Group 164"/>
            <p:cNvGrpSpPr/>
            <p:nvPr/>
          </p:nvGrpSpPr>
          <p:grpSpPr>
            <a:xfrm>
              <a:off x="5279319" y="14121"/>
              <a:ext cx="57043" cy="8252817"/>
              <a:chOff x="0" y="0"/>
              <a:chExt cx="47552" cy="6879580"/>
            </a:xfrm>
          </p:grpSpPr>
          <p:sp>
            <p:nvSpPr>
              <p:cNvPr id="165" name="Freeform 165"/>
              <p:cNvSpPr/>
              <p:nvPr/>
            </p:nvSpPr>
            <p:spPr>
              <a:xfrm>
                <a:off x="0" y="0"/>
                <a:ext cx="47469" cy="6879581"/>
              </a:xfrm>
              <a:custGeom>
                <a:avLst/>
                <a:gdLst/>
                <a:ahLst/>
                <a:cxnLst/>
                <a:rect l="l" t="t" r="r" b="b"/>
                <a:pathLst>
                  <a:path w="47469" h="6879581">
                    <a:moveTo>
                      <a:pt x="0" y="0"/>
                    </a:moveTo>
                    <a:lnTo>
                      <a:pt x="47469" y="0"/>
                    </a:lnTo>
                    <a:lnTo>
                      <a:pt x="47469" y="6879581"/>
                    </a:lnTo>
                    <a:lnTo>
                      <a:pt x="0" y="6879581"/>
                    </a:lnTo>
                    <a:close/>
                  </a:path>
                </a:pathLst>
              </a:custGeom>
              <a:solidFill>
                <a:srgbClr val="9CC0B5"/>
              </a:solidFill>
            </p:spPr>
          </p:sp>
        </p:grpSp>
        <p:grpSp>
          <p:nvGrpSpPr>
            <p:cNvPr id="166" name="Group 166"/>
            <p:cNvGrpSpPr/>
            <p:nvPr/>
          </p:nvGrpSpPr>
          <p:grpSpPr>
            <a:xfrm>
              <a:off x="12792" y="662775"/>
              <a:ext cx="17150147" cy="50704"/>
              <a:chOff x="0" y="0"/>
              <a:chExt cx="14296431" cy="42267"/>
            </a:xfrm>
          </p:grpSpPr>
          <p:sp>
            <p:nvSpPr>
              <p:cNvPr id="167" name="Freeform 167"/>
              <p:cNvSpPr/>
              <p:nvPr/>
            </p:nvSpPr>
            <p:spPr>
              <a:xfrm>
                <a:off x="0" y="0"/>
                <a:ext cx="14296431" cy="42293"/>
              </a:xfrm>
              <a:custGeom>
                <a:avLst/>
                <a:gdLst/>
                <a:ahLst/>
                <a:cxnLst/>
                <a:rect l="l" t="t" r="r" b="b"/>
                <a:pathLst>
                  <a:path w="14296431" h="42293">
                    <a:moveTo>
                      <a:pt x="0" y="0"/>
                    </a:moveTo>
                    <a:lnTo>
                      <a:pt x="14296431" y="0"/>
                    </a:lnTo>
                    <a:lnTo>
                      <a:pt x="14296431" y="42293"/>
                    </a:lnTo>
                    <a:lnTo>
                      <a:pt x="0" y="42293"/>
                    </a:lnTo>
                    <a:close/>
                  </a:path>
                </a:pathLst>
              </a:custGeom>
              <a:solidFill>
                <a:srgbClr val="DCEAE2"/>
              </a:solidFill>
            </p:spPr>
          </p:sp>
        </p:grpSp>
        <p:grpSp>
          <p:nvGrpSpPr>
            <p:cNvPr id="168" name="Group 168"/>
            <p:cNvGrpSpPr/>
            <p:nvPr/>
          </p:nvGrpSpPr>
          <p:grpSpPr>
            <a:xfrm>
              <a:off x="12792" y="1350510"/>
              <a:ext cx="17150147" cy="50704"/>
              <a:chOff x="0" y="0"/>
              <a:chExt cx="14296431" cy="42267"/>
            </a:xfrm>
          </p:grpSpPr>
          <p:sp>
            <p:nvSpPr>
              <p:cNvPr id="169" name="Freeform 169"/>
              <p:cNvSpPr/>
              <p:nvPr/>
            </p:nvSpPr>
            <p:spPr>
              <a:xfrm>
                <a:off x="0" y="0"/>
                <a:ext cx="14296431" cy="42293"/>
              </a:xfrm>
              <a:custGeom>
                <a:avLst/>
                <a:gdLst/>
                <a:ahLst/>
                <a:cxnLst/>
                <a:rect l="l" t="t" r="r" b="b"/>
                <a:pathLst>
                  <a:path w="14296431" h="42293">
                    <a:moveTo>
                      <a:pt x="0" y="0"/>
                    </a:moveTo>
                    <a:lnTo>
                      <a:pt x="14296431" y="0"/>
                    </a:lnTo>
                    <a:lnTo>
                      <a:pt x="14296431" y="42293"/>
                    </a:lnTo>
                    <a:lnTo>
                      <a:pt x="0" y="42293"/>
                    </a:lnTo>
                    <a:close/>
                  </a:path>
                </a:pathLst>
              </a:custGeom>
              <a:solidFill>
                <a:srgbClr val="DCEAE2"/>
              </a:solidFill>
            </p:spPr>
          </p:sp>
        </p:grpSp>
        <p:grpSp>
          <p:nvGrpSpPr>
            <p:cNvPr id="170" name="Group 170"/>
            <p:cNvGrpSpPr/>
            <p:nvPr/>
          </p:nvGrpSpPr>
          <p:grpSpPr>
            <a:xfrm>
              <a:off x="12792" y="2038245"/>
              <a:ext cx="17150147" cy="50704"/>
              <a:chOff x="0" y="0"/>
              <a:chExt cx="14296431" cy="42267"/>
            </a:xfrm>
          </p:grpSpPr>
          <p:sp>
            <p:nvSpPr>
              <p:cNvPr id="171" name="Freeform 171"/>
              <p:cNvSpPr/>
              <p:nvPr/>
            </p:nvSpPr>
            <p:spPr>
              <a:xfrm>
                <a:off x="0" y="0"/>
                <a:ext cx="14296431" cy="42293"/>
              </a:xfrm>
              <a:custGeom>
                <a:avLst/>
                <a:gdLst/>
                <a:ahLst/>
                <a:cxnLst/>
                <a:rect l="l" t="t" r="r" b="b"/>
                <a:pathLst>
                  <a:path w="14296431" h="42293">
                    <a:moveTo>
                      <a:pt x="0" y="0"/>
                    </a:moveTo>
                    <a:lnTo>
                      <a:pt x="14296431" y="0"/>
                    </a:lnTo>
                    <a:lnTo>
                      <a:pt x="14296431" y="42293"/>
                    </a:lnTo>
                    <a:lnTo>
                      <a:pt x="0" y="42293"/>
                    </a:lnTo>
                    <a:close/>
                  </a:path>
                </a:pathLst>
              </a:custGeom>
              <a:solidFill>
                <a:srgbClr val="DCEAE2"/>
              </a:solidFill>
            </p:spPr>
          </p:sp>
        </p:grpSp>
        <p:grpSp>
          <p:nvGrpSpPr>
            <p:cNvPr id="172" name="Group 172"/>
            <p:cNvGrpSpPr/>
            <p:nvPr/>
          </p:nvGrpSpPr>
          <p:grpSpPr>
            <a:xfrm>
              <a:off x="12792" y="2725979"/>
              <a:ext cx="17150147" cy="50704"/>
              <a:chOff x="0" y="0"/>
              <a:chExt cx="14296431" cy="42267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0" y="0"/>
                <a:ext cx="14296431" cy="42293"/>
              </a:xfrm>
              <a:custGeom>
                <a:avLst/>
                <a:gdLst/>
                <a:ahLst/>
                <a:cxnLst/>
                <a:rect l="l" t="t" r="r" b="b"/>
                <a:pathLst>
                  <a:path w="14296431" h="42293">
                    <a:moveTo>
                      <a:pt x="0" y="0"/>
                    </a:moveTo>
                    <a:lnTo>
                      <a:pt x="14296431" y="0"/>
                    </a:lnTo>
                    <a:lnTo>
                      <a:pt x="14296431" y="42293"/>
                    </a:lnTo>
                    <a:lnTo>
                      <a:pt x="0" y="42293"/>
                    </a:lnTo>
                    <a:close/>
                  </a:path>
                </a:pathLst>
              </a:custGeom>
              <a:solidFill>
                <a:srgbClr val="DCEAE2"/>
              </a:solidFill>
            </p:spPr>
          </p:sp>
        </p:grpSp>
        <p:grpSp>
          <p:nvGrpSpPr>
            <p:cNvPr id="174" name="Group 174"/>
            <p:cNvGrpSpPr/>
            <p:nvPr/>
          </p:nvGrpSpPr>
          <p:grpSpPr>
            <a:xfrm>
              <a:off x="12792" y="3413714"/>
              <a:ext cx="17150147" cy="50704"/>
              <a:chOff x="0" y="0"/>
              <a:chExt cx="14296431" cy="42267"/>
            </a:xfrm>
          </p:grpSpPr>
          <p:sp>
            <p:nvSpPr>
              <p:cNvPr id="175" name="Freeform 175"/>
              <p:cNvSpPr/>
              <p:nvPr/>
            </p:nvSpPr>
            <p:spPr>
              <a:xfrm>
                <a:off x="0" y="0"/>
                <a:ext cx="14296431" cy="42293"/>
              </a:xfrm>
              <a:custGeom>
                <a:avLst/>
                <a:gdLst/>
                <a:ahLst/>
                <a:cxnLst/>
                <a:rect l="l" t="t" r="r" b="b"/>
                <a:pathLst>
                  <a:path w="14296431" h="42293">
                    <a:moveTo>
                      <a:pt x="0" y="0"/>
                    </a:moveTo>
                    <a:lnTo>
                      <a:pt x="14296431" y="0"/>
                    </a:lnTo>
                    <a:lnTo>
                      <a:pt x="14296431" y="42293"/>
                    </a:lnTo>
                    <a:lnTo>
                      <a:pt x="0" y="42293"/>
                    </a:lnTo>
                    <a:close/>
                  </a:path>
                </a:pathLst>
              </a:custGeom>
              <a:solidFill>
                <a:srgbClr val="DCEAE2"/>
              </a:solidFill>
            </p:spPr>
          </p:sp>
        </p:grpSp>
        <p:grpSp>
          <p:nvGrpSpPr>
            <p:cNvPr id="176" name="Group 176"/>
            <p:cNvGrpSpPr/>
            <p:nvPr/>
          </p:nvGrpSpPr>
          <p:grpSpPr>
            <a:xfrm>
              <a:off x="12792" y="4101449"/>
              <a:ext cx="17150147" cy="50704"/>
              <a:chOff x="0" y="0"/>
              <a:chExt cx="14296431" cy="42267"/>
            </a:xfrm>
          </p:grpSpPr>
          <p:sp>
            <p:nvSpPr>
              <p:cNvPr id="177" name="Freeform 177"/>
              <p:cNvSpPr/>
              <p:nvPr/>
            </p:nvSpPr>
            <p:spPr>
              <a:xfrm>
                <a:off x="0" y="0"/>
                <a:ext cx="14296431" cy="42293"/>
              </a:xfrm>
              <a:custGeom>
                <a:avLst/>
                <a:gdLst/>
                <a:ahLst/>
                <a:cxnLst/>
                <a:rect l="l" t="t" r="r" b="b"/>
                <a:pathLst>
                  <a:path w="14296431" h="42293">
                    <a:moveTo>
                      <a:pt x="0" y="0"/>
                    </a:moveTo>
                    <a:lnTo>
                      <a:pt x="14296431" y="0"/>
                    </a:lnTo>
                    <a:lnTo>
                      <a:pt x="14296431" y="42293"/>
                    </a:lnTo>
                    <a:lnTo>
                      <a:pt x="0" y="42293"/>
                    </a:lnTo>
                    <a:close/>
                  </a:path>
                </a:pathLst>
              </a:custGeom>
              <a:solidFill>
                <a:srgbClr val="DCEAE2"/>
              </a:solidFill>
            </p:spPr>
          </p:sp>
        </p:grpSp>
        <p:grpSp>
          <p:nvGrpSpPr>
            <p:cNvPr id="178" name="Group 178"/>
            <p:cNvGrpSpPr/>
            <p:nvPr/>
          </p:nvGrpSpPr>
          <p:grpSpPr>
            <a:xfrm>
              <a:off x="12792" y="4789183"/>
              <a:ext cx="17150147" cy="50704"/>
              <a:chOff x="0" y="0"/>
              <a:chExt cx="14296431" cy="42267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0" y="0"/>
                <a:ext cx="14296431" cy="42293"/>
              </a:xfrm>
              <a:custGeom>
                <a:avLst/>
                <a:gdLst/>
                <a:ahLst/>
                <a:cxnLst/>
                <a:rect l="l" t="t" r="r" b="b"/>
                <a:pathLst>
                  <a:path w="14296431" h="42293">
                    <a:moveTo>
                      <a:pt x="0" y="0"/>
                    </a:moveTo>
                    <a:lnTo>
                      <a:pt x="14296431" y="0"/>
                    </a:lnTo>
                    <a:lnTo>
                      <a:pt x="14296431" y="42293"/>
                    </a:lnTo>
                    <a:lnTo>
                      <a:pt x="0" y="42293"/>
                    </a:lnTo>
                    <a:close/>
                  </a:path>
                </a:pathLst>
              </a:custGeom>
              <a:solidFill>
                <a:srgbClr val="DCEAE2"/>
              </a:solidFill>
            </p:spPr>
          </p:sp>
        </p:grpSp>
        <p:grpSp>
          <p:nvGrpSpPr>
            <p:cNvPr id="180" name="Group 180"/>
            <p:cNvGrpSpPr/>
            <p:nvPr/>
          </p:nvGrpSpPr>
          <p:grpSpPr>
            <a:xfrm>
              <a:off x="12792" y="5476918"/>
              <a:ext cx="17150147" cy="50704"/>
              <a:chOff x="0" y="0"/>
              <a:chExt cx="14296431" cy="42267"/>
            </a:xfrm>
          </p:grpSpPr>
          <p:sp>
            <p:nvSpPr>
              <p:cNvPr id="181" name="Freeform 181"/>
              <p:cNvSpPr/>
              <p:nvPr/>
            </p:nvSpPr>
            <p:spPr>
              <a:xfrm>
                <a:off x="0" y="0"/>
                <a:ext cx="14296431" cy="42293"/>
              </a:xfrm>
              <a:custGeom>
                <a:avLst/>
                <a:gdLst/>
                <a:ahLst/>
                <a:cxnLst/>
                <a:rect l="l" t="t" r="r" b="b"/>
                <a:pathLst>
                  <a:path w="14296431" h="42293">
                    <a:moveTo>
                      <a:pt x="0" y="0"/>
                    </a:moveTo>
                    <a:lnTo>
                      <a:pt x="14296431" y="0"/>
                    </a:lnTo>
                    <a:lnTo>
                      <a:pt x="14296431" y="42293"/>
                    </a:lnTo>
                    <a:lnTo>
                      <a:pt x="0" y="42293"/>
                    </a:lnTo>
                    <a:close/>
                  </a:path>
                </a:pathLst>
              </a:custGeom>
              <a:solidFill>
                <a:srgbClr val="DCEAE2"/>
              </a:solidFill>
            </p:spPr>
          </p:sp>
        </p:grpSp>
        <p:grpSp>
          <p:nvGrpSpPr>
            <p:cNvPr id="182" name="Group 182"/>
            <p:cNvGrpSpPr/>
            <p:nvPr/>
          </p:nvGrpSpPr>
          <p:grpSpPr>
            <a:xfrm>
              <a:off x="12792" y="6164653"/>
              <a:ext cx="17150147" cy="50704"/>
              <a:chOff x="0" y="0"/>
              <a:chExt cx="14296431" cy="42267"/>
            </a:xfrm>
          </p:grpSpPr>
          <p:sp>
            <p:nvSpPr>
              <p:cNvPr id="183" name="Freeform 183"/>
              <p:cNvSpPr/>
              <p:nvPr/>
            </p:nvSpPr>
            <p:spPr>
              <a:xfrm>
                <a:off x="0" y="0"/>
                <a:ext cx="14296431" cy="42293"/>
              </a:xfrm>
              <a:custGeom>
                <a:avLst/>
                <a:gdLst/>
                <a:ahLst/>
                <a:cxnLst/>
                <a:rect l="l" t="t" r="r" b="b"/>
                <a:pathLst>
                  <a:path w="14296431" h="42293">
                    <a:moveTo>
                      <a:pt x="0" y="0"/>
                    </a:moveTo>
                    <a:lnTo>
                      <a:pt x="14296431" y="0"/>
                    </a:lnTo>
                    <a:lnTo>
                      <a:pt x="14296431" y="42293"/>
                    </a:lnTo>
                    <a:lnTo>
                      <a:pt x="0" y="42293"/>
                    </a:lnTo>
                    <a:close/>
                  </a:path>
                </a:pathLst>
              </a:custGeom>
              <a:solidFill>
                <a:srgbClr val="DCEAE2"/>
              </a:solidFill>
            </p:spPr>
          </p:sp>
        </p:grpSp>
        <p:grpSp>
          <p:nvGrpSpPr>
            <p:cNvPr id="184" name="Group 184"/>
            <p:cNvGrpSpPr/>
            <p:nvPr/>
          </p:nvGrpSpPr>
          <p:grpSpPr>
            <a:xfrm>
              <a:off x="12792" y="6852388"/>
              <a:ext cx="17150147" cy="50704"/>
              <a:chOff x="0" y="0"/>
              <a:chExt cx="14296431" cy="42267"/>
            </a:xfrm>
          </p:grpSpPr>
          <p:sp>
            <p:nvSpPr>
              <p:cNvPr id="185" name="Freeform 185"/>
              <p:cNvSpPr/>
              <p:nvPr/>
            </p:nvSpPr>
            <p:spPr>
              <a:xfrm>
                <a:off x="0" y="0"/>
                <a:ext cx="14296431" cy="42293"/>
              </a:xfrm>
              <a:custGeom>
                <a:avLst/>
                <a:gdLst/>
                <a:ahLst/>
                <a:cxnLst/>
                <a:rect l="l" t="t" r="r" b="b"/>
                <a:pathLst>
                  <a:path w="14296431" h="42293">
                    <a:moveTo>
                      <a:pt x="0" y="0"/>
                    </a:moveTo>
                    <a:lnTo>
                      <a:pt x="14296431" y="0"/>
                    </a:lnTo>
                    <a:lnTo>
                      <a:pt x="14296431" y="42293"/>
                    </a:lnTo>
                    <a:lnTo>
                      <a:pt x="0" y="42293"/>
                    </a:lnTo>
                    <a:close/>
                  </a:path>
                </a:pathLst>
              </a:custGeom>
              <a:solidFill>
                <a:srgbClr val="DCEAE2"/>
              </a:solidFill>
            </p:spPr>
          </p:sp>
        </p:grpSp>
        <p:grpSp>
          <p:nvGrpSpPr>
            <p:cNvPr id="186" name="Group 186"/>
            <p:cNvGrpSpPr/>
            <p:nvPr/>
          </p:nvGrpSpPr>
          <p:grpSpPr>
            <a:xfrm>
              <a:off x="12792" y="7540122"/>
              <a:ext cx="17150147" cy="50704"/>
              <a:chOff x="0" y="0"/>
              <a:chExt cx="14296431" cy="42267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0" y="0"/>
                <a:ext cx="14296431" cy="42293"/>
              </a:xfrm>
              <a:custGeom>
                <a:avLst/>
                <a:gdLst/>
                <a:ahLst/>
                <a:cxnLst/>
                <a:rect l="l" t="t" r="r" b="b"/>
                <a:pathLst>
                  <a:path w="14296431" h="42293">
                    <a:moveTo>
                      <a:pt x="0" y="0"/>
                    </a:moveTo>
                    <a:lnTo>
                      <a:pt x="14296431" y="0"/>
                    </a:lnTo>
                    <a:lnTo>
                      <a:pt x="14296431" y="42293"/>
                    </a:lnTo>
                    <a:lnTo>
                      <a:pt x="0" y="42293"/>
                    </a:lnTo>
                    <a:close/>
                  </a:path>
                </a:pathLst>
              </a:custGeom>
              <a:solidFill>
                <a:srgbClr val="DCEAE2"/>
              </a:solidFill>
            </p:spPr>
          </p:sp>
        </p:grpSp>
      </p:grpSp>
      <p:grpSp>
        <p:nvGrpSpPr>
          <p:cNvPr id="188" name="Group 188"/>
          <p:cNvGrpSpPr/>
          <p:nvPr/>
        </p:nvGrpSpPr>
        <p:grpSpPr>
          <a:xfrm>
            <a:off x="9263166" y="2788356"/>
            <a:ext cx="9024377" cy="478212"/>
            <a:chOff x="0" y="0"/>
            <a:chExt cx="2376791" cy="125949"/>
          </a:xfrm>
        </p:grpSpPr>
        <p:sp>
          <p:nvSpPr>
            <p:cNvPr id="189" name="Freeform 189"/>
            <p:cNvSpPr/>
            <p:nvPr/>
          </p:nvSpPr>
          <p:spPr>
            <a:xfrm>
              <a:off x="0" y="0"/>
              <a:ext cx="2376791" cy="125949"/>
            </a:xfrm>
            <a:custGeom>
              <a:avLst/>
              <a:gdLst/>
              <a:ahLst/>
              <a:cxnLst/>
              <a:rect l="l" t="t" r="r" b="b"/>
              <a:pathLst>
                <a:path w="2376791" h="125949">
                  <a:moveTo>
                    <a:pt x="0" y="0"/>
                  </a:moveTo>
                  <a:lnTo>
                    <a:pt x="2376791" y="0"/>
                  </a:lnTo>
                  <a:lnTo>
                    <a:pt x="2376791" y="125949"/>
                  </a:lnTo>
                  <a:lnTo>
                    <a:pt x="0" y="125949"/>
                  </a:ln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id="190" name="TextBox 190"/>
            <p:cNvSpPr txBox="1"/>
            <p:nvPr/>
          </p:nvSpPr>
          <p:spPr>
            <a:xfrm>
              <a:off x="0" y="-47625"/>
              <a:ext cx="2376791" cy="1735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91" name="TextBox 191"/>
          <p:cNvSpPr txBox="1"/>
          <p:nvPr/>
        </p:nvSpPr>
        <p:spPr>
          <a:xfrm>
            <a:off x="294553" y="7735959"/>
            <a:ext cx="8906602" cy="148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059" lvl="1" indent="-228530" algn="l">
              <a:lnSpc>
                <a:spcPts val="2286"/>
              </a:lnSpc>
              <a:buFont typeface="Arial"/>
              <a:buChar char="•"/>
            </a:pPr>
            <a:r>
              <a:rPr lang="en-US" sz="211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Data - </a:t>
            </a:r>
            <a:r>
              <a:rPr lang="en-US" sz="21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Agmarknet, CEDA, and data.gov.in.</a:t>
            </a:r>
          </a:p>
          <a:p>
            <a:pPr marL="457059" lvl="1" indent="-228530" algn="l">
              <a:lnSpc>
                <a:spcPts val="2286"/>
              </a:lnSpc>
              <a:buFont typeface="Arial"/>
              <a:buChar char="•"/>
            </a:pPr>
            <a:r>
              <a:rPr lang="en-US" sz="211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Local Information - Market distances, transport costs, fees, spoilage rates</a:t>
            </a:r>
          </a:p>
          <a:p>
            <a:pPr marL="457059" lvl="1" indent="-228530" algn="l">
              <a:lnSpc>
                <a:spcPts val="2286"/>
              </a:lnSpc>
              <a:buFont typeface="Arial"/>
              <a:buChar char="•"/>
            </a:pPr>
            <a:r>
              <a:rPr lang="en-US" sz="211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Members</a:t>
            </a:r>
            <a:r>
              <a:rPr lang="en-US" sz="21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 -  Data, forecasting, decision engine, interface members </a:t>
            </a:r>
          </a:p>
          <a:p>
            <a:pPr marL="457059" lvl="1" indent="-228530" algn="l">
              <a:lnSpc>
                <a:spcPts val="2286"/>
              </a:lnSpc>
              <a:buFont typeface="Arial"/>
              <a:buChar char="•"/>
            </a:pPr>
            <a:r>
              <a:rPr lang="en-US" sz="211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Expert Support -  Faculty mentor and feedback from 3–5 farmers </a:t>
            </a:r>
          </a:p>
          <a:p>
            <a:pPr marL="457059" lvl="1" indent="-228530" algn="l">
              <a:lnSpc>
                <a:spcPts val="2286"/>
              </a:lnSpc>
              <a:spcBef>
                <a:spcPct val="0"/>
              </a:spcBef>
              <a:buFont typeface="Arial"/>
              <a:buChar char="•"/>
            </a:pPr>
            <a:r>
              <a:rPr lang="en-US" sz="211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Language Support</a:t>
            </a:r>
            <a:r>
              <a:rPr lang="en-US" sz="21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- Tamil translation and review.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1896764" y="649590"/>
            <a:ext cx="1456036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Nexus0</a:t>
            </a:r>
          </a:p>
        </p:txBody>
      </p:sp>
      <p:sp>
        <p:nvSpPr>
          <p:cNvPr id="193" name="TextBox 193"/>
          <p:cNvSpPr txBox="1"/>
          <p:nvPr/>
        </p:nvSpPr>
        <p:spPr>
          <a:xfrm>
            <a:off x="9277355" y="1735038"/>
            <a:ext cx="8659093" cy="990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HARDWARE REQUIRMENTS</a:t>
            </a:r>
          </a:p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Laptop for development (8 GB RAM),Smartphone for farmer access.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100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94" name="TextBox 194"/>
          <p:cNvSpPr txBox="1"/>
          <p:nvPr/>
        </p:nvSpPr>
        <p:spPr>
          <a:xfrm>
            <a:off x="94355" y="2501014"/>
            <a:ext cx="9071077" cy="81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Insights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endParaRPr lang="en-US" sz="2799" b="1">
              <a:solidFill>
                <a:srgbClr val="FFFFFF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95" name="TextBox 195"/>
          <p:cNvSpPr txBox="1"/>
          <p:nvPr/>
        </p:nvSpPr>
        <p:spPr>
          <a:xfrm>
            <a:off x="94812" y="4486318"/>
            <a:ext cx="9070619" cy="224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20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Opportunity Areas</a:t>
            </a:r>
          </a:p>
          <a:p>
            <a:pPr marL="453367" lvl="1" indent="-226684" algn="l">
              <a:lnSpc>
                <a:spcPts val="2519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 Recommendations</a:t>
            </a:r>
            <a:r>
              <a:rPr lang="en-US" sz="2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Suggest the most profitable selling option.</a:t>
            </a:r>
          </a:p>
          <a:p>
            <a:pPr marL="453367" lvl="1" indent="-226684" algn="l">
              <a:lnSpc>
                <a:spcPts val="2519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Price Forecasting:</a:t>
            </a:r>
            <a:r>
              <a:rPr lang="en-US" sz="2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Estimate future prices and market uncertainty.</a:t>
            </a:r>
          </a:p>
          <a:p>
            <a:pPr marL="453367" lvl="1" indent="-226684" algn="l">
              <a:lnSpc>
                <a:spcPts val="2519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Market Comparison: </a:t>
            </a:r>
            <a:r>
              <a:rPr lang="en-US" sz="2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 nearby markets based on expected net earnings.</a:t>
            </a:r>
          </a:p>
          <a:p>
            <a:pPr marL="453367" lvl="1" indent="-226684" algn="l">
              <a:lnSpc>
                <a:spcPts val="2519"/>
              </a:lnSpc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Risk Awareness: </a:t>
            </a:r>
            <a:r>
              <a:rPr lang="en-US" sz="2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Help farmers decide whether to sell now or wait.</a:t>
            </a:r>
          </a:p>
          <a:p>
            <a:pPr marL="453367" lvl="1" indent="-226684" algn="l">
              <a:lnSpc>
                <a:spcPts val="2519"/>
              </a:lnSpc>
              <a:spcBef>
                <a:spcPct val="0"/>
              </a:spcBef>
              <a:buFont typeface="Arial"/>
              <a:buChar char="•"/>
            </a:pPr>
            <a:r>
              <a:rPr lang="en-US" sz="20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Easy Access:</a:t>
            </a:r>
            <a:r>
              <a:rPr lang="en-US" sz="20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Provide a simple, farmer-friendly interface.</a:t>
            </a:r>
          </a:p>
        </p:txBody>
      </p:sp>
      <p:sp>
        <p:nvSpPr>
          <p:cNvPr id="196" name="TextBox 196"/>
          <p:cNvSpPr txBox="1"/>
          <p:nvPr/>
        </p:nvSpPr>
        <p:spPr>
          <a:xfrm>
            <a:off x="12449060" y="2822674"/>
            <a:ext cx="3400539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DCEAE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SOFTWARE REQUIRMENTS</a:t>
            </a:r>
          </a:p>
        </p:txBody>
      </p:sp>
      <p:grpSp>
        <p:nvGrpSpPr>
          <p:cNvPr id="197" name="Group 197"/>
          <p:cNvGrpSpPr/>
          <p:nvPr/>
        </p:nvGrpSpPr>
        <p:grpSpPr>
          <a:xfrm>
            <a:off x="9277355" y="3833747"/>
            <a:ext cx="659398" cy="5698873"/>
            <a:chOff x="0" y="0"/>
            <a:chExt cx="879198" cy="7598497"/>
          </a:xfrm>
        </p:grpSpPr>
        <p:grpSp>
          <p:nvGrpSpPr>
            <p:cNvPr id="198" name="Group 198"/>
            <p:cNvGrpSpPr/>
            <p:nvPr/>
          </p:nvGrpSpPr>
          <p:grpSpPr>
            <a:xfrm>
              <a:off x="0" y="0"/>
              <a:ext cx="879198" cy="711362"/>
              <a:chOff x="0" y="0"/>
              <a:chExt cx="585216" cy="473500"/>
            </a:xfrm>
          </p:grpSpPr>
          <p:sp>
            <p:nvSpPr>
              <p:cNvPr id="199" name="Freeform 199"/>
              <p:cNvSpPr/>
              <p:nvPr/>
            </p:nvSpPr>
            <p:spPr>
              <a:xfrm>
                <a:off x="0" y="0"/>
                <a:ext cx="585216" cy="473500"/>
              </a:xfrm>
              <a:custGeom>
                <a:avLst/>
                <a:gdLst/>
                <a:ahLst/>
                <a:cxnLst/>
                <a:rect l="l" t="t" r="r" b="b"/>
                <a:pathLst>
                  <a:path w="585216" h="473500">
                    <a:moveTo>
                      <a:pt x="0" y="0"/>
                    </a:moveTo>
                    <a:lnTo>
                      <a:pt x="585216" y="0"/>
                    </a:lnTo>
                    <a:lnTo>
                      <a:pt x="585216" y="473500"/>
                    </a:lnTo>
                    <a:lnTo>
                      <a:pt x="0" y="4735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1175" r="-71175" b="-16727"/>
                </a:stretch>
              </a:blipFill>
            </p:spPr>
          </p:sp>
          <p:sp>
            <p:nvSpPr>
              <p:cNvPr id="200" name="TextBox 200"/>
              <p:cNvSpPr txBox="1"/>
              <p:nvPr/>
            </p:nvSpPr>
            <p:spPr>
              <a:xfrm>
                <a:off x="0" y="-38100"/>
                <a:ext cx="585216" cy="511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84"/>
                  </a:lnSpc>
                </a:pPr>
                <a:r>
                  <a:rPr lang="en-US" sz="2403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🐍</a:t>
                </a:r>
              </a:p>
            </p:txBody>
          </p:sp>
        </p:grpSp>
        <p:grpSp>
          <p:nvGrpSpPr>
            <p:cNvPr id="201" name="Group 201"/>
            <p:cNvGrpSpPr/>
            <p:nvPr/>
          </p:nvGrpSpPr>
          <p:grpSpPr>
            <a:xfrm>
              <a:off x="0" y="646210"/>
              <a:ext cx="879198" cy="711362"/>
              <a:chOff x="0" y="0"/>
              <a:chExt cx="585216" cy="473500"/>
            </a:xfrm>
          </p:grpSpPr>
          <p:sp>
            <p:nvSpPr>
              <p:cNvPr id="202" name="Freeform 202"/>
              <p:cNvSpPr/>
              <p:nvPr/>
            </p:nvSpPr>
            <p:spPr>
              <a:xfrm>
                <a:off x="0" y="0"/>
                <a:ext cx="585216" cy="473500"/>
              </a:xfrm>
              <a:custGeom>
                <a:avLst/>
                <a:gdLst/>
                <a:ahLst/>
                <a:cxnLst/>
                <a:rect l="l" t="t" r="r" b="b"/>
                <a:pathLst>
                  <a:path w="585216" h="473500">
                    <a:moveTo>
                      <a:pt x="0" y="0"/>
                    </a:moveTo>
                    <a:lnTo>
                      <a:pt x="585216" y="0"/>
                    </a:lnTo>
                    <a:lnTo>
                      <a:pt x="585216" y="473500"/>
                    </a:lnTo>
                    <a:lnTo>
                      <a:pt x="0" y="4735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1175" r="-71175" b="-16727"/>
                </a:stretch>
              </a:blipFill>
            </p:spPr>
          </p:sp>
          <p:sp>
            <p:nvSpPr>
              <p:cNvPr id="203" name="TextBox 203"/>
              <p:cNvSpPr txBox="1"/>
              <p:nvPr/>
            </p:nvSpPr>
            <p:spPr>
              <a:xfrm>
                <a:off x="0" y="-38100"/>
                <a:ext cx="585216" cy="511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84"/>
                  </a:lnSpc>
                </a:pPr>
                <a:r>
                  <a:rPr lang="en-US" sz="2403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▥</a:t>
                </a:r>
              </a:p>
            </p:txBody>
          </p:sp>
        </p:grpSp>
        <p:grpSp>
          <p:nvGrpSpPr>
            <p:cNvPr id="204" name="Group 204"/>
            <p:cNvGrpSpPr/>
            <p:nvPr/>
          </p:nvGrpSpPr>
          <p:grpSpPr>
            <a:xfrm>
              <a:off x="0" y="1339646"/>
              <a:ext cx="879198" cy="711362"/>
              <a:chOff x="0" y="0"/>
              <a:chExt cx="585216" cy="473500"/>
            </a:xfrm>
          </p:grpSpPr>
          <p:sp>
            <p:nvSpPr>
              <p:cNvPr id="205" name="Freeform 205"/>
              <p:cNvSpPr/>
              <p:nvPr/>
            </p:nvSpPr>
            <p:spPr>
              <a:xfrm>
                <a:off x="0" y="0"/>
                <a:ext cx="585216" cy="473500"/>
              </a:xfrm>
              <a:custGeom>
                <a:avLst/>
                <a:gdLst/>
                <a:ahLst/>
                <a:cxnLst/>
                <a:rect l="l" t="t" r="r" b="b"/>
                <a:pathLst>
                  <a:path w="585216" h="473500">
                    <a:moveTo>
                      <a:pt x="0" y="0"/>
                    </a:moveTo>
                    <a:lnTo>
                      <a:pt x="585216" y="0"/>
                    </a:lnTo>
                    <a:lnTo>
                      <a:pt x="585216" y="473500"/>
                    </a:lnTo>
                    <a:lnTo>
                      <a:pt x="0" y="4735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1175" r="-71175" b="-16727"/>
                </a:stretch>
              </a:blipFill>
            </p:spPr>
          </p:sp>
          <p:sp>
            <p:nvSpPr>
              <p:cNvPr id="206" name="TextBox 206"/>
              <p:cNvSpPr txBox="1"/>
              <p:nvPr/>
            </p:nvSpPr>
            <p:spPr>
              <a:xfrm>
                <a:off x="0" y="-38100"/>
                <a:ext cx="585216" cy="511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84"/>
                  </a:lnSpc>
                </a:pPr>
                <a:r>
                  <a:rPr lang="en-US" sz="2403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📈</a:t>
                </a:r>
              </a:p>
            </p:txBody>
          </p:sp>
        </p:grpSp>
        <p:grpSp>
          <p:nvGrpSpPr>
            <p:cNvPr id="207" name="Group 207"/>
            <p:cNvGrpSpPr/>
            <p:nvPr/>
          </p:nvGrpSpPr>
          <p:grpSpPr>
            <a:xfrm>
              <a:off x="0" y="1941707"/>
              <a:ext cx="879198" cy="802738"/>
              <a:chOff x="0" y="0"/>
              <a:chExt cx="585216" cy="534322"/>
            </a:xfrm>
          </p:grpSpPr>
          <p:sp>
            <p:nvSpPr>
              <p:cNvPr id="208" name="Freeform 208"/>
              <p:cNvSpPr/>
              <p:nvPr/>
            </p:nvSpPr>
            <p:spPr>
              <a:xfrm>
                <a:off x="0" y="0"/>
                <a:ext cx="585216" cy="534322"/>
              </a:xfrm>
              <a:custGeom>
                <a:avLst/>
                <a:gdLst/>
                <a:ahLst/>
                <a:cxnLst/>
                <a:rect l="l" t="t" r="r" b="b"/>
                <a:pathLst>
                  <a:path w="585216" h="534322">
                    <a:moveTo>
                      <a:pt x="0" y="0"/>
                    </a:moveTo>
                    <a:lnTo>
                      <a:pt x="585216" y="0"/>
                    </a:lnTo>
                    <a:lnTo>
                      <a:pt x="585216" y="534322"/>
                    </a:lnTo>
                    <a:lnTo>
                      <a:pt x="0" y="53432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1175" r="-71175" b="-3440"/>
                </a:stretch>
              </a:blipFill>
            </p:spPr>
          </p:sp>
          <p:sp>
            <p:nvSpPr>
              <p:cNvPr id="209" name="TextBox 209"/>
              <p:cNvSpPr txBox="1"/>
              <p:nvPr/>
            </p:nvSpPr>
            <p:spPr>
              <a:xfrm>
                <a:off x="0" y="0"/>
                <a:ext cx="585216" cy="53432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84"/>
                  </a:lnSpc>
                </a:pPr>
                <a:r>
                  <a:rPr lang="en-US" sz="2403">
                    <a:solidFill>
                      <a:srgbClr val="000000"/>
                    </a:solidFill>
                    <a:latin typeface="Segoe UI"/>
                    <a:ea typeface="Segoe UI"/>
                    <a:cs typeface="Segoe UI"/>
                    <a:sym typeface="Segoe UI"/>
                  </a:rPr>
                  <a:t>↗</a:t>
                </a:r>
              </a:p>
            </p:txBody>
          </p:sp>
        </p:grpSp>
        <p:grpSp>
          <p:nvGrpSpPr>
            <p:cNvPr id="210" name="Group 210"/>
            <p:cNvGrpSpPr/>
            <p:nvPr/>
          </p:nvGrpSpPr>
          <p:grpSpPr>
            <a:xfrm>
              <a:off x="0" y="2726519"/>
              <a:ext cx="879198" cy="711362"/>
              <a:chOff x="0" y="0"/>
              <a:chExt cx="585216" cy="473500"/>
            </a:xfrm>
          </p:grpSpPr>
          <p:sp>
            <p:nvSpPr>
              <p:cNvPr id="211" name="Freeform 211"/>
              <p:cNvSpPr/>
              <p:nvPr/>
            </p:nvSpPr>
            <p:spPr>
              <a:xfrm>
                <a:off x="0" y="0"/>
                <a:ext cx="585216" cy="473500"/>
              </a:xfrm>
              <a:custGeom>
                <a:avLst/>
                <a:gdLst/>
                <a:ahLst/>
                <a:cxnLst/>
                <a:rect l="l" t="t" r="r" b="b"/>
                <a:pathLst>
                  <a:path w="585216" h="473500">
                    <a:moveTo>
                      <a:pt x="0" y="0"/>
                    </a:moveTo>
                    <a:lnTo>
                      <a:pt x="585216" y="0"/>
                    </a:lnTo>
                    <a:lnTo>
                      <a:pt x="585216" y="473500"/>
                    </a:lnTo>
                    <a:lnTo>
                      <a:pt x="0" y="4735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1175" r="-71175" b="-16727"/>
                </a:stretch>
              </a:blipFill>
            </p:spPr>
          </p:sp>
          <p:sp>
            <p:nvSpPr>
              <p:cNvPr id="212" name="TextBox 212"/>
              <p:cNvSpPr txBox="1"/>
              <p:nvPr/>
            </p:nvSpPr>
            <p:spPr>
              <a:xfrm>
                <a:off x="0" y="-38100"/>
                <a:ext cx="585216" cy="511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84"/>
                  </a:lnSpc>
                </a:pPr>
                <a:r>
                  <a:rPr lang="en-US" sz="2403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◆</a:t>
                </a:r>
              </a:p>
            </p:txBody>
          </p:sp>
        </p:grpSp>
        <p:grpSp>
          <p:nvGrpSpPr>
            <p:cNvPr id="213" name="Group 213"/>
            <p:cNvGrpSpPr/>
            <p:nvPr/>
          </p:nvGrpSpPr>
          <p:grpSpPr>
            <a:xfrm>
              <a:off x="0" y="3419955"/>
              <a:ext cx="879198" cy="711362"/>
              <a:chOff x="0" y="0"/>
              <a:chExt cx="585216" cy="473500"/>
            </a:xfrm>
          </p:grpSpPr>
          <p:sp>
            <p:nvSpPr>
              <p:cNvPr id="214" name="Freeform 214"/>
              <p:cNvSpPr/>
              <p:nvPr/>
            </p:nvSpPr>
            <p:spPr>
              <a:xfrm>
                <a:off x="0" y="0"/>
                <a:ext cx="585216" cy="473500"/>
              </a:xfrm>
              <a:custGeom>
                <a:avLst/>
                <a:gdLst/>
                <a:ahLst/>
                <a:cxnLst/>
                <a:rect l="l" t="t" r="r" b="b"/>
                <a:pathLst>
                  <a:path w="585216" h="473500">
                    <a:moveTo>
                      <a:pt x="0" y="0"/>
                    </a:moveTo>
                    <a:lnTo>
                      <a:pt x="585216" y="0"/>
                    </a:lnTo>
                    <a:lnTo>
                      <a:pt x="585216" y="473500"/>
                    </a:lnTo>
                    <a:lnTo>
                      <a:pt x="0" y="4735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1175" r="-71175" b="-16727"/>
                </a:stretch>
              </a:blipFill>
            </p:spPr>
          </p:sp>
          <p:sp>
            <p:nvSpPr>
              <p:cNvPr id="215" name="TextBox 215"/>
              <p:cNvSpPr txBox="1"/>
              <p:nvPr/>
            </p:nvSpPr>
            <p:spPr>
              <a:xfrm>
                <a:off x="0" y="-38100"/>
                <a:ext cx="585216" cy="511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84"/>
                  </a:lnSpc>
                </a:pPr>
                <a:r>
                  <a:rPr lang="en-US" sz="2403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🪐</a:t>
                </a:r>
              </a:p>
            </p:txBody>
          </p:sp>
        </p:grpSp>
        <p:grpSp>
          <p:nvGrpSpPr>
            <p:cNvPr id="216" name="Group 216"/>
            <p:cNvGrpSpPr/>
            <p:nvPr/>
          </p:nvGrpSpPr>
          <p:grpSpPr>
            <a:xfrm>
              <a:off x="0" y="4113391"/>
              <a:ext cx="879198" cy="711362"/>
              <a:chOff x="0" y="0"/>
              <a:chExt cx="585216" cy="473500"/>
            </a:xfrm>
          </p:grpSpPr>
          <p:sp>
            <p:nvSpPr>
              <p:cNvPr id="217" name="Freeform 217"/>
              <p:cNvSpPr/>
              <p:nvPr/>
            </p:nvSpPr>
            <p:spPr>
              <a:xfrm>
                <a:off x="0" y="0"/>
                <a:ext cx="585216" cy="473500"/>
              </a:xfrm>
              <a:custGeom>
                <a:avLst/>
                <a:gdLst/>
                <a:ahLst/>
                <a:cxnLst/>
                <a:rect l="l" t="t" r="r" b="b"/>
                <a:pathLst>
                  <a:path w="585216" h="473500">
                    <a:moveTo>
                      <a:pt x="0" y="0"/>
                    </a:moveTo>
                    <a:lnTo>
                      <a:pt x="585216" y="0"/>
                    </a:lnTo>
                    <a:lnTo>
                      <a:pt x="585216" y="473500"/>
                    </a:lnTo>
                    <a:lnTo>
                      <a:pt x="0" y="4735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1175" r="-71175" b="-16727"/>
                </a:stretch>
              </a:blipFill>
            </p:spPr>
          </p:sp>
          <p:sp>
            <p:nvSpPr>
              <p:cNvPr id="218" name="TextBox 218"/>
              <p:cNvSpPr txBox="1"/>
              <p:nvPr/>
            </p:nvSpPr>
            <p:spPr>
              <a:xfrm>
                <a:off x="0" y="-38100"/>
                <a:ext cx="585216" cy="511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84"/>
                  </a:lnSpc>
                </a:pPr>
                <a:r>
                  <a:rPr lang="en-US" sz="2403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●</a:t>
                </a:r>
              </a:p>
            </p:txBody>
          </p:sp>
        </p:grpSp>
        <p:grpSp>
          <p:nvGrpSpPr>
            <p:cNvPr id="219" name="Group 219"/>
            <p:cNvGrpSpPr/>
            <p:nvPr/>
          </p:nvGrpSpPr>
          <p:grpSpPr>
            <a:xfrm>
              <a:off x="0" y="4806827"/>
              <a:ext cx="879198" cy="711362"/>
              <a:chOff x="0" y="0"/>
              <a:chExt cx="585216" cy="473500"/>
            </a:xfrm>
          </p:grpSpPr>
          <p:sp>
            <p:nvSpPr>
              <p:cNvPr id="220" name="Freeform 220"/>
              <p:cNvSpPr/>
              <p:nvPr/>
            </p:nvSpPr>
            <p:spPr>
              <a:xfrm>
                <a:off x="0" y="0"/>
                <a:ext cx="585216" cy="473500"/>
              </a:xfrm>
              <a:custGeom>
                <a:avLst/>
                <a:gdLst/>
                <a:ahLst/>
                <a:cxnLst/>
                <a:rect l="l" t="t" r="r" b="b"/>
                <a:pathLst>
                  <a:path w="585216" h="473500">
                    <a:moveTo>
                      <a:pt x="0" y="0"/>
                    </a:moveTo>
                    <a:lnTo>
                      <a:pt x="585216" y="0"/>
                    </a:lnTo>
                    <a:lnTo>
                      <a:pt x="585216" y="473500"/>
                    </a:lnTo>
                    <a:lnTo>
                      <a:pt x="0" y="4735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1175" r="-71175" b="-16727"/>
                </a:stretch>
              </a:blipFill>
            </p:spPr>
          </p:sp>
          <p:sp>
            <p:nvSpPr>
              <p:cNvPr id="221" name="TextBox 221"/>
              <p:cNvSpPr txBox="1"/>
              <p:nvPr/>
            </p:nvSpPr>
            <p:spPr>
              <a:xfrm>
                <a:off x="0" y="-38100"/>
                <a:ext cx="585216" cy="511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84"/>
                  </a:lnSpc>
                </a:pPr>
                <a:r>
                  <a:rPr lang="en-US" sz="2403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📍</a:t>
                </a:r>
              </a:p>
            </p:txBody>
          </p:sp>
        </p:grpSp>
        <p:grpSp>
          <p:nvGrpSpPr>
            <p:cNvPr id="222" name="Group 222"/>
            <p:cNvGrpSpPr/>
            <p:nvPr/>
          </p:nvGrpSpPr>
          <p:grpSpPr>
            <a:xfrm>
              <a:off x="0" y="5500263"/>
              <a:ext cx="879198" cy="711362"/>
              <a:chOff x="0" y="0"/>
              <a:chExt cx="585216" cy="473500"/>
            </a:xfrm>
          </p:grpSpPr>
          <p:sp>
            <p:nvSpPr>
              <p:cNvPr id="223" name="Freeform 223"/>
              <p:cNvSpPr/>
              <p:nvPr/>
            </p:nvSpPr>
            <p:spPr>
              <a:xfrm>
                <a:off x="0" y="0"/>
                <a:ext cx="585216" cy="473500"/>
              </a:xfrm>
              <a:custGeom>
                <a:avLst/>
                <a:gdLst/>
                <a:ahLst/>
                <a:cxnLst/>
                <a:rect l="l" t="t" r="r" b="b"/>
                <a:pathLst>
                  <a:path w="585216" h="473500">
                    <a:moveTo>
                      <a:pt x="0" y="0"/>
                    </a:moveTo>
                    <a:lnTo>
                      <a:pt x="585216" y="0"/>
                    </a:lnTo>
                    <a:lnTo>
                      <a:pt x="585216" y="473500"/>
                    </a:lnTo>
                    <a:lnTo>
                      <a:pt x="0" y="4735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1175" r="-71175" b="-16727"/>
                </a:stretch>
              </a:blipFill>
            </p:spPr>
          </p:sp>
          <p:sp>
            <p:nvSpPr>
              <p:cNvPr id="224" name="TextBox 224"/>
              <p:cNvSpPr txBox="1"/>
              <p:nvPr/>
            </p:nvSpPr>
            <p:spPr>
              <a:xfrm>
                <a:off x="0" y="-38100"/>
                <a:ext cx="585216" cy="511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84"/>
                  </a:lnSpc>
                </a:pPr>
                <a:r>
                  <a:rPr lang="en-US" sz="2403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▣</a:t>
                </a:r>
              </a:p>
            </p:txBody>
          </p:sp>
        </p:grpSp>
        <p:grpSp>
          <p:nvGrpSpPr>
            <p:cNvPr id="225" name="Group 225"/>
            <p:cNvGrpSpPr/>
            <p:nvPr/>
          </p:nvGrpSpPr>
          <p:grpSpPr>
            <a:xfrm>
              <a:off x="0" y="6193699"/>
              <a:ext cx="879198" cy="711362"/>
              <a:chOff x="0" y="0"/>
              <a:chExt cx="585216" cy="473500"/>
            </a:xfrm>
          </p:grpSpPr>
          <p:sp>
            <p:nvSpPr>
              <p:cNvPr id="226" name="Freeform 226"/>
              <p:cNvSpPr/>
              <p:nvPr/>
            </p:nvSpPr>
            <p:spPr>
              <a:xfrm>
                <a:off x="0" y="0"/>
                <a:ext cx="585216" cy="473500"/>
              </a:xfrm>
              <a:custGeom>
                <a:avLst/>
                <a:gdLst/>
                <a:ahLst/>
                <a:cxnLst/>
                <a:rect l="l" t="t" r="r" b="b"/>
                <a:pathLst>
                  <a:path w="585216" h="473500">
                    <a:moveTo>
                      <a:pt x="0" y="0"/>
                    </a:moveTo>
                    <a:lnTo>
                      <a:pt x="585216" y="0"/>
                    </a:lnTo>
                    <a:lnTo>
                      <a:pt x="585216" y="473500"/>
                    </a:lnTo>
                    <a:lnTo>
                      <a:pt x="0" y="4735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1175" r="-71175" b="-16727"/>
                </a:stretch>
              </a:blipFill>
            </p:spPr>
          </p:sp>
          <p:sp>
            <p:nvSpPr>
              <p:cNvPr id="227" name="TextBox 227"/>
              <p:cNvSpPr txBox="1"/>
              <p:nvPr/>
            </p:nvSpPr>
            <p:spPr>
              <a:xfrm>
                <a:off x="0" y="-38100"/>
                <a:ext cx="585216" cy="511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84"/>
                  </a:lnSpc>
                </a:pPr>
                <a:r>
                  <a:rPr lang="en-US" sz="2403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◉</a:t>
                </a:r>
              </a:p>
            </p:txBody>
          </p:sp>
        </p:grpSp>
        <p:grpSp>
          <p:nvGrpSpPr>
            <p:cNvPr id="228" name="Group 228"/>
            <p:cNvGrpSpPr/>
            <p:nvPr/>
          </p:nvGrpSpPr>
          <p:grpSpPr>
            <a:xfrm>
              <a:off x="0" y="6887135"/>
              <a:ext cx="879198" cy="711362"/>
              <a:chOff x="0" y="0"/>
              <a:chExt cx="585216" cy="473500"/>
            </a:xfrm>
          </p:grpSpPr>
          <p:sp>
            <p:nvSpPr>
              <p:cNvPr id="229" name="Freeform 229"/>
              <p:cNvSpPr/>
              <p:nvPr/>
            </p:nvSpPr>
            <p:spPr>
              <a:xfrm>
                <a:off x="0" y="0"/>
                <a:ext cx="585216" cy="473500"/>
              </a:xfrm>
              <a:custGeom>
                <a:avLst/>
                <a:gdLst/>
                <a:ahLst/>
                <a:cxnLst/>
                <a:rect l="l" t="t" r="r" b="b"/>
                <a:pathLst>
                  <a:path w="585216" h="473500">
                    <a:moveTo>
                      <a:pt x="0" y="0"/>
                    </a:moveTo>
                    <a:lnTo>
                      <a:pt x="585216" y="0"/>
                    </a:lnTo>
                    <a:lnTo>
                      <a:pt x="585216" y="473500"/>
                    </a:lnTo>
                    <a:lnTo>
                      <a:pt x="0" y="4735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1175" r="-71175" b="-16727"/>
                </a:stretch>
              </a:blipFill>
            </p:spPr>
          </p:sp>
          <p:sp>
            <p:nvSpPr>
              <p:cNvPr id="230" name="TextBox 230"/>
              <p:cNvSpPr txBox="1"/>
              <p:nvPr/>
            </p:nvSpPr>
            <p:spPr>
              <a:xfrm>
                <a:off x="0" y="-38100"/>
                <a:ext cx="585216" cy="5116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84"/>
                  </a:lnSpc>
                </a:pPr>
                <a:r>
                  <a:rPr lang="en-US" sz="2403">
                    <a:solidFill>
                      <a:srgbClr val="00000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➤</a:t>
                </a:r>
              </a:p>
            </p:txBody>
          </p:sp>
        </p:grpSp>
      </p:grpSp>
      <p:sp>
        <p:nvSpPr>
          <p:cNvPr id="231" name="TextBox 231"/>
          <p:cNvSpPr txBox="1"/>
          <p:nvPr/>
        </p:nvSpPr>
        <p:spPr>
          <a:xfrm>
            <a:off x="10716" y="2706725"/>
            <a:ext cx="9143771" cy="1866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endParaRPr/>
          </a:p>
          <a:p>
            <a:pPr marL="431801" lvl="1" indent="-215900" algn="l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Farmers need help choosing the right time and market to sell their crops.</a:t>
            </a:r>
          </a:p>
          <a:p>
            <a:pPr marL="431801" lvl="1" indent="-215900" algn="l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 Selling decisions depend on price changes, transport costs, and crop spoilage</a:t>
            </a:r>
          </a:p>
          <a:p>
            <a:pPr marL="431801" lvl="1" indent="-215900" algn="l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b="1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The highest market price does not always give the highest profit.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2000" b="1">
              <a:solidFill>
                <a:srgbClr val="FFFFFF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60159" y="472916"/>
            <a:ext cx="1248727" cy="1248727"/>
            <a:chOff x="0" y="0"/>
            <a:chExt cx="1664970" cy="16649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4970" cy="1664970"/>
            </a:xfrm>
            <a:custGeom>
              <a:avLst/>
              <a:gdLst/>
              <a:ahLst/>
              <a:cxnLst/>
              <a:rect l="l" t="t" r="r" b="b"/>
              <a:pathLst>
                <a:path w="1664970" h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6583920" y="576072"/>
            <a:ext cx="801195" cy="1042416"/>
            <a:chOff x="0" y="0"/>
            <a:chExt cx="1068260" cy="1389888"/>
          </a:xfrm>
        </p:grpSpPr>
        <p:sp>
          <p:nvSpPr>
            <p:cNvPr id="5" name="Freeform 5" descr="Genesis logo"/>
            <p:cNvSpPr/>
            <p:nvPr/>
          </p:nvSpPr>
          <p:spPr>
            <a:xfrm>
              <a:off x="0" y="0"/>
              <a:ext cx="1068324" cy="1389888"/>
            </a:xfrm>
            <a:custGeom>
              <a:avLst/>
              <a:gdLst/>
              <a:ahLst/>
              <a:cxnLst/>
              <a:rect l="l" t="t" r="r" b="b"/>
              <a:pathLst>
                <a:path w="1068324" h="1389888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532620"/>
            <a:ext cx="18287543" cy="754380"/>
            <a:chOff x="0" y="0"/>
            <a:chExt cx="24383390" cy="1005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3364" cy="1005840"/>
            </a:xfrm>
            <a:custGeom>
              <a:avLst/>
              <a:gdLst/>
              <a:ahLst/>
              <a:cxnLst/>
              <a:rect l="l" t="t" r="r" b="b"/>
              <a:pathLst>
                <a:path w="24383364" h="1005840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3429000" y="9532620"/>
            <a:ext cx="11429543" cy="754380"/>
            <a:chOff x="0" y="0"/>
            <a:chExt cx="15239390" cy="1005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39391" cy="1005840"/>
            </a:xfrm>
            <a:custGeom>
              <a:avLst/>
              <a:gdLst/>
              <a:ahLst/>
              <a:cxnLst/>
              <a:rect l="l" t="t" r="r" b="b"/>
              <a:pathLst>
                <a:path w="15239391" h="1005840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216" b="-24521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– Pre-Ideathon Template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888511" y="9614916"/>
            <a:ext cx="685800" cy="593903"/>
            <a:chOff x="0" y="0"/>
            <a:chExt cx="914400" cy="7918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4400" cy="791845"/>
            </a:xfrm>
            <a:custGeom>
              <a:avLst/>
              <a:gdLst/>
              <a:ahLst/>
              <a:cxnLst/>
              <a:rect l="l" t="t" r="r" b="b"/>
              <a:pathLst>
                <a:path w="914400" h="791845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id="13" name="Group 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882519" cy="2500630"/>
            </a:xfrm>
            <a:custGeom>
              <a:avLst/>
              <a:gdLst/>
              <a:ahLst/>
              <a:cxnLst/>
              <a:rect l="l" t="t" r="r" b="b"/>
              <a:pathLst>
                <a:path w="2882519" h="2500630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r="-613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32178" cy="1677670"/>
            </a:xfrm>
            <a:custGeom>
              <a:avLst/>
              <a:gdLst/>
              <a:ahLst/>
              <a:cxnLst/>
              <a:rect l="l" t="t" r="r" b="b"/>
              <a:pathLst>
                <a:path w="1932178" h="1677670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r="-614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17" name="Group 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32178" cy="1677670"/>
            </a:xfrm>
            <a:custGeom>
              <a:avLst/>
              <a:gdLst/>
              <a:ahLst/>
              <a:cxnLst/>
              <a:rect l="l" t="t" r="r" b="b"/>
              <a:pathLst>
                <a:path w="1932178" h="1677670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r="-614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3909060" y="275294"/>
            <a:ext cx="11247120" cy="1234440"/>
            <a:chOff x="0" y="0"/>
            <a:chExt cx="14996160" cy="16459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996161" cy="1645920"/>
            </a:xfrm>
            <a:custGeom>
              <a:avLst/>
              <a:gdLst/>
              <a:ahLst/>
              <a:cxnLst/>
              <a:rect l="l" t="t" r="r" b="b"/>
              <a:pathLst>
                <a:path w="14996161" h="1645920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530" b="-12753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EXISTING SOLUTIONS / APPROACHES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526280" y="1417549"/>
            <a:ext cx="685800" cy="593903"/>
            <a:chOff x="0" y="0"/>
            <a:chExt cx="914400" cy="79187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914400" cy="791870"/>
              <a:chOff x="0" y="0"/>
              <a:chExt cx="914400" cy="79187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914400" cy="791845"/>
              </a:xfrm>
              <a:custGeom>
                <a:avLst/>
                <a:gdLst/>
                <a:ahLst/>
                <a:cxnLst/>
                <a:rect l="l" t="t" r="r" b="b"/>
                <a:pathLst>
                  <a:path w="914400" h="791845">
                    <a:moveTo>
                      <a:pt x="0" y="395986"/>
                    </a:moveTo>
                    <a:lnTo>
                      <a:pt x="197993" y="0"/>
                    </a:lnTo>
                    <a:lnTo>
                      <a:pt x="716407" y="0"/>
                    </a:lnTo>
                    <a:lnTo>
                      <a:pt x="914400" y="395986"/>
                    </a:lnTo>
                    <a:lnTo>
                      <a:pt x="716407" y="791845"/>
                    </a:lnTo>
                    <a:lnTo>
                      <a:pt x="197993" y="791845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id="25" name="Group 25"/>
            <p:cNvGrpSpPr/>
            <p:nvPr/>
          </p:nvGrpSpPr>
          <p:grpSpPr>
            <a:xfrm>
              <a:off x="182880" y="121615"/>
              <a:ext cx="548640" cy="548640"/>
              <a:chOff x="0" y="0"/>
              <a:chExt cx="548640" cy="548640"/>
            </a:xfrm>
          </p:grpSpPr>
          <p:sp>
            <p:nvSpPr>
              <p:cNvPr id="26" name="Freeform 26" descr="Lightbulb icon"/>
              <p:cNvSpPr/>
              <p:nvPr/>
            </p:nvSpPr>
            <p:spPr>
              <a:xfrm>
                <a:off x="0" y="0"/>
                <a:ext cx="548640" cy="548640"/>
              </a:xfrm>
              <a:custGeom>
                <a:avLst/>
                <a:gdLst/>
                <a:ahLst/>
                <a:cxnLst/>
                <a:rect l="l" t="t" r="r" b="b"/>
                <a:pathLst>
                  <a:path w="548640" h="548640">
                    <a:moveTo>
                      <a:pt x="0" y="0"/>
                    </a:moveTo>
                    <a:lnTo>
                      <a:pt x="548640" y="0"/>
                    </a:lnTo>
                    <a:lnTo>
                      <a:pt x="548640" y="548640"/>
                    </a:lnTo>
                    <a:lnTo>
                      <a:pt x="0" y="5486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</p:sp>
        </p:grpSp>
      </p:grpSp>
      <p:grpSp>
        <p:nvGrpSpPr>
          <p:cNvPr id="27" name="Group 27"/>
          <p:cNvGrpSpPr/>
          <p:nvPr/>
        </p:nvGrpSpPr>
        <p:grpSpPr>
          <a:xfrm>
            <a:off x="5349240" y="1343580"/>
            <a:ext cx="14401800" cy="686388"/>
            <a:chOff x="0" y="0"/>
            <a:chExt cx="19202400" cy="91518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202400" cy="915184"/>
            </a:xfrm>
            <a:custGeom>
              <a:avLst/>
              <a:gdLst/>
              <a:ahLst/>
              <a:cxnLst/>
              <a:rect l="l" t="t" r="r" b="b"/>
              <a:pathLst>
                <a:path w="19202400" h="915184">
                  <a:moveTo>
                    <a:pt x="0" y="0"/>
                  </a:moveTo>
                  <a:lnTo>
                    <a:pt x="19202400" y="0"/>
                  </a:lnTo>
                  <a:lnTo>
                    <a:pt x="19202400" y="915184"/>
                  </a:lnTo>
                  <a:lnTo>
                    <a:pt x="0" y="915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3882" b="-36378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9202400" cy="9723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Farmers have price data. Nobody gives them a decision.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888511" y="9614916"/>
            <a:ext cx="685800" cy="593903"/>
            <a:chOff x="0" y="0"/>
            <a:chExt cx="914400" cy="79187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14400" cy="791870"/>
            </a:xfrm>
            <a:custGeom>
              <a:avLst/>
              <a:gdLst/>
              <a:ahLst/>
              <a:cxnLst/>
              <a:rect l="l" t="t" r="r" b="b"/>
              <a:pathLst>
                <a:path w="914400" h="79187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r="-6111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aphicFrame>
        <p:nvGraphicFramePr>
          <p:cNvPr id="33" name="Table 33"/>
          <p:cNvGraphicFramePr>
            <a:graphicFrameLocks noGrp="1"/>
          </p:cNvGraphicFramePr>
          <p:nvPr/>
        </p:nvGraphicFramePr>
        <p:xfrm>
          <a:off x="540844" y="2029968"/>
          <a:ext cx="16878301" cy="5943599"/>
        </p:xfrm>
        <a:graphic>
          <a:graphicData uri="http://schemas.openxmlformats.org/drawingml/2006/table">
            <a:tbl>
              <a:tblPr/>
              <a:tblGrid>
                <a:gridCol w="3134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7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4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1844"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Approach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What it does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Gap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Link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143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52B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Agmarknet / data.gov.in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Daily market prices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59"/>
                        </a:lnSpc>
                        <a:defRPr/>
                      </a:pPr>
                      <a:r>
                        <a:rPr lang="en-US" sz="2299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Raw data, no advice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https://agmarknet.gov.in/  / https://www.data.gov.in/</a:t>
                      </a:r>
                      <a:endParaRPr lang="en-US" sz="1100" dirty="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602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52B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eNAM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Online market trading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personal advice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https://enam.gov.in/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602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52B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Govt apps / SMS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Prices, weather alerts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Info only, no profit calc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https://mkisan.gov.in/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4602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52B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DeHaat, Ninjacart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Link farmers to buyers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Not neutral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https://dehaat.in/  / https://ninjacart.com/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4602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52B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MSP / FPOs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Guaranteed price, group selling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Limited crops, needs capital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99"/>
                        </a:lnSpc>
                        <a:defRPr/>
                      </a:pPr>
                      <a:r>
                        <a:rPr lang="en-US" sz="1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https://sfacindia.com/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4602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52B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Price forecasting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Predict future prices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action, no risk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n/a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4602">
                <a:tc>
                  <a:txBody>
                    <a:bodyPr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52B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Word of mouth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Informal tips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Biased, unverifiable</a:t>
                      </a:r>
                      <a:endParaRPr lang="en-US" sz="110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E2A2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n/a</a:t>
                      </a:r>
                      <a:endParaRPr lang="en-US" sz="1100" dirty="0"/>
                    </a:p>
                  </a:txBody>
                  <a:tcPr marL="137160" marR="137160" marT="137160" marB="13716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4" name="Group 34"/>
          <p:cNvGrpSpPr/>
          <p:nvPr/>
        </p:nvGrpSpPr>
        <p:grpSpPr>
          <a:xfrm>
            <a:off x="540844" y="7966329"/>
            <a:ext cx="16911828" cy="1435608"/>
            <a:chOff x="0" y="0"/>
            <a:chExt cx="22549104" cy="19141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2549103" cy="1914144"/>
            </a:xfrm>
            <a:custGeom>
              <a:avLst/>
              <a:gdLst/>
              <a:ahLst/>
              <a:cxnLst/>
              <a:rect l="l" t="t" r="r" b="b"/>
              <a:pathLst>
                <a:path w="22549103" h="1914144">
                  <a:moveTo>
                    <a:pt x="0" y="76510"/>
                  </a:moveTo>
                  <a:cubicBezTo>
                    <a:pt x="0" y="34314"/>
                    <a:pt x="28194" y="0"/>
                    <a:pt x="62865" y="0"/>
                  </a:cubicBezTo>
                  <a:lnTo>
                    <a:pt x="22486238" y="0"/>
                  </a:lnTo>
                  <a:cubicBezTo>
                    <a:pt x="22521036" y="0"/>
                    <a:pt x="22549103" y="34314"/>
                    <a:pt x="22549103" y="76510"/>
                  </a:cubicBezTo>
                  <a:lnTo>
                    <a:pt x="22549103" y="1837634"/>
                  </a:lnTo>
                  <a:cubicBezTo>
                    <a:pt x="22549103" y="1879985"/>
                    <a:pt x="22520909" y="1914144"/>
                    <a:pt x="22486238" y="1914144"/>
                  </a:cubicBezTo>
                  <a:lnTo>
                    <a:pt x="62865" y="1914144"/>
                  </a:lnTo>
                  <a:cubicBezTo>
                    <a:pt x="28067" y="1914144"/>
                    <a:pt x="0" y="1879830"/>
                    <a:pt x="0" y="1837634"/>
                  </a:cubicBez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678656" y="8094345"/>
            <a:ext cx="3354475" cy="1179576"/>
            <a:chOff x="0" y="0"/>
            <a:chExt cx="4472634" cy="157276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472634" cy="1572768"/>
            </a:xfrm>
            <a:custGeom>
              <a:avLst/>
              <a:gdLst/>
              <a:ahLst/>
              <a:cxnLst/>
              <a:rect l="l" t="t" r="r" b="b"/>
              <a:pathLst>
                <a:path w="4472634" h="1572768">
                  <a:moveTo>
                    <a:pt x="0" y="0"/>
                  </a:moveTo>
                  <a:lnTo>
                    <a:pt x="4472634" y="0"/>
                  </a:lnTo>
                  <a:lnTo>
                    <a:pt x="4472634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9" r="9905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4472634" cy="16108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79"/>
                </a:lnSpc>
              </a:pPr>
              <a:r>
                <a:rPr lang="en-US" sz="2149" b="1" spc="330">
                  <a:solidFill>
                    <a:srgbClr val="7AC14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GAP</a:t>
              </a:r>
            </a:p>
            <a:p>
              <a:pPr algn="l">
                <a:lnSpc>
                  <a:spcPts val="2519"/>
                </a:lnSpc>
              </a:pPr>
              <a:r>
                <a:rPr lang="en-US" sz="2099" spc="32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farmer-facing tool combines all six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320540" y="8188452"/>
            <a:ext cx="2057400" cy="987552"/>
            <a:chOff x="0" y="0"/>
            <a:chExt cx="2743200" cy="131673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743200" cy="1316736"/>
            </a:xfrm>
            <a:custGeom>
              <a:avLst/>
              <a:gdLst/>
              <a:ahLst/>
              <a:cxnLst/>
              <a:rect l="l" t="t" r="r" b="b"/>
              <a:pathLst>
                <a:path w="2743200" h="1316736">
                  <a:moveTo>
                    <a:pt x="0" y="197542"/>
                  </a:moveTo>
                  <a:cubicBezTo>
                    <a:pt x="0" y="88445"/>
                    <a:pt x="71247" y="0"/>
                    <a:pt x="159131" y="0"/>
                  </a:cubicBezTo>
                  <a:lnTo>
                    <a:pt x="2584069" y="0"/>
                  </a:lnTo>
                  <a:cubicBezTo>
                    <a:pt x="2671953" y="0"/>
                    <a:pt x="2743200" y="88445"/>
                    <a:pt x="2743200" y="197542"/>
                  </a:cubicBezTo>
                  <a:lnTo>
                    <a:pt x="2743200" y="1119194"/>
                  </a:lnTo>
                  <a:cubicBezTo>
                    <a:pt x="2743200" y="1228291"/>
                    <a:pt x="2671953" y="1316736"/>
                    <a:pt x="2584069" y="1316736"/>
                  </a:cubicBezTo>
                  <a:lnTo>
                    <a:pt x="159131" y="1316736"/>
                  </a:lnTo>
                  <a:cubicBezTo>
                    <a:pt x="71247" y="1316736"/>
                    <a:pt x="0" y="1228291"/>
                    <a:pt x="0" y="1119194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2743200" cy="1364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Net-profit comparison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515100" y="8188452"/>
            <a:ext cx="2057400" cy="987552"/>
            <a:chOff x="0" y="0"/>
            <a:chExt cx="2743200" cy="131673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743200" cy="1316736"/>
            </a:xfrm>
            <a:custGeom>
              <a:avLst/>
              <a:gdLst/>
              <a:ahLst/>
              <a:cxnLst/>
              <a:rect l="l" t="t" r="r" b="b"/>
              <a:pathLst>
                <a:path w="2743200" h="1316736">
                  <a:moveTo>
                    <a:pt x="0" y="197542"/>
                  </a:moveTo>
                  <a:cubicBezTo>
                    <a:pt x="0" y="88445"/>
                    <a:pt x="71247" y="0"/>
                    <a:pt x="159131" y="0"/>
                  </a:cubicBezTo>
                  <a:lnTo>
                    <a:pt x="2584069" y="0"/>
                  </a:lnTo>
                  <a:cubicBezTo>
                    <a:pt x="2671953" y="0"/>
                    <a:pt x="2743200" y="88445"/>
                    <a:pt x="2743200" y="197542"/>
                  </a:cubicBezTo>
                  <a:lnTo>
                    <a:pt x="2743200" y="1119194"/>
                  </a:lnTo>
                  <a:cubicBezTo>
                    <a:pt x="2743200" y="1228291"/>
                    <a:pt x="2671953" y="1316736"/>
                    <a:pt x="2584069" y="1316736"/>
                  </a:cubicBezTo>
                  <a:lnTo>
                    <a:pt x="159131" y="1316736"/>
                  </a:lnTo>
                  <a:cubicBezTo>
                    <a:pt x="71247" y="1316736"/>
                    <a:pt x="0" y="1228291"/>
                    <a:pt x="0" y="1119194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2743200" cy="1364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and uncertainty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709660" y="8188452"/>
            <a:ext cx="2057400" cy="987552"/>
            <a:chOff x="0" y="0"/>
            <a:chExt cx="2743200" cy="131673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743200" cy="1316736"/>
            </a:xfrm>
            <a:custGeom>
              <a:avLst/>
              <a:gdLst/>
              <a:ahLst/>
              <a:cxnLst/>
              <a:rect l="l" t="t" r="r" b="b"/>
              <a:pathLst>
                <a:path w="2743200" h="1316736">
                  <a:moveTo>
                    <a:pt x="0" y="197542"/>
                  </a:moveTo>
                  <a:cubicBezTo>
                    <a:pt x="0" y="88445"/>
                    <a:pt x="71247" y="0"/>
                    <a:pt x="159131" y="0"/>
                  </a:cubicBezTo>
                  <a:lnTo>
                    <a:pt x="2584069" y="0"/>
                  </a:lnTo>
                  <a:cubicBezTo>
                    <a:pt x="2671953" y="0"/>
                    <a:pt x="2743200" y="88445"/>
                    <a:pt x="2743200" y="197542"/>
                  </a:cubicBezTo>
                  <a:lnTo>
                    <a:pt x="2743200" y="1119194"/>
                  </a:lnTo>
                  <a:cubicBezTo>
                    <a:pt x="2743200" y="1228291"/>
                    <a:pt x="2671953" y="1316736"/>
                    <a:pt x="2584069" y="1316736"/>
                  </a:cubicBezTo>
                  <a:lnTo>
                    <a:pt x="159131" y="1316736"/>
                  </a:lnTo>
                  <a:cubicBezTo>
                    <a:pt x="71247" y="1316736"/>
                    <a:pt x="0" y="1228291"/>
                    <a:pt x="0" y="1119194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2743200" cy="1364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Personal constraints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904220" y="8188452"/>
            <a:ext cx="2057400" cy="987552"/>
            <a:chOff x="0" y="0"/>
            <a:chExt cx="2743200" cy="131673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743200" cy="1316736"/>
            </a:xfrm>
            <a:custGeom>
              <a:avLst/>
              <a:gdLst/>
              <a:ahLst/>
              <a:cxnLst/>
              <a:rect l="l" t="t" r="r" b="b"/>
              <a:pathLst>
                <a:path w="2743200" h="1316736">
                  <a:moveTo>
                    <a:pt x="0" y="197542"/>
                  </a:moveTo>
                  <a:cubicBezTo>
                    <a:pt x="0" y="88445"/>
                    <a:pt x="71247" y="0"/>
                    <a:pt x="159131" y="0"/>
                  </a:cubicBezTo>
                  <a:lnTo>
                    <a:pt x="2584069" y="0"/>
                  </a:lnTo>
                  <a:cubicBezTo>
                    <a:pt x="2671953" y="0"/>
                    <a:pt x="2743200" y="88445"/>
                    <a:pt x="2743200" y="197542"/>
                  </a:cubicBezTo>
                  <a:lnTo>
                    <a:pt x="2743200" y="1119194"/>
                  </a:lnTo>
                  <a:cubicBezTo>
                    <a:pt x="2743200" y="1228291"/>
                    <a:pt x="2671953" y="1316736"/>
                    <a:pt x="2584069" y="1316736"/>
                  </a:cubicBezTo>
                  <a:lnTo>
                    <a:pt x="159131" y="1316736"/>
                  </a:lnTo>
                  <a:cubicBezTo>
                    <a:pt x="71247" y="1316736"/>
                    <a:pt x="0" y="1228291"/>
                    <a:pt x="0" y="1119194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2743200" cy="1364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What-If exploration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3098780" y="8188452"/>
            <a:ext cx="2057400" cy="987552"/>
            <a:chOff x="0" y="0"/>
            <a:chExt cx="2743200" cy="131673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743200" cy="1316736"/>
            </a:xfrm>
            <a:custGeom>
              <a:avLst/>
              <a:gdLst/>
              <a:ahLst/>
              <a:cxnLst/>
              <a:rect l="l" t="t" r="r" b="b"/>
              <a:pathLst>
                <a:path w="2743200" h="1316736">
                  <a:moveTo>
                    <a:pt x="0" y="197542"/>
                  </a:moveTo>
                  <a:cubicBezTo>
                    <a:pt x="0" y="88445"/>
                    <a:pt x="71247" y="0"/>
                    <a:pt x="159131" y="0"/>
                  </a:cubicBezTo>
                  <a:lnTo>
                    <a:pt x="2584069" y="0"/>
                  </a:lnTo>
                  <a:cubicBezTo>
                    <a:pt x="2671953" y="0"/>
                    <a:pt x="2743200" y="88445"/>
                    <a:pt x="2743200" y="197542"/>
                  </a:cubicBezTo>
                  <a:lnTo>
                    <a:pt x="2743200" y="1119194"/>
                  </a:lnTo>
                  <a:cubicBezTo>
                    <a:pt x="2743200" y="1228291"/>
                    <a:pt x="2671953" y="1316736"/>
                    <a:pt x="2584069" y="1316736"/>
                  </a:cubicBezTo>
                  <a:lnTo>
                    <a:pt x="159131" y="1316736"/>
                  </a:lnTo>
                  <a:cubicBezTo>
                    <a:pt x="71247" y="1316736"/>
                    <a:pt x="0" y="1228291"/>
                    <a:pt x="0" y="1119194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2743200" cy="1364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Clear explanation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5293340" y="8188452"/>
            <a:ext cx="2057400" cy="987552"/>
            <a:chOff x="0" y="0"/>
            <a:chExt cx="2743200" cy="131673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743200" cy="1316736"/>
            </a:xfrm>
            <a:custGeom>
              <a:avLst/>
              <a:gdLst/>
              <a:ahLst/>
              <a:cxnLst/>
              <a:rect l="l" t="t" r="r" b="b"/>
              <a:pathLst>
                <a:path w="2743200" h="1316736">
                  <a:moveTo>
                    <a:pt x="0" y="197542"/>
                  </a:moveTo>
                  <a:cubicBezTo>
                    <a:pt x="0" y="88445"/>
                    <a:pt x="71247" y="0"/>
                    <a:pt x="159131" y="0"/>
                  </a:cubicBezTo>
                  <a:lnTo>
                    <a:pt x="2584069" y="0"/>
                  </a:lnTo>
                  <a:cubicBezTo>
                    <a:pt x="2671953" y="0"/>
                    <a:pt x="2743200" y="88445"/>
                    <a:pt x="2743200" y="197542"/>
                  </a:cubicBezTo>
                  <a:lnTo>
                    <a:pt x="2743200" y="1119194"/>
                  </a:lnTo>
                  <a:cubicBezTo>
                    <a:pt x="2743200" y="1228291"/>
                    <a:pt x="2671953" y="1316736"/>
                    <a:pt x="2584069" y="1316736"/>
                  </a:cubicBezTo>
                  <a:lnTo>
                    <a:pt x="159131" y="1316736"/>
                  </a:lnTo>
                  <a:cubicBezTo>
                    <a:pt x="71247" y="1316736"/>
                    <a:pt x="0" y="1228291"/>
                    <a:pt x="0" y="1119194"/>
                  </a:cubicBezTo>
                  <a:close/>
                </a:path>
              </a:pathLst>
            </a:custGeom>
            <a:solidFill>
              <a:srgbClr val="026855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2743200" cy="13643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9"/>
                </a:lnSpc>
              </a:pPr>
              <a:r>
                <a:rPr lang="en-US" sz="22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Back-test validation</a:t>
              </a:r>
            </a:p>
          </p:txBody>
        </p:sp>
      </p:grpSp>
      <p:sp>
        <p:nvSpPr>
          <p:cNvPr id="57" name="Freeform 57"/>
          <p:cNvSpPr/>
          <p:nvPr/>
        </p:nvSpPr>
        <p:spPr>
          <a:xfrm>
            <a:off x="754380" y="456245"/>
            <a:ext cx="872538" cy="872538"/>
          </a:xfrm>
          <a:custGeom>
            <a:avLst/>
            <a:gdLst/>
            <a:ahLst/>
            <a:cxnLst/>
            <a:rect l="l" t="t" r="r" b="b"/>
            <a:pathLst>
              <a:path w="872538" h="872538">
                <a:moveTo>
                  <a:pt x="0" y="0"/>
                </a:moveTo>
                <a:lnTo>
                  <a:pt x="872538" y="0"/>
                </a:lnTo>
                <a:lnTo>
                  <a:pt x="872538" y="872538"/>
                </a:lnTo>
                <a:lnTo>
                  <a:pt x="0" y="8725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8" name="TextBox 58"/>
          <p:cNvSpPr txBox="1"/>
          <p:nvPr/>
        </p:nvSpPr>
        <p:spPr>
          <a:xfrm>
            <a:off x="1775478" y="726088"/>
            <a:ext cx="1272521" cy="336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Nexus0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25583" y="218576"/>
            <a:ext cx="1248727" cy="1248727"/>
            <a:chOff x="0" y="0"/>
            <a:chExt cx="1664970" cy="166497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664970" cy="1664970"/>
              <a:chOff x="0" y="0"/>
              <a:chExt cx="1664970" cy="166497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664970" cy="1664970"/>
              </a:xfrm>
              <a:custGeom>
                <a:avLst/>
                <a:gdLst/>
                <a:ahLst/>
                <a:cxnLst/>
                <a:rect l="l" t="t" r="r" b="b"/>
                <a:pathLst>
                  <a:path w="1664970" h="1664970">
                    <a:moveTo>
                      <a:pt x="0" y="221996"/>
                    </a:moveTo>
                    <a:cubicBezTo>
                      <a:pt x="0" y="99441"/>
                      <a:pt x="99441" y="0"/>
                      <a:pt x="221996" y="0"/>
                    </a:cubicBezTo>
                    <a:lnTo>
                      <a:pt x="1442974" y="0"/>
                    </a:lnTo>
                    <a:cubicBezTo>
                      <a:pt x="1565529" y="0"/>
                      <a:pt x="1664970" y="99441"/>
                      <a:pt x="1664970" y="221996"/>
                    </a:cubicBezTo>
                    <a:lnTo>
                      <a:pt x="1664970" y="1442974"/>
                    </a:lnTo>
                    <a:cubicBezTo>
                      <a:pt x="1664970" y="1565529"/>
                      <a:pt x="1565529" y="1664970"/>
                      <a:pt x="1442974" y="1664970"/>
                    </a:cubicBezTo>
                    <a:lnTo>
                      <a:pt x="221996" y="1664970"/>
                    </a:lnTo>
                    <a:cubicBezTo>
                      <a:pt x="99441" y="1664970"/>
                      <a:pt x="0" y="1565529"/>
                      <a:pt x="0" y="144297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FFFFFF"/>
                </a:solidFill>
                <a:prstDash val="solid"/>
                <a:miter/>
              </a:ln>
            </p:spPr>
          </p:sp>
        </p:grpSp>
        <p:grpSp>
          <p:nvGrpSpPr>
            <p:cNvPr id="5" name="Group 5"/>
            <p:cNvGrpSpPr/>
            <p:nvPr/>
          </p:nvGrpSpPr>
          <p:grpSpPr>
            <a:xfrm>
              <a:off x="298348" y="137541"/>
              <a:ext cx="1068260" cy="1389888"/>
              <a:chOff x="0" y="0"/>
              <a:chExt cx="1068260" cy="1389888"/>
            </a:xfrm>
          </p:grpSpPr>
          <p:sp>
            <p:nvSpPr>
              <p:cNvPr id="6" name="Freeform 6" descr="Genesis logo"/>
              <p:cNvSpPr/>
              <p:nvPr/>
            </p:nvSpPr>
            <p:spPr>
              <a:xfrm>
                <a:off x="0" y="0"/>
                <a:ext cx="1068324" cy="1389888"/>
              </a:xfrm>
              <a:custGeom>
                <a:avLst/>
                <a:gdLst/>
                <a:ahLst/>
                <a:cxnLst/>
                <a:rect l="l" t="t" r="r" b="b"/>
                <a:pathLst>
                  <a:path w="1068324" h="1389888">
                    <a:moveTo>
                      <a:pt x="0" y="0"/>
                    </a:moveTo>
                    <a:lnTo>
                      <a:pt x="1068324" y="0"/>
                    </a:lnTo>
                    <a:lnTo>
                      <a:pt x="1068324" y="1389888"/>
                    </a:lnTo>
                    <a:lnTo>
                      <a:pt x="0" y="138988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r="5"/>
                </a:stretch>
              </a:blipFill>
            </p:spPr>
          </p:sp>
        </p:grpSp>
      </p:grpSp>
      <p:grpSp>
        <p:nvGrpSpPr>
          <p:cNvPr id="7" name="Group 7"/>
          <p:cNvGrpSpPr/>
          <p:nvPr/>
        </p:nvGrpSpPr>
        <p:grpSpPr>
          <a:xfrm>
            <a:off x="0" y="9532620"/>
            <a:ext cx="18287543" cy="754380"/>
            <a:chOff x="0" y="0"/>
            <a:chExt cx="24383390" cy="10058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3364" cy="1005840"/>
            </a:xfrm>
            <a:custGeom>
              <a:avLst/>
              <a:gdLst/>
              <a:ahLst/>
              <a:cxnLst/>
              <a:rect l="l" t="t" r="r" b="b"/>
              <a:pathLst>
                <a:path w="24383364" h="1005840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3429000" y="9532620"/>
            <a:ext cx="11429543" cy="754380"/>
            <a:chOff x="0" y="0"/>
            <a:chExt cx="15239390" cy="10058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239391" cy="1005840"/>
            </a:xfrm>
            <a:custGeom>
              <a:avLst/>
              <a:gdLst/>
              <a:ahLst/>
              <a:cxnLst/>
              <a:rect l="l" t="t" r="r" b="b"/>
              <a:pathLst>
                <a:path w="15239391" h="1005840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5216" b="-24521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– Pre-Ideathon Template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888511" y="9614916"/>
            <a:ext cx="685800" cy="593903"/>
            <a:chOff x="0" y="0"/>
            <a:chExt cx="914400" cy="7918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14400" cy="791845"/>
            </a:xfrm>
            <a:custGeom>
              <a:avLst/>
              <a:gdLst/>
              <a:ahLst/>
              <a:cxnLst/>
              <a:rect l="l" t="t" r="r" b="b"/>
              <a:pathLst>
                <a:path w="914400" h="791845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id="14" name="Group 14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882519" cy="2500630"/>
            </a:xfrm>
            <a:custGeom>
              <a:avLst/>
              <a:gdLst/>
              <a:ahLst/>
              <a:cxnLst/>
              <a:rect l="l" t="t" r="r" b="b"/>
              <a:pathLst>
                <a:path w="2882519" h="2500630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r="-613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32178" cy="1677670"/>
            </a:xfrm>
            <a:custGeom>
              <a:avLst/>
              <a:gdLst/>
              <a:ahLst/>
              <a:cxnLst/>
              <a:rect l="l" t="t" r="r" b="b"/>
              <a:pathLst>
                <a:path w="1932178" h="1677670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r="-614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32178" cy="1677670"/>
            </a:xfrm>
            <a:custGeom>
              <a:avLst/>
              <a:gdLst/>
              <a:ahLst/>
              <a:cxnLst/>
              <a:rect l="l" t="t" r="r" b="b"/>
              <a:pathLst>
                <a:path w="1932178" h="1677670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r="-61406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4324826" y="137160"/>
            <a:ext cx="11247120" cy="1234440"/>
            <a:chOff x="0" y="0"/>
            <a:chExt cx="14996160" cy="16459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996161" cy="1645920"/>
            </a:xfrm>
            <a:custGeom>
              <a:avLst/>
              <a:gdLst/>
              <a:ahLst/>
              <a:cxnLst/>
              <a:rect l="l" t="t" r="r" b="b"/>
              <a:pathLst>
                <a:path w="14996161" h="1645920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7530" b="-12753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INITIAL DIRECTION &amp; EXPECTED OUTCOME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888511" y="9614916"/>
            <a:ext cx="685800" cy="593903"/>
            <a:chOff x="0" y="0"/>
            <a:chExt cx="914400" cy="79187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14400" cy="791870"/>
            </a:xfrm>
            <a:custGeom>
              <a:avLst/>
              <a:gdLst/>
              <a:ahLst/>
              <a:cxnLst/>
              <a:rect l="l" t="t" r="r" b="b"/>
              <a:pathLst>
                <a:path w="914400" h="79187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r="-6111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855893" y="1214177"/>
            <a:ext cx="5432108" cy="6321531"/>
            <a:chOff x="0" y="0"/>
            <a:chExt cx="7242810" cy="8428708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726730"/>
              <a:ext cx="7242810" cy="7701978"/>
              <a:chOff x="0" y="0"/>
              <a:chExt cx="7242810" cy="770197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7242810" cy="7701978"/>
              </a:xfrm>
              <a:custGeom>
                <a:avLst/>
                <a:gdLst/>
                <a:ahLst/>
                <a:cxnLst/>
                <a:rect l="l" t="t" r="r" b="b"/>
                <a:pathLst>
                  <a:path w="7242810" h="7701978">
                    <a:moveTo>
                      <a:pt x="0" y="270488"/>
                    </a:moveTo>
                    <a:cubicBezTo>
                      <a:pt x="0" y="121073"/>
                      <a:pt x="129667" y="0"/>
                      <a:pt x="289687" y="0"/>
                    </a:cubicBezTo>
                    <a:lnTo>
                      <a:pt x="6953123" y="0"/>
                    </a:lnTo>
                    <a:cubicBezTo>
                      <a:pt x="7113143" y="0"/>
                      <a:pt x="7242810" y="121073"/>
                      <a:pt x="7242810" y="270488"/>
                    </a:cubicBezTo>
                    <a:lnTo>
                      <a:pt x="7242810" y="7431490"/>
                    </a:lnTo>
                    <a:cubicBezTo>
                      <a:pt x="7242810" y="7580904"/>
                      <a:pt x="7113143" y="7701978"/>
                      <a:pt x="6953123" y="7701978"/>
                    </a:cubicBezTo>
                    <a:lnTo>
                      <a:pt x="289687" y="7701978"/>
                    </a:lnTo>
                    <a:cubicBezTo>
                      <a:pt x="129667" y="7701978"/>
                      <a:pt x="0" y="7580904"/>
                      <a:pt x="0" y="74314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7AC143"/>
                </a:solidFill>
                <a:prstDash val="solid"/>
                <a:miter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128930" y="882559"/>
              <a:ext cx="1055853" cy="914400"/>
              <a:chOff x="0" y="0"/>
              <a:chExt cx="1055853" cy="9144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055878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1055878" h="914400">
                    <a:moveTo>
                      <a:pt x="0" y="457200"/>
                    </a:moveTo>
                    <a:lnTo>
                      <a:pt x="228600" y="0"/>
                    </a:lnTo>
                    <a:lnTo>
                      <a:pt x="827278" y="0"/>
                    </a:lnTo>
                    <a:lnTo>
                      <a:pt x="1055878" y="457200"/>
                    </a:lnTo>
                    <a:lnTo>
                      <a:pt x="827278" y="914400"/>
                    </a:lnTo>
                    <a:lnTo>
                      <a:pt x="228600" y="914400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419112" y="1102015"/>
              <a:ext cx="475488" cy="475488"/>
              <a:chOff x="0" y="0"/>
              <a:chExt cx="475488" cy="475488"/>
            </a:xfrm>
          </p:grpSpPr>
          <p:sp>
            <p:nvSpPr>
              <p:cNvPr id="32" name="Freeform 32" descr="Bullseye icon"/>
              <p:cNvSpPr/>
              <p:nvPr/>
            </p:nvSpPr>
            <p:spPr>
              <a:xfrm>
                <a:off x="0" y="0"/>
                <a:ext cx="475488" cy="475488"/>
              </a:xfrm>
              <a:custGeom>
                <a:avLst/>
                <a:gdLst/>
                <a:ahLst/>
                <a:cxnLst/>
                <a:rect l="l" t="t" r="r" b="b"/>
                <a:pathLst>
                  <a:path w="475488" h="475488">
                    <a:moveTo>
                      <a:pt x="0" y="0"/>
                    </a:moveTo>
                    <a:lnTo>
                      <a:pt x="475488" y="0"/>
                    </a:lnTo>
                    <a:lnTo>
                      <a:pt x="475488" y="475488"/>
                    </a:lnTo>
                    <a:lnTo>
                      <a:pt x="0" y="47548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1412740" y="0"/>
              <a:ext cx="5303520" cy="2679519"/>
              <a:chOff x="0" y="0"/>
              <a:chExt cx="5303520" cy="2679519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303520" cy="2679519"/>
              </a:xfrm>
              <a:custGeom>
                <a:avLst/>
                <a:gdLst/>
                <a:ahLst/>
                <a:cxnLst/>
                <a:rect l="l" t="t" r="r" b="b"/>
                <a:pathLst>
                  <a:path w="5303520" h="2679519">
                    <a:moveTo>
                      <a:pt x="0" y="0"/>
                    </a:moveTo>
                    <a:lnTo>
                      <a:pt x="5303520" y="0"/>
                    </a:lnTo>
                    <a:lnTo>
                      <a:pt x="5303520" y="2679519"/>
                    </a:lnTo>
                    <a:lnTo>
                      <a:pt x="0" y="2679519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8773" b="41640"/>
                </a:stretch>
              </a:blip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19050"/>
                <a:ext cx="5303520" cy="269856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119"/>
                  </a:lnSpc>
                </a:pPr>
                <a:r>
                  <a:rPr lang="en-US" sz="2599" b="1">
                    <a:solidFill>
                      <a:srgbClr val="052B35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SUCCESS WILL LOOK LIKE</a:t>
                </a:r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28930" y="1758859"/>
              <a:ext cx="6839127" cy="63103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63"/>
                </a:lnSpc>
              </a:pPr>
              <a:endParaRPr/>
            </a:p>
            <a:p>
              <a:pPr marL="371541" lvl="1" indent="-185771" algn="l">
                <a:lnSpc>
                  <a:spcPts val="2032"/>
                </a:lnSpc>
                <a:buFont typeface="Arial"/>
                <a:buChar char="•"/>
              </a:pPr>
              <a:r>
                <a:rPr lang="en-US" sz="2052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Higher Net Earnings:</a:t>
              </a:r>
              <a:r>
                <a:rPr lang="en-US" sz="205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Better average returns than selling at the nearest market.</a:t>
              </a:r>
            </a:p>
            <a:p>
              <a:pPr algn="l">
                <a:lnSpc>
                  <a:spcPts val="2032"/>
                </a:lnSpc>
              </a:pPr>
              <a:endParaRPr lang="en-US" sz="20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371541" lvl="1" indent="-185771" algn="l">
                <a:lnSpc>
                  <a:spcPts val="2032"/>
                </a:lnSpc>
                <a:buFont typeface="Arial"/>
                <a:buChar char="•"/>
              </a:pPr>
              <a:r>
                <a:rPr lang="en-US" sz="2052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Better Market Choices:</a:t>
              </a:r>
              <a:r>
                <a:rPr lang="en-US" sz="205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Outperform the highest-raw-price strategy on average.</a:t>
              </a:r>
            </a:p>
            <a:p>
              <a:pPr algn="l">
                <a:lnSpc>
                  <a:spcPts val="2032"/>
                </a:lnSpc>
              </a:pPr>
              <a:endParaRPr lang="en-US" sz="20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371541" lvl="1" indent="-185771" algn="l">
                <a:lnSpc>
                  <a:spcPts val="2032"/>
                </a:lnSpc>
                <a:buFont typeface="Arial"/>
                <a:buChar char="•"/>
              </a:pPr>
              <a:r>
                <a:rPr lang="en-US" sz="2052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Fewer Avoidable Losses: </a:t>
              </a:r>
              <a:r>
                <a:rPr lang="en-US" sz="205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Keep worst-case losses within acceptable limits.</a:t>
              </a:r>
            </a:p>
            <a:p>
              <a:pPr algn="l">
                <a:lnSpc>
                  <a:spcPts val="2032"/>
                </a:lnSpc>
              </a:pPr>
              <a:endParaRPr lang="en-US" sz="20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371541" lvl="1" indent="-185771" algn="l">
                <a:lnSpc>
                  <a:spcPts val="2032"/>
                </a:lnSpc>
                <a:buFont typeface="Arial"/>
                <a:buChar char="•"/>
              </a:pPr>
              <a:r>
                <a:rPr lang="en-US" sz="2052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Reliable Forecasts:</a:t>
              </a:r>
              <a:r>
                <a:rPr lang="en-US" sz="205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Beat a naive benchmark on unseen data using MAE and MAPE.</a:t>
              </a:r>
            </a:p>
            <a:p>
              <a:pPr algn="l">
                <a:lnSpc>
                  <a:spcPts val="2032"/>
                </a:lnSpc>
              </a:pPr>
              <a:endParaRPr lang="en-US" sz="20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371541" lvl="1" indent="-185771" algn="l">
                <a:lnSpc>
                  <a:spcPts val="2032"/>
                </a:lnSpc>
                <a:buFont typeface="Arial"/>
                <a:buChar char="•"/>
              </a:pPr>
              <a:r>
                <a:rPr lang="en-US" sz="2052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Better Timing:</a:t>
              </a:r>
              <a:r>
                <a:rPr lang="en-US" sz="205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Win on a majority of test days for at least one crop.</a:t>
              </a:r>
            </a:p>
            <a:p>
              <a:pPr algn="l">
                <a:lnSpc>
                  <a:spcPts val="2032"/>
                </a:lnSpc>
              </a:pPr>
              <a:endParaRPr lang="en-US" sz="20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marL="371541" lvl="1" indent="-185771" algn="l">
                <a:lnSpc>
                  <a:spcPts val="2032"/>
                </a:lnSpc>
                <a:buFont typeface="Arial"/>
                <a:buChar char="•"/>
              </a:pPr>
              <a:r>
                <a:rPr lang="en-US" sz="2052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Farmer Trust:</a:t>
              </a:r>
              <a:r>
                <a:rPr lang="en-US" sz="205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Deliver clear, understandable recommendations.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842016" y="1124571"/>
            <a:ext cx="6937677" cy="6830709"/>
            <a:chOff x="0" y="0"/>
            <a:chExt cx="9250236" cy="9107612"/>
          </a:xfrm>
        </p:grpSpPr>
        <p:grpSp>
          <p:nvGrpSpPr>
            <p:cNvPr id="38" name="Group 38"/>
            <p:cNvGrpSpPr/>
            <p:nvPr/>
          </p:nvGrpSpPr>
          <p:grpSpPr>
            <a:xfrm>
              <a:off x="1233481" y="657773"/>
              <a:ext cx="1055853" cy="939676"/>
              <a:chOff x="0" y="0"/>
              <a:chExt cx="1055853" cy="93967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055878" cy="939676"/>
              </a:xfrm>
              <a:custGeom>
                <a:avLst/>
                <a:gdLst/>
                <a:ahLst/>
                <a:cxnLst/>
                <a:rect l="l" t="t" r="r" b="b"/>
                <a:pathLst>
                  <a:path w="1055878" h="939676">
                    <a:moveTo>
                      <a:pt x="0" y="469838"/>
                    </a:moveTo>
                    <a:lnTo>
                      <a:pt x="228600" y="0"/>
                    </a:lnTo>
                    <a:lnTo>
                      <a:pt x="827278" y="0"/>
                    </a:lnTo>
                    <a:lnTo>
                      <a:pt x="1055878" y="469838"/>
                    </a:lnTo>
                    <a:lnTo>
                      <a:pt x="827278" y="939676"/>
                    </a:lnTo>
                    <a:lnTo>
                      <a:pt x="228600" y="939676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1523664" y="883295"/>
              <a:ext cx="475488" cy="488631"/>
              <a:chOff x="0" y="0"/>
              <a:chExt cx="475488" cy="488631"/>
            </a:xfrm>
          </p:grpSpPr>
          <p:sp>
            <p:nvSpPr>
              <p:cNvPr id="41" name="Freeform 41" descr="ChartLine icon"/>
              <p:cNvSpPr/>
              <p:nvPr/>
            </p:nvSpPr>
            <p:spPr>
              <a:xfrm>
                <a:off x="0" y="0"/>
                <a:ext cx="475488" cy="488631"/>
              </a:xfrm>
              <a:custGeom>
                <a:avLst/>
                <a:gdLst/>
                <a:ahLst/>
                <a:cxnLst/>
                <a:rect l="l" t="t" r="r" b="b"/>
                <a:pathLst>
                  <a:path w="475488" h="488631">
                    <a:moveTo>
                      <a:pt x="0" y="0"/>
                    </a:moveTo>
                    <a:lnTo>
                      <a:pt x="475488" y="0"/>
                    </a:lnTo>
                    <a:lnTo>
                      <a:pt x="475488" y="488631"/>
                    </a:lnTo>
                    <a:lnTo>
                      <a:pt x="0" y="48863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382" r="-1382"/>
                </a:stretch>
              </a:blipFill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2513641" y="0"/>
              <a:ext cx="5303520" cy="2537381"/>
              <a:chOff x="0" y="0"/>
              <a:chExt cx="5303520" cy="2537381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5303520" cy="2537381"/>
              </a:xfrm>
              <a:custGeom>
                <a:avLst/>
                <a:gdLst/>
                <a:ahLst/>
                <a:cxnLst/>
                <a:rect l="l" t="t" r="r" b="b"/>
                <a:pathLst>
                  <a:path w="5303520" h="2537381">
                    <a:moveTo>
                      <a:pt x="0" y="0"/>
                    </a:moveTo>
                    <a:lnTo>
                      <a:pt x="5303520" y="0"/>
                    </a:lnTo>
                    <a:lnTo>
                      <a:pt x="5303520" y="2537381"/>
                    </a:lnTo>
                    <a:lnTo>
                      <a:pt x="0" y="253738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9825" b="38371"/>
                </a:stretch>
              </a:blip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19050"/>
                <a:ext cx="5303520" cy="25564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119"/>
                  </a:lnSpc>
                </a:pPr>
                <a:r>
                  <a:rPr lang="en-US" sz="2599" b="1">
                    <a:solidFill>
                      <a:srgbClr val="052B35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WHAT WE WILL IMPROVE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0" y="1866758"/>
              <a:ext cx="6149328" cy="1497107"/>
              <a:chOff x="0" y="0"/>
              <a:chExt cx="6149328" cy="1497107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6149279" cy="1497080"/>
              </a:xfrm>
              <a:custGeom>
                <a:avLst/>
                <a:gdLst/>
                <a:ahLst/>
                <a:cxnLst/>
                <a:rect l="l" t="t" r="r" b="b"/>
                <a:pathLst>
                  <a:path w="6149279" h="1497080">
                    <a:moveTo>
                      <a:pt x="0" y="249499"/>
                    </a:moveTo>
                    <a:cubicBezTo>
                      <a:pt x="0" y="111720"/>
                      <a:pt x="105759" y="0"/>
                      <a:pt x="236187" y="0"/>
                    </a:cubicBezTo>
                    <a:lnTo>
                      <a:pt x="5913091" y="0"/>
                    </a:lnTo>
                    <a:cubicBezTo>
                      <a:pt x="6043519" y="0"/>
                      <a:pt x="6149279" y="111720"/>
                      <a:pt x="6149279" y="249499"/>
                    </a:cubicBezTo>
                    <a:lnTo>
                      <a:pt x="6149279" y="1247582"/>
                    </a:lnTo>
                    <a:cubicBezTo>
                      <a:pt x="6149279" y="1385360"/>
                      <a:pt x="6043519" y="1497080"/>
                      <a:pt x="5913091" y="1497080"/>
                    </a:cubicBezTo>
                    <a:lnTo>
                      <a:pt x="236187" y="1497080"/>
                    </a:lnTo>
                    <a:cubicBezTo>
                      <a:pt x="105759" y="1497080"/>
                      <a:pt x="0" y="1385360"/>
                      <a:pt x="0" y="1247582"/>
                    </a:cubicBezTo>
                    <a:close/>
                  </a:path>
                </a:pathLst>
              </a:custGeom>
              <a:solidFill>
                <a:srgbClr val="F8F7ED"/>
              </a:solidFill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228195" y="2145881"/>
              <a:ext cx="900777" cy="951546"/>
              <a:chOff x="0" y="0"/>
              <a:chExt cx="900777" cy="95154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900744" cy="951511"/>
              </a:xfrm>
              <a:custGeom>
                <a:avLst/>
                <a:gdLst/>
                <a:ahLst/>
                <a:cxnLst/>
                <a:rect l="l" t="t" r="r" b="b"/>
                <a:pathLst>
                  <a:path w="900744" h="951511">
                    <a:moveTo>
                      <a:pt x="0" y="475755"/>
                    </a:moveTo>
                    <a:cubicBezTo>
                      <a:pt x="0" y="213051"/>
                      <a:pt x="201684" y="0"/>
                      <a:pt x="450372" y="0"/>
                    </a:cubicBezTo>
                    <a:cubicBezTo>
                      <a:pt x="699060" y="0"/>
                      <a:pt x="900744" y="213051"/>
                      <a:pt x="900744" y="475755"/>
                    </a:cubicBezTo>
                    <a:cubicBezTo>
                      <a:pt x="900744" y="738460"/>
                      <a:pt x="699060" y="951511"/>
                      <a:pt x="450372" y="951511"/>
                    </a:cubicBezTo>
                    <a:cubicBezTo>
                      <a:pt x="201684" y="951511"/>
                      <a:pt x="0" y="738548"/>
                      <a:pt x="0" y="475755"/>
                    </a:cubicBezTo>
                    <a:close/>
                  </a:path>
                </a:pathLst>
              </a:custGeom>
              <a:solidFill>
                <a:srgbClr val="E9F1DE"/>
              </a:solidFill>
            </p:spPr>
          </p:sp>
        </p:grpSp>
        <p:grpSp>
          <p:nvGrpSpPr>
            <p:cNvPr id="49" name="Group 49"/>
            <p:cNvGrpSpPr/>
            <p:nvPr/>
          </p:nvGrpSpPr>
          <p:grpSpPr>
            <a:xfrm>
              <a:off x="228195" y="2145881"/>
              <a:ext cx="900777" cy="951546"/>
              <a:chOff x="0" y="0"/>
              <a:chExt cx="900777" cy="95154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900783" cy="951552"/>
              </a:xfrm>
              <a:custGeom>
                <a:avLst/>
                <a:gdLst/>
                <a:ahLst/>
                <a:cxnLst/>
                <a:rect l="l" t="t" r="r" b="b"/>
                <a:pathLst>
                  <a:path w="900783" h="951552">
                    <a:moveTo>
                      <a:pt x="0" y="0"/>
                    </a:moveTo>
                    <a:lnTo>
                      <a:pt x="900783" y="0"/>
                    </a:lnTo>
                    <a:lnTo>
                      <a:pt x="900783" y="951552"/>
                    </a:lnTo>
                    <a:lnTo>
                      <a:pt x="0" y="951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19323" r="-171709" b="-44255"/>
                </a:stretch>
              </a:blipFill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0" y="0"/>
                <a:ext cx="900777" cy="95154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723"/>
                  </a:lnSpc>
                </a:pPr>
                <a:r>
                  <a:rPr lang="en-US" sz="3102" b="1">
                    <a:solidFill>
                      <a:srgbClr val="104227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₹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240536" y="1735109"/>
              <a:ext cx="2546210" cy="1113634"/>
              <a:chOff x="0" y="0"/>
              <a:chExt cx="2546210" cy="1113634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2546208" cy="1113632"/>
              </a:xfrm>
              <a:custGeom>
                <a:avLst/>
                <a:gdLst/>
                <a:ahLst/>
                <a:cxnLst/>
                <a:rect l="l" t="t" r="r" b="b"/>
                <a:pathLst>
                  <a:path w="2546208" h="1113632">
                    <a:moveTo>
                      <a:pt x="0" y="0"/>
                    </a:moveTo>
                    <a:lnTo>
                      <a:pt x="2546208" y="0"/>
                    </a:lnTo>
                    <a:lnTo>
                      <a:pt x="2546208" y="1113632"/>
                    </a:lnTo>
                    <a:lnTo>
                      <a:pt x="0" y="11136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9267" r="-52387" b="-6511"/>
                </a:stretch>
              </a:blipFill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0" y="0"/>
                <a:ext cx="2546210" cy="111363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922"/>
                  </a:lnSpc>
                </a:pPr>
                <a:r>
                  <a:rPr lang="en-US" sz="1601" b="1">
                    <a:solidFill>
                      <a:srgbClr val="19231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Price guessing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1205172" y="2158644"/>
              <a:ext cx="3086682" cy="1376974"/>
              <a:chOff x="0" y="0"/>
              <a:chExt cx="2942553" cy="1312678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0" y="0"/>
                <a:ext cx="2942551" cy="1312675"/>
              </a:xfrm>
              <a:custGeom>
                <a:avLst/>
                <a:gdLst/>
                <a:ahLst/>
                <a:cxnLst/>
                <a:rect l="l" t="t" r="r" b="b"/>
                <a:pathLst>
                  <a:path w="2942551" h="1312675">
                    <a:moveTo>
                      <a:pt x="0" y="0"/>
                    </a:moveTo>
                    <a:lnTo>
                      <a:pt x="2942551" y="0"/>
                    </a:lnTo>
                    <a:lnTo>
                      <a:pt x="2942551" y="1312675"/>
                    </a:lnTo>
                    <a:lnTo>
                      <a:pt x="0" y="131267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8914" r="-52386" b="-4205"/>
                </a:stretch>
              </a:blipFill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0" y="-9525"/>
                <a:ext cx="2942553" cy="1322203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621"/>
                  </a:lnSpc>
                </a:pPr>
                <a:r>
                  <a:rPr lang="en-US" sz="1351">
                    <a:solidFill>
                      <a:srgbClr val="3A413C"/>
                    </a:solidFill>
                    <a:latin typeface="Aptos"/>
                    <a:ea typeface="Aptos"/>
                    <a:cs typeface="Aptos"/>
                    <a:sym typeface="Aptos"/>
                  </a:rPr>
                  <a:t>Farmers see prices but </a:t>
                </a:r>
              </a:p>
              <a:p>
                <a:pPr algn="l">
                  <a:lnSpc>
                    <a:spcPts val="1741"/>
                  </a:lnSpc>
                </a:pPr>
                <a:r>
                  <a:rPr lang="en-US" sz="1451">
                    <a:solidFill>
                      <a:srgbClr val="3A413C"/>
                    </a:solidFill>
                    <a:latin typeface="Aptos"/>
                    <a:ea typeface="Aptos"/>
                    <a:cs typeface="Aptos"/>
                    <a:sym typeface="Aptos"/>
                  </a:rPr>
                  <a:t>don’t know what to do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0" y="3642988"/>
              <a:ext cx="6149328" cy="1497107"/>
              <a:chOff x="0" y="0"/>
              <a:chExt cx="6149328" cy="1497107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6149279" cy="1497080"/>
              </a:xfrm>
              <a:custGeom>
                <a:avLst/>
                <a:gdLst/>
                <a:ahLst/>
                <a:cxnLst/>
                <a:rect l="l" t="t" r="r" b="b"/>
                <a:pathLst>
                  <a:path w="6149279" h="1497080">
                    <a:moveTo>
                      <a:pt x="0" y="249499"/>
                    </a:moveTo>
                    <a:cubicBezTo>
                      <a:pt x="0" y="111720"/>
                      <a:pt x="105759" y="0"/>
                      <a:pt x="236187" y="0"/>
                    </a:cubicBezTo>
                    <a:lnTo>
                      <a:pt x="5913091" y="0"/>
                    </a:lnTo>
                    <a:cubicBezTo>
                      <a:pt x="6043519" y="0"/>
                      <a:pt x="6149279" y="111720"/>
                      <a:pt x="6149279" y="249499"/>
                    </a:cubicBezTo>
                    <a:lnTo>
                      <a:pt x="6149279" y="1247582"/>
                    </a:lnTo>
                    <a:cubicBezTo>
                      <a:pt x="6149279" y="1385360"/>
                      <a:pt x="6043519" y="1497080"/>
                      <a:pt x="5913091" y="1497080"/>
                    </a:cubicBezTo>
                    <a:lnTo>
                      <a:pt x="236187" y="1497080"/>
                    </a:lnTo>
                    <a:cubicBezTo>
                      <a:pt x="105759" y="1497080"/>
                      <a:pt x="0" y="1385360"/>
                      <a:pt x="0" y="1247582"/>
                    </a:cubicBezTo>
                    <a:close/>
                  </a:path>
                </a:pathLst>
              </a:custGeom>
              <a:solidFill>
                <a:srgbClr val="F8F7ED"/>
              </a:solidFill>
            </p:spPr>
          </p:sp>
        </p:grpSp>
        <p:grpSp>
          <p:nvGrpSpPr>
            <p:cNvPr id="60" name="Group 60"/>
            <p:cNvGrpSpPr/>
            <p:nvPr/>
          </p:nvGrpSpPr>
          <p:grpSpPr>
            <a:xfrm>
              <a:off x="228195" y="3922111"/>
              <a:ext cx="900777" cy="951546"/>
              <a:chOff x="0" y="0"/>
              <a:chExt cx="900777" cy="95154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900744" cy="951511"/>
              </a:xfrm>
              <a:custGeom>
                <a:avLst/>
                <a:gdLst/>
                <a:ahLst/>
                <a:cxnLst/>
                <a:rect l="l" t="t" r="r" b="b"/>
                <a:pathLst>
                  <a:path w="900744" h="951511">
                    <a:moveTo>
                      <a:pt x="0" y="475755"/>
                    </a:moveTo>
                    <a:cubicBezTo>
                      <a:pt x="0" y="213051"/>
                      <a:pt x="201684" y="0"/>
                      <a:pt x="450372" y="0"/>
                    </a:cubicBezTo>
                    <a:cubicBezTo>
                      <a:pt x="699060" y="0"/>
                      <a:pt x="900744" y="213051"/>
                      <a:pt x="900744" y="475755"/>
                    </a:cubicBezTo>
                    <a:cubicBezTo>
                      <a:pt x="900744" y="738460"/>
                      <a:pt x="699060" y="951511"/>
                      <a:pt x="450372" y="951511"/>
                    </a:cubicBezTo>
                    <a:cubicBezTo>
                      <a:pt x="201684" y="951511"/>
                      <a:pt x="0" y="738548"/>
                      <a:pt x="0" y="475755"/>
                    </a:cubicBezTo>
                    <a:close/>
                  </a:path>
                </a:pathLst>
              </a:custGeom>
              <a:solidFill>
                <a:srgbClr val="E9F1DE"/>
              </a:solidFill>
            </p:spPr>
          </p:sp>
        </p:grpSp>
        <p:grpSp>
          <p:nvGrpSpPr>
            <p:cNvPr id="62" name="Group 62"/>
            <p:cNvGrpSpPr/>
            <p:nvPr/>
          </p:nvGrpSpPr>
          <p:grpSpPr>
            <a:xfrm>
              <a:off x="228195" y="3922111"/>
              <a:ext cx="900777" cy="987341"/>
              <a:chOff x="0" y="0"/>
              <a:chExt cx="900777" cy="987341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0" y="0"/>
                <a:ext cx="900783" cy="987346"/>
              </a:xfrm>
              <a:custGeom>
                <a:avLst/>
                <a:gdLst/>
                <a:ahLst/>
                <a:cxnLst/>
                <a:rect l="l" t="t" r="r" b="b"/>
                <a:pathLst>
                  <a:path w="900783" h="987346">
                    <a:moveTo>
                      <a:pt x="0" y="0"/>
                    </a:moveTo>
                    <a:lnTo>
                      <a:pt x="900783" y="0"/>
                    </a:lnTo>
                    <a:lnTo>
                      <a:pt x="900783" y="987346"/>
                    </a:lnTo>
                    <a:lnTo>
                      <a:pt x="0" y="98734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19323" r="-171709" b="-39025"/>
                </a:stretch>
              </a:blipFill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0" y="-66675"/>
                <a:ext cx="900777" cy="10540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723"/>
                  </a:lnSpc>
                </a:pPr>
                <a:r>
                  <a:rPr lang="en-US" sz="3102" b="1">
                    <a:solidFill>
                      <a:srgbClr val="10422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▰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1273101" y="3318580"/>
              <a:ext cx="2546210" cy="1609532"/>
              <a:chOff x="0" y="0"/>
              <a:chExt cx="2546210" cy="1609532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2546208" cy="1609530"/>
              </a:xfrm>
              <a:custGeom>
                <a:avLst/>
                <a:gdLst/>
                <a:ahLst/>
                <a:cxnLst/>
                <a:rect l="l" t="t" r="r" b="b"/>
                <a:pathLst>
                  <a:path w="2546208" h="1609530">
                    <a:moveTo>
                      <a:pt x="0" y="0"/>
                    </a:moveTo>
                    <a:lnTo>
                      <a:pt x="2546208" y="0"/>
                    </a:lnTo>
                    <a:lnTo>
                      <a:pt x="2546208" y="1609530"/>
                    </a:lnTo>
                    <a:lnTo>
                      <a:pt x="0" y="16095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0250" r="-52387" b="26305"/>
                </a:stretch>
              </a:blipFill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0" y="0"/>
                <a:ext cx="2546210" cy="160953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82"/>
                  </a:lnSpc>
                </a:pPr>
                <a:r>
                  <a:rPr lang="en-US" sz="1901" b="1">
                    <a:solidFill>
                      <a:srgbClr val="19231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Highest price</a:t>
                </a:r>
              </a:p>
              <a:p>
                <a:pPr algn="l">
                  <a:lnSpc>
                    <a:spcPts val="2282"/>
                  </a:lnSpc>
                </a:pPr>
                <a:r>
                  <a:rPr lang="en-US" sz="1901" b="1">
                    <a:solidFill>
                      <a:srgbClr val="19231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is assumed best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1273101" y="4327217"/>
              <a:ext cx="2942553" cy="908116"/>
              <a:chOff x="0" y="0"/>
              <a:chExt cx="2942553" cy="90811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2942551" cy="908114"/>
              </a:xfrm>
              <a:custGeom>
                <a:avLst/>
                <a:gdLst/>
                <a:ahLst/>
                <a:cxnLst/>
                <a:rect l="l" t="t" r="r" b="b"/>
                <a:pathLst>
                  <a:path w="2942551" h="908114">
                    <a:moveTo>
                      <a:pt x="0" y="0"/>
                    </a:moveTo>
                    <a:lnTo>
                      <a:pt x="2942551" y="0"/>
                    </a:lnTo>
                    <a:lnTo>
                      <a:pt x="2942551" y="908114"/>
                    </a:lnTo>
                    <a:lnTo>
                      <a:pt x="0" y="90811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41796" r="-52386" b="-50629"/>
                </a:stretch>
              </a:blipFill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0" y="0"/>
                <a:ext cx="2942553" cy="9081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741"/>
                  </a:lnSpc>
                </a:pPr>
                <a:r>
                  <a:rPr lang="en-US" sz="1451">
                    <a:solidFill>
                      <a:srgbClr val="3A413C"/>
                    </a:solidFill>
                    <a:latin typeface="Aptos"/>
                    <a:ea typeface="Aptos"/>
                    <a:cs typeface="Aptos"/>
                    <a:sym typeface="Aptos"/>
                  </a:rPr>
                  <a:t>Hidden costs are</a:t>
                </a:r>
              </a:p>
              <a:p>
                <a:pPr algn="l">
                  <a:lnSpc>
                    <a:spcPts val="1741"/>
                  </a:lnSpc>
                </a:pPr>
                <a:r>
                  <a:rPr lang="en-US" sz="1451">
                    <a:solidFill>
                      <a:srgbClr val="3A413C"/>
                    </a:solidFill>
                    <a:latin typeface="Aptos"/>
                    <a:ea typeface="Aptos"/>
                    <a:cs typeface="Aptos"/>
                    <a:sym typeface="Aptos"/>
                  </a:rPr>
                  <a:t>ignored</a:t>
                </a:r>
              </a:p>
            </p:txBody>
          </p:sp>
        </p:grpSp>
        <p:grpSp>
          <p:nvGrpSpPr>
            <p:cNvPr id="71" name="Group 71"/>
            <p:cNvGrpSpPr/>
            <p:nvPr/>
          </p:nvGrpSpPr>
          <p:grpSpPr>
            <a:xfrm>
              <a:off x="228195" y="5558784"/>
              <a:ext cx="6149328" cy="1497107"/>
              <a:chOff x="0" y="0"/>
              <a:chExt cx="6149328" cy="1497107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6149279" cy="1497080"/>
              </a:xfrm>
              <a:custGeom>
                <a:avLst/>
                <a:gdLst/>
                <a:ahLst/>
                <a:cxnLst/>
                <a:rect l="l" t="t" r="r" b="b"/>
                <a:pathLst>
                  <a:path w="6149279" h="1497080">
                    <a:moveTo>
                      <a:pt x="0" y="249499"/>
                    </a:moveTo>
                    <a:cubicBezTo>
                      <a:pt x="0" y="111720"/>
                      <a:pt x="105759" y="0"/>
                      <a:pt x="236187" y="0"/>
                    </a:cubicBezTo>
                    <a:lnTo>
                      <a:pt x="5913091" y="0"/>
                    </a:lnTo>
                    <a:cubicBezTo>
                      <a:pt x="6043519" y="0"/>
                      <a:pt x="6149279" y="111720"/>
                      <a:pt x="6149279" y="249499"/>
                    </a:cubicBezTo>
                    <a:lnTo>
                      <a:pt x="6149279" y="1247582"/>
                    </a:lnTo>
                    <a:cubicBezTo>
                      <a:pt x="6149279" y="1385360"/>
                      <a:pt x="6043519" y="1497080"/>
                      <a:pt x="5913091" y="1497080"/>
                    </a:cubicBezTo>
                    <a:lnTo>
                      <a:pt x="236187" y="1497080"/>
                    </a:lnTo>
                    <a:cubicBezTo>
                      <a:pt x="105759" y="1497080"/>
                      <a:pt x="0" y="1385360"/>
                      <a:pt x="0" y="1247582"/>
                    </a:cubicBezTo>
                    <a:close/>
                  </a:path>
                </a:pathLst>
              </a:custGeom>
              <a:solidFill>
                <a:srgbClr val="F8F7ED"/>
              </a:solidFill>
            </p:spPr>
          </p:sp>
        </p:grpSp>
        <p:grpSp>
          <p:nvGrpSpPr>
            <p:cNvPr id="73" name="Group 73"/>
            <p:cNvGrpSpPr/>
            <p:nvPr/>
          </p:nvGrpSpPr>
          <p:grpSpPr>
            <a:xfrm>
              <a:off x="228195" y="5698333"/>
              <a:ext cx="900777" cy="951546"/>
              <a:chOff x="0" y="0"/>
              <a:chExt cx="900777" cy="95154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900744" cy="951511"/>
              </a:xfrm>
              <a:custGeom>
                <a:avLst/>
                <a:gdLst/>
                <a:ahLst/>
                <a:cxnLst/>
                <a:rect l="l" t="t" r="r" b="b"/>
                <a:pathLst>
                  <a:path w="900744" h="951511">
                    <a:moveTo>
                      <a:pt x="0" y="475755"/>
                    </a:moveTo>
                    <a:cubicBezTo>
                      <a:pt x="0" y="213051"/>
                      <a:pt x="201684" y="0"/>
                      <a:pt x="450372" y="0"/>
                    </a:cubicBezTo>
                    <a:cubicBezTo>
                      <a:pt x="699060" y="0"/>
                      <a:pt x="900744" y="213051"/>
                      <a:pt x="900744" y="475755"/>
                    </a:cubicBezTo>
                    <a:cubicBezTo>
                      <a:pt x="900744" y="738460"/>
                      <a:pt x="699060" y="951511"/>
                      <a:pt x="450372" y="951511"/>
                    </a:cubicBezTo>
                    <a:cubicBezTo>
                      <a:pt x="201684" y="951511"/>
                      <a:pt x="0" y="738548"/>
                      <a:pt x="0" y="475755"/>
                    </a:cubicBezTo>
                    <a:close/>
                  </a:path>
                </a:pathLst>
              </a:custGeom>
              <a:solidFill>
                <a:srgbClr val="E9F1DE"/>
              </a:solidFill>
            </p:spPr>
          </p:sp>
        </p:grpSp>
        <p:grpSp>
          <p:nvGrpSpPr>
            <p:cNvPr id="75" name="Group 75"/>
            <p:cNvGrpSpPr/>
            <p:nvPr/>
          </p:nvGrpSpPr>
          <p:grpSpPr>
            <a:xfrm>
              <a:off x="228195" y="5698333"/>
              <a:ext cx="900777" cy="987341"/>
              <a:chOff x="0" y="0"/>
              <a:chExt cx="900777" cy="987341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900783" cy="987346"/>
              </a:xfrm>
              <a:custGeom>
                <a:avLst/>
                <a:gdLst/>
                <a:ahLst/>
                <a:cxnLst/>
                <a:rect l="l" t="t" r="r" b="b"/>
                <a:pathLst>
                  <a:path w="900783" h="987346">
                    <a:moveTo>
                      <a:pt x="0" y="0"/>
                    </a:moveTo>
                    <a:lnTo>
                      <a:pt x="900783" y="0"/>
                    </a:lnTo>
                    <a:lnTo>
                      <a:pt x="900783" y="987346"/>
                    </a:lnTo>
                    <a:lnTo>
                      <a:pt x="0" y="98734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19323" r="-171709" b="-39025"/>
                </a:stretch>
              </a:blip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66675"/>
                <a:ext cx="900777" cy="10540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723"/>
                  </a:lnSpc>
                </a:pPr>
                <a:r>
                  <a:rPr lang="en-US" sz="3102" b="1">
                    <a:solidFill>
                      <a:srgbClr val="10422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◷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1441245" y="5187011"/>
              <a:ext cx="2591783" cy="1609532"/>
              <a:chOff x="0" y="0"/>
              <a:chExt cx="2591783" cy="1609532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2591780" cy="1609530"/>
              </a:xfrm>
              <a:custGeom>
                <a:avLst/>
                <a:gdLst/>
                <a:ahLst/>
                <a:cxnLst/>
                <a:rect l="l" t="t" r="r" b="b"/>
                <a:pathLst>
                  <a:path w="2591780" h="1609530">
                    <a:moveTo>
                      <a:pt x="0" y="0"/>
                    </a:moveTo>
                    <a:lnTo>
                      <a:pt x="2591780" y="0"/>
                    </a:lnTo>
                    <a:lnTo>
                      <a:pt x="2591780" y="1609530"/>
                    </a:lnTo>
                    <a:lnTo>
                      <a:pt x="0" y="16095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0250" r="-49707" b="26305"/>
                </a:stretch>
              </a:blip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0" y="0"/>
                <a:ext cx="2591783" cy="160953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82"/>
                  </a:lnSpc>
                </a:pPr>
                <a:r>
                  <a:rPr lang="en-US" sz="1901" b="1">
                    <a:solidFill>
                      <a:srgbClr val="19231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Waiting based on hope</a:t>
                </a: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1273101" y="6103447"/>
              <a:ext cx="2546210" cy="908116"/>
              <a:chOff x="0" y="0"/>
              <a:chExt cx="2546210" cy="908116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2546209" cy="908114"/>
              </a:xfrm>
              <a:custGeom>
                <a:avLst/>
                <a:gdLst/>
                <a:ahLst/>
                <a:cxnLst/>
                <a:rect l="l" t="t" r="r" b="b"/>
                <a:pathLst>
                  <a:path w="2546209" h="908114">
                    <a:moveTo>
                      <a:pt x="0" y="0"/>
                    </a:moveTo>
                    <a:lnTo>
                      <a:pt x="2546209" y="0"/>
                    </a:lnTo>
                    <a:lnTo>
                      <a:pt x="2546209" y="908114"/>
                    </a:lnTo>
                    <a:lnTo>
                      <a:pt x="0" y="90811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41796" r="-76107" b="-50629"/>
                </a:stretch>
              </a:blip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0"/>
                <a:ext cx="2546210" cy="9081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741"/>
                  </a:lnSpc>
                </a:pPr>
                <a:r>
                  <a:rPr lang="en-US" sz="1451">
                    <a:solidFill>
                      <a:srgbClr val="3A413C"/>
                    </a:solidFill>
                    <a:latin typeface="Aptos"/>
                    <a:ea typeface="Aptos"/>
                    <a:cs typeface="Aptos"/>
                    <a:sym typeface="Aptos"/>
                  </a:rPr>
                  <a:t>No idea if price will rise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0" y="7195439"/>
              <a:ext cx="6149328" cy="1497107"/>
              <a:chOff x="0" y="0"/>
              <a:chExt cx="6149328" cy="1497107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6149279" cy="1497080"/>
              </a:xfrm>
              <a:custGeom>
                <a:avLst/>
                <a:gdLst/>
                <a:ahLst/>
                <a:cxnLst/>
                <a:rect l="l" t="t" r="r" b="b"/>
                <a:pathLst>
                  <a:path w="6149279" h="1497080">
                    <a:moveTo>
                      <a:pt x="0" y="249499"/>
                    </a:moveTo>
                    <a:cubicBezTo>
                      <a:pt x="0" y="111720"/>
                      <a:pt x="105759" y="0"/>
                      <a:pt x="236187" y="0"/>
                    </a:cubicBezTo>
                    <a:lnTo>
                      <a:pt x="5913091" y="0"/>
                    </a:lnTo>
                    <a:cubicBezTo>
                      <a:pt x="6043519" y="0"/>
                      <a:pt x="6149279" y="111720"/>
                      <a:pt x="6149279" y="249499"/>
                    </a:cubicBezTo>
                    <a:lnTo>
                      <a:pt x="6149279" y="1247582"/>
                    </a:lnTo>
                    <a:cubicBezTo>
                      <a:pt x="6149279" y="1385360"/>
                      <a:pt x="6043519" y="1497080"/>
                      <a:pt x="5913091" y="1497080"/>
                    </a:cubicBezTo>
                    <a:lnTo>
                      <a:pt x="236187" y="1497080"/>
                    </a:lnTo>
                    <a:cubicBezTo>
                      <a:pt x="105759" y="1497080"/>
                      <a:pt x="0" y="1385360"/>
                      <a:pt x="0" y="1247582"/>
                    </a:cubicBezTo>
                    <a:close/>
                  </a:path>
                </a:pathLst>
              </a:custGeom>
              <a:solidFill>
                <a:srgbClr val="F8F7ED"/>
              </a:solidFill>
            </p:spPr>
          </p:sp>
        </p:grpSp>
        <p:grpSp>
          <p:nvGrpSpPr>
            <p:cNvPr id="86" name="Group 86"/>
            <p:cNvGrpSpPr/>
            <p:nvPr/>
          </p:nvGrpSpPr>
          <p:grpSpPr>
            <a:xfrm>
              <a:off x="228195" y="7474562"/>
              <a:ext cx="900777" cy="951546"/>
              <a:chOff x="0" y="0"/>
              <a:chExt cx="900777" cy="951546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0" y="0"/>
                <a:ext cx="900744" cy="951511"/>
              </a:xfrm>
              <a:custGeom>
                <a:avLst/>
                <a:gdLst/>
                <a:ahLst/>
                <a:cxnLst/>
                <a:rect l="l" t="t" r="r" b="b"/>
                <a:pathLst>
                  <a:path w="900744" h="951511">
                    <a:moveTo>
                      <a:pt x="0" y="475755"/>
                    </a:moveTo>
                    <a:cubicBezTo>
                      <a:pt x="0" y="213051"/>
                      <a:pt x="201684" y="0"/>
                      <a:pt x="450372" y="0"/>
                    </a:cubicBezTo>
                    <a:cubicBezTo>
                      <a:pt x="699060" y="0"/>
                      <a:pt x="900744" y="213051"/>
                      <a:pt x="900744" y="475755"/>
                    </a:cubicBezTo>
                    <a:cubicBezTo>
                      <a:pt x="900744" y="738460"/>
                      <a:pt x="699060" y="951511"/>
                      <a:pt x="450372" y="951511"/>
                    </a:cubicBezTo>
                    <a:cubicBezTo>
                      <a:pt x="201684" y="951511"/>
                      <a:pt x="0" y="738548"/>
                      <a:pt x="0" y="475755"/>
                    </a:cubicBezTo>
                    <a:close/>
                  </a:path>
                </a:pathLst>
              </a:custGeom>
              <a:solidFill>
                <a:srgbClr val="E9F1DE"/>
              </a:solidFill>
            </p:spPr>
          </p:sp>
        </p:grpSp>
        <p:grpSp>
          <p:nvGrpSpPr>
            <p:cNvPr id="88" name="Group 88"/>
            <p:cNvGrpSpPr/>
            <p:nvPr/>
          </p:nvGrpSpPr>
          <p:grpSpPr>
            <a:xfrm>
              <a:off x="228195" y="7474562"/>
              <a:ext cx="900777" cy="951546"/>
              <a:chOff x="0" y="0"/>
              <a:chExt cx="900777" cy="951546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900783" cy="951552"/>
              </a:xfrm>
              <a:custGeom>
                <a:avLst/>
                <a:gdLst/>
                <a:ahLst/>
                <a:cxnLst/>
                <a:rect l="l" t="t" r="r" b="b"/>
                <a:pathLst>
                  <a:path w="900783" h="951552">
                    <a:moveTo>
                      <a:pt x="0" y="0"/>
                    </a:moveTo>
                    <a:lnTo>
                      <a:pt x="900783" y="0"/>
                    </a:lnTo>
                    <a:lnTo>
                      <a:pt x="900783" y="951552"/>
                    </a:lnTo>
                    <a:lnTo>
                      <a:pt x="0" y="951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19323" r="-171709" b="-44255"/>
                </a:stretch>
              </a:blipFill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0" y="0"/>
                <a:ext cx="900777" cy="95154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723"/>
                  </a:lnSpc>
                </a:pPr>
                <a:r>
                  <a:rPr lang="en-US" sz="3102" b="1">
                    <a:solidFill>
                      <a:srgbClr val="104227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↔</a:t>
                </a: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1273101" y="7192055"/>
              <a:ext cx="2546210" cy="1113634"/>
              <a:chOff x="0" y="0"/>
              <a:chExt cx="2546210" cy="1113634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2546208" cy="1113632"/>
              </a:xfrm>
              <a:custGeom>
                <a:avLst/>
                <a:gdLst/>
                <a:ahLst/>
                <a:cxnLst/>
                <a:rect l="l" t="t" r="r" b="b"/>
                <a:pathLst>
                  <a:path w="2546208" h="1113632">
                    <a:moveTo>
                      <a:pt x="0" y="0"/>
                    </a:moveTo>
                    <a:lnTo>
                      <a:pt x="2546208" y="0"/>
                    </a:lnTo>
                    <a:lnTo>
                      <a:pt x="2546208" y="1113632"/>
                    </a:lnTo>
                    <a:lnTo>
                      <a:pt x="0" y="11136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29267" r="-52387" b="-6511"/>
                </a:stretch>
              </a:blipFill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0" y="0"/>
                <a:ext cx="2546210" cy="111363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82"/>
                  </a:lnSpc>
                </a:pPr>
                <a:r>
                  <a:rPr lang="en-US" sz="1901" b="1">
                    <a:solidFill>
                      <a:srgbClr val="19231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One-size advice</a:t>
                </a: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3681007" y="2315037"/>
              <a:ext cx="832437" cy="1003543"/>
              <a:chOff x="0" y="0"/>
              <a:chExt cx="960833" cy="1158329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960833" cy="1158327"/>
              </a:xfrm>
              <a:custGeom>
                <a:avLst/>
                <a:gdLst/>
                <a:ahLst/>
                <a:cxnLst/>
                <a:rect l="l" t="t" r="r" b="b"/>
                <a:pathLst>
                  <a:path w="960833" h="1158327">
                    <a:moveTo>
                      <a:pt x="0" y="0"/>
                    </a:moveTo>
                    <a:lnTo>
                      <a:pt x="960833" y="0"/>
                    </a:lnTo>
                    <a:lnTo>
                      <a:pt x="960833" y="1158327"/>
                    </a:lnTo>
                    <a:lnTo>
                      <a:pt x="0" y="115832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5333" r="-127720" b="2035"/>
                </a:stretch>
              </a:blipFill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0" y="-76200"/>
                <a:ext cx="960833" cy="123452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443"/>
                  </a:lnSpc>
                </a:pPr>
                <a:r>
                  <a:rPr lang="en-US" sz="3703" b="1">
                    <a:solidFill>
                      <a:srgbClr val="10422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➜</a:t>
                </a: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3646463" y="3968037"/>
              <a:ext cx="866981" cy="1045187"/>
              <a:chOff x="0" y="0"/>
              <a:chExt cx="960833" cy="1158329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960833" cy="1158327"/>
              </a:xfrm>
              <a:custGeom>
                <a:avLst/>
                <a:gdLst/>
                <a:ahLst/>
                <a:cxnLst/>
                <a:rect l="l" t="t" r="r" b="b"/>
                <a:pathLst>
                  <a:path w="960833" h="1158327">
                    <a:moveTo>
                      <a:pt x="0" y="0"/>
                    </a:moveTo>
                    <a:lnTo>
                      <a:pt x="960833" y="0"/>
                    </a:lnTo>
                    <a:lnTo>
                      <a:pt x="960833" y="1158327"/>
                    </a:lnTo>
                    <a:lnTo>
                      <a:pt x="0" y="115832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5333" r="-127720" b="2035"/>
                </a:stretch>
              </a:blipFill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0" y="-76200"/>
                <a:ext cx="960833" cy="123452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443"/>
                  </a:lnSpc>
                </a:pPr>
                <a:r>
                  <a:rPr lang="en-US" sz="3703" b="1">
                    <a:solidFill>
                      <a:srgbClr val="10422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➜</a:t>
                </a: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3683180" y="5638214"/>
              <a:ext cx="830264" cy="1000922"/>
              <a:chOff x="0" y="0"/>
              <a:chExt cx="960833" cy="1158329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960833" cy="1158327"/>
              </a:xfrm>
              <a:custGeom>
                <a:avLst/>
                <a:gdLst/>
                <a:ahLst/>
                <a:cxnLst/>
                <a:rect l="l" t="t" r="r" b="b"/>
                <a:pathLst>
                  <a:path w="960833" h="1158327">
                    <a:moveTo>
                      <a:pt x="0" y="0"/>
                    </a:moveTo>
                    <a:lnTo>
                      <a:pt x="960833" y="0"/>
                    </a:lnTo>
                    <a:lnTo>
                      <a:pt x="960833" y="1158327"/>
                    </a:lnTo>
                    <a:lnTo>
                      <a:pt x="0" y="115832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5333" r="-127720" b="2035"/>
                </a:stretch>
              </a:blipFill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0" y="-76200"/>
                <a:ext cx="960833" cy="123452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443"/>
                  </a:lnSpc>
                </a:pPr>
                <a:r>
                  <a:rPr lang="en-US" sz="3703" b="1">
                    <a:solidFill>
                      <a:srgbClr val="10422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➜</a:t>
                </a: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3607507" y="7473524"/>
              <a:ext cx="905937" cy="1092150"/>
              <a:chOff x="0" y="0"/>
              <a:chExt cx="960833" cy="1158329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960833" cy="1158327"/>
              </a:xfrm>
              <a:custGeom>
                <a:avLst/>
                <a:gdLst/>
                <a:ahLst/>
                <a:cxnLst/>
                <a:rect l="l" t="t" r="r" b="b"/>
                <a:pathLst>
                  <a:path w="960833" h="1158327">
                    <a:moveTo>
                      <a:pt x="0" y="0"/>
                    </a:moveTo>
                    <a:lnTo>
                      <a:pt x="960833" y="0"/>
                    </a:lnTo>
                    <a:lnTo>
                      <a:pt x="960833" y="1158327"/>
                    </a:lnTo>
                    <a:lnTo>
                      <a:pt x="0" y="115832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75333" r="-127720" b="2035"/>
                </a:stretch>
              </a:blipFill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0" y="-76200"/>
                <a:ext cx="960833" cy="123452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4443"/>
                  </a:lnSpc>
                </a:pPr>
                <a:r>
                  <a:rPr lang="en-US" sz="3703" b="1">
                    <a:solidFill>
                      <a:srgbClr val="10422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➜</a:t>
                </a: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4299728" y="2006324"/>
              <a:ext cx="4482081" cy="1497107"/>
              <a:chOff x="0" y="0"/>
              <a:chExt cx="4482081" cy="1497107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4482040" cy="1497080"/>
              </a:xfrm>
              <a:custGeom>
                <a:avLst/>
                <a:gdLst/>
                <a:ahLst/>
                <a:cxnLst/>
                <a:rect l="l" t="t" r="r" b="b"/>
                <a:pathLst>
                  <a:path w="4482040" h="1497080">
                    <a:moveTo>
                      <a:pt x="0" y="249499"/>
                    </a:moveTo>
                    <a:cubicBezTo>
                      <a:pt x="0" y="111720"/>
                      <a:pt x="74467" y="0"/>
                      <a:pt x="166304" y="0"/>
                    </a:cubicBezTo>
                    <a:lnTo>
                      <a:pt x="4315737" y="0"/>
                    </a:lnTo>
                    <a:cubicBezTo>
                      <a:pt x="4407573" y="0"/>
                      <a:pt x="4482040" y="111720"/>
                      <a:pt x="4482040" y="249499"/>
                    </a:cubicBezTo>
                    <a:lnTo>
                      <a:pt x="4482040" y="1247582"/>
                    </a:lnTo>
                    <a:cubicBezTo>
                      <a:pt x="4482040" y="1385360"/>
                      <a:pt x="4407573" y="1497080"/>
                      <a:pt x="4315737" y="1497080"/>
                    </a:cubicBezTo>
                    <a:lnTo>
                      <a:pt x="166304" y="1497080"/>
                    </a:lnTo>
                    <a:cubicBezTo>
                      <a:pt x="74467" y="1497080"/>
                      <a:pt x="0" y="1385360"/>
                      <a:pt x="0" y="1247582"/>
                    </a:cubicBezTo>
                    <a:close/>
                  </a:path>
                </a:pathLst>
              </a:custGeom>
              <a:solidFill>
                <a:srgbClr val="E0F2CF"/>
              </a:solidFill>
            </p:spPr>
          </p:sp>
        </p:grpSp>
        <p:grpSp>
          <p:nvGrpSpPr>
            <p:cNvPr id="108" name="Group 108"/>
            <p:cNvGrpSpPr/>
            <p:nvPr/>
          </p:nvGrpSpPr>
          <p:grpSpPr>
            <a:xfrm>
              <a:off x="4539932" y="2505000"/>
              <a:ext cx="692939" cy="731993"/>
              <a:chOff x="0" y="0"/>
              <a:chExt cx="900777" cy="951546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900744" cy="951511"/>
              </a:xfrm>
              <a:custGeom>
                <a:avLst/>
                <a:gdLst/>
                <a:ahLst/>
                <a:cxnLst/>
                <a:rect l="l" t="t" r="r" b="b"/>
                <a:pathLst>
                  <a:path w="900744" h="951511">
                    <a:moveTo>
                      <a:pt x="0" y="475755"/>
                    </a:moveTo>
                    <a:cubicBezTo>
                      <a:pt x="0" y="213051"/>
                      <a:pt x="201684" y="0"/>
                      <a:pt x="450372" y="0"/>
                    </a:cubicBezTo>
                    <a:cubicBezTo>
                      <a:pt x="699060" y="0"/>
                      <a:pt x="900744" y="213051"/>
                      <a:pt x="900744" y="475755"/>
                    </a:cubicBezTo>
                    <a:cubicBezTo>
                      <a:pt x="900744" y="738460"/>
                      <a:pt x="699060" y="951511"/>
                      <a:pt x="450372" y="951511"/>
                    </a:cubicBezTo>
                    <a:cubicBezTo>
                      <a:pt x="201684" y="951511"/>
                      <a:pt x="0" y="738548"/>
                      <a:pt x="0" y="475755"/>
                    </a:cubicBezTo>
                    <a:close/>
                  </a:path>
                </a:pathLst>
              </a:custGeom>
              <a:solidFill>
                <a:srgbClr val="D3E8BE"/>
              </a:solidFill>
            </p:spPr>
          </p:sp>
        </p:grpSp>
        <p:grpSp>
          <p:nvGrpSpPr>
            <p:cNvPr id="110" name="Group 110"/>
            <p:cNvGrpSpPr/>
            <p:nvPr/>
          </p:nvGrpSpPr>
          <p:grpSpPr>
            <a:xfrm>
              <a:off x="4539932" y="2457426"/>
              <a:ext cx="737974" cy="779567"/>
              <a:chOff x="0" y="0"/>
              <a:chExt cx="900777" cy="951546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0" y="0"/>
                <a:ext cx="900783" cy="951552"/>
              </a:xfrm>
              <a:custGeom>
                <a:avLst/>
                <a:gdLst/>
                <a:ahLst/>
                <a:cxnLst/>
                <a:rect l="l" t="t" r="r" b="b"/>
                <a:pathLst>
                  <a:path w="900783" h="951552">
                    <a:moveTo>
                      <a:pt x="0" y="0"/>
                    </a:moveTo>
                    <a:lnTo>
                      <a:pt x="900783" y="0"/>
                    </a:lnTo>
                    <a:lnTo>
                      <a:pt x="900783" y="951552"/>
                    </a:lnTo>
                    <a:lnTo>
                      <a:pt x="0" y="951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19323" r="-171709" b="-44255"/>
                </a:stretch>
              </a:blipFill>
            </p:spPr>
          </p:sp>
          <p:sp>
            <p:nvSpPr>
              <p:cNvPr id="112" name="TextBox 112"/>
              <p:cNvSpPr txBox="1"/>
              <p:nvPr/>
            </p:nvSpPr>
            <p:spPr>
              <a:xfrm>
                <a:off x="0" y="0"/>
                <a:ext cx="900777" cy="95154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723"/>
                  </a:lnSpc>
                </a:pPr>
                <a:r>
                  <a:rPr lang="en-US" sz="3102" b="1">
                    <a:solidFill>
                      <a:srgbClr val="104227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↗</a:t>
                </a:r>
              </a:p>
            </p:txBody>
          </p:sp>
        </p:grpSp>
        <p:grpSp>
          <p:nvGrpSpPr>
            <p:cNvPr id="113" name="Group 113"/>
            <p:cNvGrpSpPr/>
            <p:nvPr/>
          </p:nvGrpSpPr>
          <p:grpSpPr>
            <a:xfrm>
              <a:off x="5373579" y="1900610"/>
              <a:ext cx="3581324" cy="1113634"/>
              <a:chOff x="0" y="0"/>
              <a:chExt cx="3581324" cy="1113634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3581323" cy="1113632"/>
              </a:xfrm>
              <a:custGeom>
                <a:avLst/>
                <a:gdLst/>
                <a:ahLst/>
                <a:cxnLst/>
                <a:rect l="l" t="t" r="r" b="b"/>
                <a:pathLst>
                  <a:path w="3581323" h="1113632">
                    <a:moveTo>
                      <a:pt x="0" y="0"/>
                    </a:moveTo>
                    <a:lnTo>
                      <a:pt x="3581323" y="0"/>
                    </a:lnTo>
                    <a:lnTo>
                      <a:pt x="3581323" y="1113632"/>
                    </a:lnTo>
                    <a:lnTo>
                      <a:pt x="0" y="11136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85628" r="-98286" b="-62871"/>
                </a:stretch>
              </a:blipFill>
            </p:spPr>
          </p:sp>
          <p:sp>
            <p:nvSpPr>
              <p:cNvPr id="115" name="TextBox 115"/>
              <p:cNvSpPr txBox="1"/>
              <p:nvPr/>
            </p:nvSpPr>
            <p:spPr>
              <a:xfrm>
                <a:off x="0" y="0"/>
                <a:ext cx="3581324" cy="111363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82"/>
                  </a:lnSpc>
                </a:pPr>
                <a:r>
                  <a:rPr lang="en-US" sz="1901" b="1">
                    <a:solidFill>
                      <a:srgbClr val="19231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Net return comparison</a:t>
                </a:r>
              </a:p>
            </p:txBody>
          </p:sp>
        </p:grpSp>
        <p:grpSp>
          <p:nvGrpSpPr>
            <p:cNvPr id="116" name="Group 116"/>
            <p:cNvGrpSpPr/>
            <p:nvPr/>
          </p:nvGrpSpPr>
          <p:grpSpPr>
            <a:xfrm>
              <a:off x="5417606" y="2330310"/>
              <a:ext cx="2706192" cy="1312678"/>
              <a:chOff x="0" y="0"/>
              <a:chExt cx="2706192" cy="1312678"/>
            </a:xfrm>
          </p:grpSpPr>
          <p:sp>
            <p:nvSpPr>
              <p:cNvPr id="117" name="Freeform 117"/>
              <p:cNvSpPr/>
              <p:nvPr/>
            </p:nvSpPr>
            <p:spPr>
              <a:xfrm>
                <a:off x="0" y="0"/>
                <a:ext cx="2706191" cy="1312676"/>
              </a:xfrm>
              <a:custGeom>
                <a:avLst/>
                <a:gdLst/>
                <a:ahLst/>
                <a:cxnLst/>
                <a:rect l="l" t="t" r="r" b="b"/>
                <a:pathLst>
                  <a:path w="2706191" h="1312676">
                    <a:moveTo>
                      <a:pt x="0" y="0"/>
                    </a:moveTo>
                    <a:lnTo>
                      <a:pt x="2706191" y="0"/>
                    </a:lnTo>
                    <a:lnTo>
                      <a:pt x="2706191" y="1312676"/>
                    </a:lnTo>
                    <a:lnTo>
                      <a:pt x="0" y="131267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72644" r="-162409" b="-38175"/>
                </a:stretch>
              </a:blipFill>
            </p:spPr>
          </p:sp>
          <p:sp>
            <p:nvSpPr>
              <p:cNvPr id="118" name="TextBox 118"/>
              <p:cNvSpPr txBox="1"/>
              <p:nvPr/>
            </p:nvSpPr>
            <p:spPr>
              <a:xfrm>
                <a:off x="0" y="0"/>
                <a:ext cx="2706192" cy="131267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741"/>
                  </a:lnSpc>
                </a:pPr>
                <a:r>
                  <a:rPr lang="en-US" sz="1451">
                    <a:solidFill>
                      <a:srgbClr val="3A413C"/>
                    </a:solidFill>
                    <a:latin typeface="Aptos"/>
                    <a:ea typeface="Aptos"/>
                    <a:cs typeface="Aptos"/>
                    <a:sym typeface="Aptos"/>
                  </a:rPr>
                  <a:t>Shows real profit</a:t>
                </a:r>
              </a:p>
              <a:p>
                <a:pPr algn="l">
                  <a:lnSpc>
                    <a:spcPts val="1741"/>
                  </a:lnSpc>
                </a:pPr>
                <a:r>
                  <a:rPr lang="en-US" sz="1451">
                    <a:solidFill>
                      <a:srgbClr val="3A413C"/>
                    </a:solidFill>
                    <a:latin typeface="Aptos"/>
                    <a:ea typeface="Aptos"/>
                    <a:cs typeface="Aptos"/>
                    <a:sym typeface="Aptos"/>
                  </a:rPr>
                  <a:t>across feasible markets</a:t>
                </a:r>
              </a:p>
            </p:txBody>
          </p:sp>
        </p:grpSp>
        <p:grpSp>
          <p:nvGrpSpPr>
            <p:cNvPr id="119" name="Group 119"/>
            <p:cNvGrpSpPr/>
            <p:nvPr/>
          </p:nvGrpSpPr>
          <p:grpSpPr>
            <a:xfrm>
              <a:off x="4299728" y="3782554"/>
              <a:ext cx="4482081" cy="1497107"/>
              <a:chOff x="0" y="0"/>
              <a:chExt cx="4482081" cy="1497107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0" y="0"/>
                <a:ext cx="4482040" cy="1497080"/>
              </a:xfrm>
              <a:custGeom>
                <a:avLst/>
                <a:gdLst/>
                <a:ahLst/>
                <a:cxnLst/>
                <a:rect l="l" t="t" r="r" b="b"/>
                <a:pathLst>
                  <a:path w="4482040" h="1497080">
                    <a:moveTo>
                      <a:pt x="0" y="249499"/>
                    </a:moveTo>
                    <a:cubicBezTo>
                      <a:pt x="0" y="111720"/>
                      <a:pt x="74467" y="0"/>
                      <a:pt x="166304" y="0"/>
                    </a:cubicBezTo>
                    <a:lnTo>
                      <a:pt x="4315737" y="0"/>
                    </a:lnTo>
                    <a:cubicBezTo>
                      <a:pt x="4407573" y="0"/>
                      <a:pt x="4482040" y="111720"/>
                      <a:pt x="4482040" y="249499"/>
                    </a:cubicBezTo>
                    <a:lnTo>
                      <a:pt x="4482040" y="1247582"/>
                    </a:lnTo>
                    <a:cubicBezTo>
                      <a:pt x="4482040" y="1385360"/>
                      <a:pt x="4407573" y="1497080"/>
                      <a:pt x="4315737" y="1497080"/>
                    </a:cubicBezTo>
                    <a:lnTo>
                      <a:pt x="166304" y="1497080"/>
                    </a:lnTo>
                    <a:cubicBezTo>
                      <a:pt x="74467" y="1497080"/>
                      <a:pt x="0" y="1385360"/>
                      <a:pt x="0" y="1247582"/>
                    </a:cubicBezTo>
                    <a:close/>
                  </a:path>
                </a:pathLst>
              </a:custGeom>
              <a:solidFill>
                <a:srgbClr val="E0F2CF"/>
              </a:solidFill>
            </p:spPr>
          </p:sp>
        </p:grpSp>
        <p:grpSp>
          <p:nvGrpSpPr>
            <p:cNvPr id="121" name="Group 121"/>
            <p:cNvGrpSpPr/>
            <p:nvPr/>
          </p:nvGrpSpPr>
          <p:grpSpPr>
            <a:xfrm>
              <a:off x="4539932" y="4233656"/>
              <a:ext cx="737974" cy="779567"/>
              <a:chOff x="0" y="0"/>
              <a:chExt cx="900777" cy="951546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900744" cy="951511"/>
              </a:xfrm>
              <a:custGeom>
                <a:avLst/>
                <a:gdLst/>
                <a:ahLst/>
                <a:cxnLst/>
                <a:rect l="l" t="t" r="r" b="b"/>
                <a:pathLst>
                  <a:path w="900744" h="951511">
                    <a:moveTo>
                      <a:pt x="0" y="475755"/>
                    </a:moveTo>
                    <a:cubicBezTo>
                      <a:pt x="0" y="213051"/>
                      <a:pt x="201684" y="0"/>
                      <a:pt x="450372" y="0"/>
                    </a:cubicBezTo>
                    <a:cubicBezTo>
                      <a:pt x="699060" y="0"/>
                      <a:pt x="900744" y="213051"/>
                      <a:pt x="900744" y="475755"/>
                    </a:cubicBezTo>
                    <a:cubicBezTo>
                      <a:pt x="900744" y="738460"/>
                      <a:pt x="699060" y="951511"/>
                      <a:pt x="450372" y="951511"/>
                    </a:cubicBezTo>
                    <a:cubicBezTo>
                      <a:pt x="201684" y="951511"/>
                      <a:pt x="0" y="738548"/>
                      <a:pt x="0" y="475755"/>
                    </a:cubicBezTo>
                    <a:close/>
                  </a:path>
                </a:pathLst>
              </a:custGeom>
              <a:solidFill>
                <a:srgbClr val="D3E8BE"/>
              </a:solidFill>
            </p:spPr>
          </p:sp>
        </p:grpSp>
        <p:grpSp>
          <p:nvGrpSpPr>
            <p:cNvPr id="123" name="Group 123"/>
            <p:cNvGrpSpPr/>
            <p:nvPr/>
          </p:nvGrpSpPr>
          <p:grpSpPr>
            <a:xfrm>
              <a:off x="4539932" y="4171685"/>
              <a:ext cx="796640" cy="841539"/>
              <a:chOff x="0" y="0"/>
              <a:chExt cx="900777" cy="951546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0" y="0"/>
                <a:ext cx="900783" cy="951552"/>
              </a:xfrm>
              <a:custGeom>
                <a:avLst/>
                <a:gdLst/>
                <a:ahLst/>
                <a:cxnLst/>
                <a:rect l="l" t="t" r="r" b="b"/>
                <a:pathLst>
                  <a:path w="900783" h="951552">
                    <a:moveTo>
                      <a:pt x="0" y="0"/>
                    </a:moveTo>
                    <a:lnTo>
                      <a:pt x="900783" y="0"/>
                    </a:lnTo>
                    <a:lnTo>
                      <a:pt x="900783" y="951552"/>
                    </a:lnTo>
                    <a:lnTo>
                      <a:pt x="0" y="9515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19323" r="-171709" b="-44255"/>
                </a:stretch>
              </a:blipFill>
            </p:spPr>
          </p:sp>
          <p:sp>
            <p:nvSpPr>
              <p:cNvPr id="125" name="TextBox 125"/>
              <p:cNvSpPr txBox="1"/>
              <p:nvPr/>
            </p:nvSpPr>
            <p:spPr>
              <a:xfrm>
                <a:off x="0" y="0"/>
                <a:ext cx="900777" cy="95154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723"/>
                  </a:lnSpc>
                </a:pPr>
                <a:r>
                  <a:rPr lang="en-US" sz="3102" b="1">
                    <a:solidFill>
                      <a:srgbClr val="104227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₹</a:t>
                </a:r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5468406" y="3297654"/>
              <a:ext cx="3306657" cy="2105430"/>
              <a:chOff x="0" y="0"/>
              <a:chExt cx="3306657" cy="2105430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0" y="0"/>
                <a:ext cx="3306656" cy="2105428"/>
              </a:xfrm>
              <a:custGeom>
                <a:avLst/>
                <a:gdLst/>
                <a:ahLst/>
                <a:cxnLst/>
                <a:rect l="l" t="t" r="r" b="b"/>
                <a:pathLst>
                  <a:path w="3306656" h="2105428">
                    <a:moveTo>
                      <a:pt x="0" y="0"/>
                    </a:moveTo>
                    <a:lnTo>
                      <a:pt x="3306656" y="0"/>
                    </a:lnTo>
                    <a:lnTo>
                      <a:pt x="3306656" y="2105428"/>
                    </a:lnTo>
                    <a:lnTo>
                      <a:pt x="0" y="210542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45291" r="-114757" b="13851"/>
                </a:stretch>
              </a:blipFill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0" y="0"/>
                <a:ext cx="3306657" cy="210543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282"/>
                  </a:lnSpc>
                </a:pPr>
                <a:r>
                  <a:rPr lang="en-US" sz="1901" b="1">
                    <a:solidFill>
                      <a:srgbClr val="19231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Transport, charges</a:t>
                </a:r>
              </a:p>
              <a:p>
                <a:pPr algn="l">
                  <a:lnSpc>
                    <a:spcPts val="2282"/>
                  </a:lnSpc>
                </a:pPr>
                <a:r>
                  <a:rPr lang="en-US" sz="1901" b="1">
                    <a:solidFill>
                      <a:srgbClr val="19231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and spoilage included</a:t>
                </a:r>
              </a:p>
            </p:txBody>
          </p:sp>
        </p:grpSp>
        <p:grpSp>
          <p:nvGrpSpPr>
            <p:cNvPr id="129" name="Group 129"/>
            <p:cNvGrpSpPr/>
            <p:nvPr/>
          </p:nvGrpSpPr>
          <p:grpSpPr>
            <a:xfrm>
              <a:off x="5572592" y="4246106"/>
              <a:ext cx="2920256" cy="1312678"/>
              <a:chOff x="0" y="0"/>
              <a:chExt cx="2920256" cy="1312678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0" y="0"/>
                <a:ext cx="2920255" cy="1312676"/>
              </a:xfrm>
              <a:custGeom>
                <a:avLst/>
                <a:gdLst/>
                <a:ahLst/>
                <a:cxnLst/>
                <a:rect l="l" t="t" r="r" b="b"/>
                <a:pathLst>
                  <a:path w="2920255" h="1312676">
                    <a:moveTo>
                      <a:pt x="0" y="0"/>
                    </a:moveTo>
                    <a:lnTo>
                      <a:pt x="2920255" y="0"/>
                    </a:lnTo>
                    <a:lnTo>
                      <a:pt x="2920255" y="1312676"/>
                    </a:lnTo>
                    <a:lnTo>
                      <a:pt x="0" y="131267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72644" r="-143173" b="-38175"/>
                </a:stretch>
              </a:blipFill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0" y="-9525"/>
                <a:ext cx="2920256" cy="1322203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01"/>
                  </a:lnSpc>
                </a:pPr>
                <a:r>
                  <a:rPr lang="en-US" sz="1751">
                    <a:solidFill>
                      <a:srgbClr val="3A413C"/>
                    </a:solidFill>
                    <a:latin typeface="Aptos"/>
                    <a:ea typeface="Aptos"/>
                    <a:cs typeface="Aptos"/>
                    <a:sym typeface="Aptos"/>
                  </a:rPr>
                  <a:t>Real, achievable profit</a:t>
                </a:r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>
              <a:off x="4299728" y="5558784"/>
              <a:ext cx="4482081" cy="1497107"/>
              <a:chOff x="0" y="0"/>
              <a:chExt cx="4482081" cy="1497107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0" y="0"/>
                <a:ext cx="4482040" cy="1497080"/>
              </a:xfrm>
              <a:custGeom>
                <a:avLst/>
                <a:gdLst/>
                <a:ahLst/>
                <a:cxnLst/>
                <a:rect l="l" t="t" r="r" b="b"/>
                <a:pathLst>
                  <a:path w="4482040" h="1497080">
                    <a:moveTo>
                      <a:pt x="0" y="249499"/>
                    </a:moveTo>
                    <a:cubicBezTo>
                      <a:pt x="0" y="111720"/>
                      <a:pt x="74467" y="0"/>
                      <a:pt x="166304" y="0"/>
                    </a:cubicBezTo>
                    <a:lnTo>
                      <a:pt x="4315737" y="0"/>
                    </a:lnTo>
                    <a:cubicBezTo>
                      <a:pt x="4407573" y="0"/>
                      <a:pt x="4482040" y="111720"/>
                      <a:pt x="4482040" y="249499"/>
                    </a:cubicBezTo>
                    <a:lnTo>
                      <a:pt x="4482040" y="1247582"/>
                    </a:lnTo>
                    <a:cubicBezTo>
                      <a:pt x="4482040" y="1385360"/>
                      <a:pt x="4407573" y="1497080"/>
                      <a:pt x="4315737" y="1497080"/>
                    </a:cubicBezTo>
                    <a:lnTo>
                      <a:pt x="166304" y="1497080"/>
                    </a:lnTo>
                    <a:cubicBezTo>
                      <a:pt x="74467" y="1497080"/>
                      <a:pt x="0" y="1385360"/>
                      <a:pt x="0" y="1247582"/>
                    </a:cubicBezTo>
                    <a:close/>
                  </a:path>
                </a:pathLst>
              </a:custGeom>
              <a:solidFill>
                <a:srgbClr val="E0F2CF"/>
              </a:solidFill>
            </p:spPr>
          </p:sp>
        </p:grpSp>
        <p:grpSp>
          <p:nvGrpSpPr>
            <p:cNvPr id="134" name="Group 134"/>
            <p:cNvGrpSpPr/>
            <p:nvPr/>
          </p:nvGrpSpPr>
          <p:grpSpPr>
            <a:xfrm>
              <a:off x="4539932" y="6009878"/>
              <a:ext cx="737974" cy="779567"/>
              <a:chOff x="0" y="0"/>
              <a:chExt cx="900777" cy="951546"/>
            </a:xfrm>
          </p:grpSpPr>
          <p:sp>
            <p:nvSpPr>
              <p:cNvPr id="135" name="Freeform 135"/>
              <p:cNvSpPr/>
              <p:nvPr/>
            </p:nvSpPr>
            <p:spPr>
              <a:xfrm>
                <a:off x="0" y="0"/>
                <a:ext cx="900744" cy="951511"/>
              </a:xfrm>
              <a:custGeom>
                <a:avLst/>
                <a:gdLst/>
                <a:ahLst/>
                <a:cxnLst/>
                <a:rect l="l" t="t" r="r" b="b"/>
                <a:pathLst>
                  <a:path w="900744" h="951511">
                    <a:moveTo>
                      <a:pt x="0" y="475755"/>
                    </a:moveTo>
                    <a:cubicBezTo>
                      <a:pt x="0" y="213051"/>
                      <a:pt x="201684" y="0"/>
                      <a:pt x="450372" y="0"/>
                    </a:cubicBezTo>
                    <a:cubicBezTo>
                      <a:pt x="699060" y="0"/>
                      <a:pt x="900744" y="213051"/>
                      <a:pt x="900744" y="475755"/>
                    </a:cubicBezTo>
                    <a:cubicBezTo>
                      <a:pt x="900744" y="738460"/>
                      <a:pt x="699060" y="951511"/>
                      <a:pt x="450372" y="951511"/>
                    </a:cubicBezTo>
                    <a:cubicBezTo>
                      <a:pt x="201684" y="951511"/>
                      <a:pt x="0" y="738548"/>
                      <a:pt x="0" y="475755"/>
                    </a:cubicBezTo>
                    <a:close/>
                  </a:path>
                </a:pathLst>
              </a:custGeom>
              <a:solidFill>
                <a:srgbClr val="D3E8BE"/>
              </a:solidFill>
            </p:spPr>
          </p:sp>
        </p:grpSp>
        <p:grpSp>
          <p:nvGrpSpPr>
            <p:cNvPr id="136" name="Group 136"/>
            <p:cNvGrpSpPr/>
            <p:nvPr/>
          </p:nvGrpSpPr>
          <p:grpSpPr>
            <a:xfrm>
              <a:off x="4539932" y="5952044"/>
              <a:ext cx="796640" cy="873195"/>
              <a:chOff x="0" y="0"/>
              <a:chExt cx="900777" cy="987341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900783" cy="987346"/>
              </a:xfrm>
              <a:custGeom>
                <a:avLst/>
                <a:gdLst/>
                <a:ahLst/>
                <a:cxnLst/>
                <a:rect l="l" t="t" r="r" b="b"/>
                <a:pathLst>
                  <a:path w="900783" h="987346">
                    <a:moveTo>
                      <a:pt x="0" y="0"/>
                    </a:moveTo>
                    <a:lnTo>
                      <a:pt x="900783" y="0"/>
                    </a:lnTo>
                    <a:lnTo>
                      <a:pt x="900783" y="987346"/>
                    </a:lnTo>
                    <a:lnTo>
                      <a:pt x="0" y="98734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19323" r="-171709" b="-39025"/>
                </a:stretch>
              </a:blipFill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0" y="-66675"/>
                <a:ext cx="900777" cy="10540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723"/>
                  </a:lnSpc>
                </a:pPr>
                <a:r>
                  <a:rPr lang="en-US" sz="3102" b="1">
                    <a:solidFill>
                      <a:srgbClr val="10422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▦</a:t>
                </a:r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5303582" y="5140095"/>
              <a:ext cx="3577671" cy="1414745"/>
              <a:chOff x="0" y="0"/>
              <a:chExt cx="3577671" cy="1414745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3577670" cy="1414744"/>
              </a:xfrm>
              <a:custGeom>
                <a:avLst/>
                <a:gdLst/>
                <a:ahLst/>
                <a:cxnLst/>
                <a:rect l="l" t="t" r="r" b="b"/>
                <a:pathLst>
                  <a:path w="3577670" h="1414744">
                    <a:moveTo>
                      <a:pt x="0" y="0"/>
                    </a:moveTo>
                    <a:lnTo>
                      <a:pt x="3577670" y="0"/>
                    </a:lnTo>
                    <a:lnTo>
                      <a:pt x="3577670" y="1414744"/>
                    </a:lnTo>
                    <a:lnTo>
                      <a:pt x="0" y="141474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67403" r="-98489" b="-28206"/>
                </a:stretch>
              </a:blipFill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0" y="-9525"/>
                <a:ext cx="3577671" cy="142427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22"/>
                  </a:lnSpc>
                </a:pPr>
                <a:r>
                  <a:rPr lang="en-US" sz="2101" b="1">
                    <a:solidFill>
                      <a:srgbClr val="19231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Sell-now vs hold</a:t>
                </a:r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5476271" y="5598149"/>
              <a:ext cx="3112897" cy="1717240"/>
              <a:chOff x="0" y="0"/>
              <a:chExt cx="3112897" cy="171724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0" y="0"/>
                <a:ext cx="3112896" cy="1717238"/>
              </a:xfrm>
              <a:custGeom>
                <a:avLst/>
                <a:gdLst/>
                <a:ahLst/>
                <a:cxnLst/>
                <a:rect l="l" t="t" r="r" b="b"/>
                <a:pathLst>
                  <a:path w="3112896" h="1717238">
                    <a:moveTo>
                      <a:pt x="0" y="0"/>
                    </a:moveTo>
                    <a:lnTo>
                      <a:pt x="3112896" y="0"/>
                    </a:lnTo>
                    <a:lnTo>
                      <a:pt x="3112896" y="1717238"/>
                    </a:lnTo>
                    <a:lnTo>
                      <a:pt x="0" y="171723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5530" r="-128124" b="-5622"/>
                </a:stretch>
              </a:blipFill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0" y="-9525"/>
                <a:ext cx="3112897" cy="172676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01"/>
                  </a:lnSpc>
                </a:pPr>
                <a:r>
                  <a:rPr lang="en-US" sz="1751">
                    <a:solidFill>
                      <a:srgbClr val="3A413C"/>
                    </a:solidFill>
                    <a:latin typeface="Aptos"/>
                    <a:ea typeface="Aptos"/>
                    <a:cs typeface="Aptos"/>
                    <a:sym typeface="Aptos"/>
                  </a:rPr>
                  <a:t>With risk score and expected value</a:t>
                </a:r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4299728" y="7335005"/>
              <a:ext cx="4482081" cy="1497107"/>
              <a:chOff x="0" y="0"/>
              <a:chExt cx="4482081" cy="1497107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4482040" cy="1497080"/>
              </a:xfrm>
              <a:custGeom>
                <a:avLst/>
                <a:gdLst/>
                <a:ahLst/>
                <a:cxnLst/>
                <a:rect l="l" t="t" r="r" b="b"/>
                <a:pathLst>
                  <a:path w="4482040" h="1497080">
                    <a:moveTo>
                      <a:pt x="0" y="249499"/>
                    </a:moveTo>
                    <a:cubicBezTo>
                      <a:pt x="0" y="111720"/>
                      <a:pt x="74467" y="0"/>
                      <a:pt x="166304" y="0"/>
                    </a:cubicBezTo>
                    <a:lnTo>
                      <a:pt x="4315737" y="0"/>
                    </a:lnTo>
                    <a:cubicBezTo>
                      <a:pt x="4407573" y="0"/>
                      <a:pt x="4482040" y="111720"/>
                      <a:pt x="4482040" y="249499"/>
                    </a:cubicBezTo>
                    <a:lnTo>
                      <a:pt x="4482040" y="1247582"/>
                    </a:lnTo>
                    <a:cubicBezTo>
                      <a:pt x="4482040" y="1385360"/>
                      <a:pt x="4407573" y="1497080"/>
                      <a:pt x="4315737" y="1497080"/>
                    </a:cubicBezTo>
                    <a:lnTo>
                      <a:pt x="166304" y="1497080"/>
                    </a:lnTo>
                    <a:cubicBezTo>
                      <a:pt x="74467" y="1497080"/>
                      <a:pt x="0" y="1385360"/>
                      <a:pt x="0" y="1247582"/>
                    </a:cubicBezTo>
                    <a:close/>
                  </a:path>
                </a:pathLst>
              </a:custGeom>
              <a:solidFill>
                <a:srgbClr val="E0F2CF"/>
              </a:solidFill>
            </p:spPr>
          </p:sp>
        </p:grpSp>
        <p:grpSp>
          <p:nvGrpSpPr>
            <p:cNvPr id="147" name="Group 147"/>
            <p:cNvGrpSpPr/>
            <p:nvPr/>
          </p:nvGrpSpPr>
          <p:grpSpPr>
            <a:xfrm>
              <a:off x="4934599" y="6937025"/>
              <a:ext cx="4315637" cy="1404324"/>
              <a:chOff x="0" y="0"/>
              <a:chExt cx="4315637" cy="1404324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0" y="0"/>
                <a:ext cx="4315636" cy="1404322"/>
              </a:xfrm>
              <a:custGeom>
                <a:avLst/>
                <a:gdLst/>
                <a:ahLst/>
                <a:cxnLst/>
                <a:rect l="l" t="t" r="r" b="b"/>
                <a:pathLst>
                  <a:path w="4315636" h="1404322">
                    <a:moveTo>
                      <a:pt x="0" y="0"/>
                    </a:moveTo>
                    <a:lnTo>
                      <a:pt x="4315636" y="0"/>
                    </a:lnTo>
                    <a:lnTo>
                      <a:pt x="4315636" y="1404322"/>
                    </a:lnTo>
                    <a:lnTo>
                      <a:pt x="0" y="140432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67903" r="-64548" b="-29157"/>
                </a:stretch>
              </a:blipFill>
            </p:spPr>
          </p:sp>
          <p:sp>
            <p:nvSpPr>
              <p:cNvPr id="149" name="TextBox 149"/>
              <p:cNvSpPr txBox="1"/>
              <p:nvPr/>
            </p:nvSpPr>
            <p:spPr>
              <a:xfrm>
                <a:off x="0" y="-9525"/>
                <a:ext cx="4315637" cy="1413849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22"/>
                  </a:lnSpc>
                </a:pPr>
                <a:r>
                  <a:rPr lang="en-US" sz="2101" b="1">
                    <a:solidFill>
                      <a:srgbClr val="19231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Personalized advice</a:t>
                </a:r>
              </a:p>
            </p:txBody>
          </p:sp>
        </p:grpSp>
        <p:grpSp>
          <p:nvGrpSpPr>
            <p:cNvPr id="150" name="Group 150"/>
            <p:cNvGrpSpPr/>
            <p:nvPr/>
          </p:nvGrpSpPr>
          <p:grpSpPr>
            <a:xfrm>
              <a:off x="5373579" y="7390373"/>
              <a:ext cx="3227241" cy="1717240"/>
              <a:chOff x="0" y="0"/>
              <a:chExt cx="3227241" cy="1717240"/>
            </a:xfrm>
          </p:grpSpPr>
          <p:sp>
            <p:nvSpPr>
              <p:cNvPr id="151" name="Freeform 151"/>
              <p:cNvSpPr/>
              <p:nvPr/>
            </p:nvSpPr>
            <p:spPr>
              <a:xfrm>
                <a:off x="0" y="0"/>
                <a:ext cx="3227240" cy="1717238"/>
              </a:xfrm>
              <a:custGeom>
                <a:avLst/>
                <a:gdLst/>
                <a:ahLst/>
                <a:cxnLst/>
                <a:rect l="l" t="t" r="r" b="b"/>
                <a:pathLst>
                  <a:path w="3227240" h="1717238">
                    <a:moveTo>
                      <a:pt x="0" y="0"/>
                    </a:moveTo>
                    <a:lnTo>
                      <a:pt x="3227240" y="0"/>
                    </a:lnTo>
                    <a:lnTo>
                      <a:pt x="3227240" y="1717238"/>
                    </a:lnTo>
                    <a:lnTo>
                      <a:pt x="0" y="171723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55530" r="-120042" b="-5622"/>
                </a:stretch>
              </a:blipFill>
            </p:spPr>
          </p:sp>
          <p:sp>
            <p:nvSpPr>
              <p:cNvPr id="152" name="TextBox 152"/>
              <p:cNvSpPr txBox="1"/>
              <p:nvPr/>
            </p:nvSpPr>
            <p:spPr>
              <a:xfrm>
                <a:off x="0" y="-9525"/>
                <a:ext cx="3227241" cy="172676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101"/>
                  </a:lnSpc>
                </a:pPr>
                <a:r>
                  <a:rPr lang="en-US" sz="1751">
                    <a:solidFill>
                      <a:srgbClr val="3A413C"/>
                    </a:solidFill>
                    <a:latin typeface="Aptos"/>
                    <a:ea typeface="Aptos"/>
                    <a:cs typeface="Aptos"/>
                    <a:sym typeface="Aptos"/>
                  </a:rPr>
                  <a:t>Urgency, storage limit</a:t>
                </a:r>
              </a:p>
              <a:p>
                <a:pPr algn="l">
                  <a:lnSpc>
                    <a:spcPts val="2101"/>
                  </a:lnSpc>
                </a:pPr>
                <a:r>
                  <a:rPr lang="en-US" sz="1751">
                    <a:solidFill>
                      <a:srgbClr val="3A413C"/>
                    </a:solidFill>
                    <a:latin typeface="Aptos"/>
                    <a:ea typeface="Aptos"/>
                    <a:cs typeface="Aptos"/>
                    <a:sym typeface="Aptos"/>
                  </a:rPr>
                  <a:t>and distance applied</a:t>
                </a:r>
              </a:p>
            </p:txBody>
          </p:sp>
        </p:grpSp>
        <p:grpSp>
          <p:nvGrpSpPr>
            <p:cNvPr id="153" name="Group 153"/>
            <p:cNvGrpSpPr/>
            <p:nvPr/>
          </p:nvGrpSpPr>
          <p:grpSpPr>
            <a:xfrm>
              <a:off x="4520538" y="7788015"/>
              <a:ext cx="838514" cy="919093"/>
              <a:chOff x="0" y="0"/>
              <a:chExt cx="900777" cy="987341"/>
            </a:xfrm>
          </p:grpSpPr>
          <p:sp>
            <p:nvSpPr>
              <p:cNvPr id="154" name="Freeform 154"/>
              <p:cNvSpPr/>
              <p:nvPr/>
            </p:nvSpPr>
            <p:spPr>
              <a:xfrm>
                <a:off x="0" y="0"/>
                <a:ext cx="900783" cy="987346"/>
              </a:xfrm>
              <a:custGeom>
                <a:avLst/>
                <a:gdLst/>
                <a:ahLst/>
                <a:cxnLst/>
                <a:rect l="l" t="t" r="r" b="b"/>
                <a:pathLst>
                  <a:path w="900783" h="987346">
                    <a:moveTo>
                      <a:pt x="0" y="0"/>
                    </a:moveTo>
                    <a:lnTo>
                      <a:pt x="900783" y="0"/>
                    </a:lnTo>
                    <a:lnTo>
                      <a:pt x="900783" y="987346"/>
                    </a:lnTo>
                    <a:lnTo>
                      <a:pt x="0" y="98734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19323" r="-171709" b="-39025"/>
                </a:stretch>
              </a:blipFill>
            </p:spPr>
          </p:sp>
          <p:sp>
            <p:nvSpPr>
              <p:cNvPr id="155" name="TextBox 155"/>
              <p:cNvSpPr txBox="1"/>
              <p:nvPr/>
            </p:nvSpPr>
            <p:spPr>
              <a:xfrm>
                <a:off x="0" y="-66675"/>
                <a:ext cx="900777" cy="10540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723"/>
                  </a:lnSpc>
                </a:pPr>
                <a:r>
                  <a:rPr lang="en-US" sz="3102" b="1">
                    <a:solidFill>
                      <a:srgbClr val="10422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⚙</a:t>
                </a:r>
              </a:p>
            </p:txBody>
          </p:sp>
        </p:grpSp>
        <p:grpSp>
          <p:nvGrpSpPr>
            <p:cNvPr id="156" name="Group 156"/>
            <p:cNvGrpSpPr/>
            <p:nvPr/>
          </p:nvGrpSpPr>
          <p:grpSpPr>
            <a:xfrm>
              <a:off x="4615092" y="7874798"/>
              <a:ext cx="649406" cy="686007"/>
              <a:chOff x="0" y="0"/>
              <a:chExt cx="900777" cy="951546"/>
            </a:xfrm>
          </p:grpSpPr>
          <p:sp>
            <p:nvSpPr>
              <p:cNvPr id="157" name="Freeform 157"/>
              <p:cNvSpPr/>
              <p:nvPr/>
            </p:nvSpPr>
            <p:spPr>
              <a:xfrm>
                <a:off x="0" y="0"/>
                <a:ext cx="900744" cy="951511"/>
              </a:xfrm>
              <a:custGeom>
                <a:avLst/>
                <a:gdLst/>
                <a:ahLst/>
                <a:cxnLst/>
                <a:rect l="l" t="t" r="r" b="b"/>
                <a:pathLst>
                  <a:path w="900744" h="951511">
                    <a:moveTo>
                      <a:pt x="0" y="475755"/>
                    </a:moveTo>
                    <a:cubicBezTo>
                      <a:pt x="0" y="213051"/>
                      <a:pt x="201684" y="0"/>
                      <a:pt x="450372" y="0"/>
                    </a:cubicBezTo>
                    <a:cubicBezTo>
                      <a:pt x="699060" y="0"/>
                      <a:pt x="900744" y="213051"/>
                      <a:pt x="900744" y="475755"/>
                    </a:cubicBezTo>
                    <a:cubicBezTo>
                      <a:pt x="900744" y="738460"/>
                      <a:pt x="699060" y="951511"/>
                      <a:pt x="450372" y="951511"/>
                    </a:cubicBezTo>
                    <a:cubicBezTo>
                      <a:pt x="201684" y="951511"/>
                      <a:pt x="0" y="738548"/>
                      <a:pt x="0" y="475755"/>
                    </a:cubicBezTo>
                    <a:close/>
                  </a:path>
                </a:pathLst>
              </a:custGeom>
              <a:solidFill>
                <a:srgbClr val="D3E8BE"/>
              </a:solidFill>
            </p:spPr>
          </p:sp>
        </p:grpSp>
        <p:grpSp>
          <p:nvGrpSpPr>
            <p:cNvPr id="158" name="Group 158"/>
            <p:cNvGrpSpPr/>
            <p:nvPr/>
          </p:nvGrpSpPr>
          <p:grpSpPr>
            <a:xfrm>
              <a:off x="4501916" y="7788015"/>
              <a:ext cx="838514" cy="919093"/>
              <a:chOff x="0" y="0"/>
              <a:chExt cx="900777" cy="987341"/>
            </a:xfrm>
          </p:grpSpPr>
          <p:sp>
            <p:nvSpPr>
              <p:cNvPr id="159" name="Freeform 159"/>
              <p:cNvSpPr/>
              <p:nvPr/>
            </p:nvSpPr>
            <p:spPr>
              <a:xfrm>
                <a:off x="0" y="0"/>
                <a:ext cx="900783" cy="987346"/>
              </a:xfrm>
              <a:custGeom>
                <a:avLst/>
                <a:gdLst/>
                <a:ahLst/>
                <a:cxnLst/>
                <a:rect l="l" t="t" r="r" b="b"/>
                <a:pathLst>
                  <a:path w="900783" h="987346">
                    <a:moveTo>
                      <a:pt x="0" y="0"/>
                    </a:moveTo>
                    <a:lnTo>
                      <a:pt x="900783" y="0"/>
                    </a:lnTo>
                    <a:lnTo>
                      <a:pt x="900783" y="987346"/>
                    </a:lnTo>
                    <a:lnTo>
                      <a:pt x="0" y="98734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19323" r="-171709" b="-39025"/>
                </a:stretch>
              </a:blipFill>
            </p:spPr>
          </p:sp>
          <p:sp>
            <p:nvSpPr>
              <p:cNvPr id="160" name="TextBox 160"/>
              <p:cNvSpPr txBox="1"/>
              <p:nvPr/>
            </p:nvSpPr>
            <p:spPr>
              <a:xfrm>
                <a:off x="0" y="-66675"/>
                <a:ext cx="900777" cy="10540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723"/>
                  </a:lnSpc>
                </a:pPr>
                <a:r>
                  <a:rPr lang="en-US" sz="3102" b="1">
                    <a:solidFill>
                      <a:srgbClr val="10422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⚙</a:t>
                </a:r>
              </a:p>
            </p:txBody>
          </p:sp>
        </p:grpSp>
        <p:grpSp>
          <p:nvGrpSpPr>
            <p:cNvPr id="161" name="Group 161"/>
            <p:cNvGrpSpPr/>
            <p:nvPr/>
          </p:nvGrpSpPr>
          <p:grpSpPr>
            <a:xfrm>
              <a:off x="1319075" y="7798993"/>
              <a:ext cx="2942553" cy="908116"/>
              <a:chOff x="0" y="0"/>
              <a:chExt cx="2942553" cy="908116"/>
            </a:xfrm>
          </p:grpSpPr>
          <p:sp>
            <p:nvSpPr>
              <p:cNvPr id="162" name="Freeform 162"/>
              <p:cNvSpPr/>
              <p:nvPr/>
            </p:nvSpPr>
            <p:spPr>
              <a:xfrm>
                <a:off x="0" y="0"/>
                <a:ext cx="2942551" cy="908114"/>
              </a:xfrm>
              <a:custGeom>
                <a:avLst/>
                <a:gdLst/>
                <a:ahLst/>
                <a:cxnLst/>
                <a:rect l="l" t="t" r="r" b="b"/>
                <a:pathLst>
                  <a:path w="2942551" h="908114">
                    <a:moveTo>
                      <a:pt x="0" y="0"/>
                    </a:moveTo>
                    <a:lnTo>
                      <a:pt x="2942551" y="0"/>
                    </a:lnTo>
                    <a:lnTo>
                      <a:pt x="2942551" y="908114"/>
                    </a:lnTo>
                    <a:lnTo>
                      <a:pt x="0" y="90811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41796" r="-52386" b="-50629"/>
                </a:stretch>
              </a:blipFill>
            </p:spPr>
          </p:sp>
          <p:sp>
            <p:nvSpPr>
              <p:cNvPr id="163" name="TextBox 163"/>
              <p:cNvSpPr txBox="1"/>
              <p:nvPr/>
            </p:nvSpPr>
            <p:spPr>
              <a:xfrm>
                <a:off x="0" y="0"/>
                <a:ext cx="2942553" cy="90811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1741"/>
                  </a:lnSpc>
                </a:pPr>
                <a:r>
                  <a:rPr lang="en-US" sz="1451">
                    <a:solidFill>
                      <a:srgbClr val="3A413C"/>
                    </a:solidFill>
                    <a:latin typeface="Aptos"/>
                    <a:ea typeface="Aptos"/>
                    <a:cs typeface="Aptos"/>
                    <a:sym typeface="Aptos"/>
                  </a:rPr>
                  <a:t>Ignores personal</a:t>
                </a:r>
              </a:p>
              <a:p>
                <a:pPr algn="l">
                  <a:lnSpc>
                    <a:spcPts val="1741"/>
                  </a:lnSpc>
                </a:pPr>
                <a:r>
                  <a:rPr lang="en-US" sz="1451">
                    <a:solidFill>
                      <a:srgbClr val="3A413C"/>
                    </a:solidFill>
                    <a:latin typeface="Aptos"/>
                    <a:ea typeface="Aptos"/>
                    <a:cs typeface="Aptos"/>
                    <a:sym typeface="Aptos"/>
                  </a:rPr>
                  <a:t>limits</a:t>
                </a:r>
              </a:p>
            </p:txBody>
          </p:sp>
        </p:grpSp>
      </p:grpSp>
      <p:grpSp>
        <p:nvGrpSpPr>
          <p:cNvPr id="164" name="Group 164"/>
          <p:cNvGrpSpPr/>
          <p:nvPr/>
        </p:nvGrpSpPr>
        <p:grpSpPr>
          <a:xfrm>
            <a:off x="169319" y="1116716"/>
            <a:ext cx="5432108" cy="6516453"/>
            <a:chOff x="0" y="0"/>
            <a:chExt cx="7242810" cy="8688604"/>
          </a:xfrm>
        </p:grpSpPr>
        <p:grpSp>
          <p:nvGrpSpPr>
            <p:cNvPr id="165" name="Group 165"/>
            <p:cNvGrpSpPr/>
            <p:nvPr/>
          </p:nvGrpSpPr>
          <p:grpSpPr>
            <a:xfrm>
              <a:off x="0" y="439954"/>
              <a:ext cx="7242810" cy="8248650"/>
              <a:chOff x="0" y="0"/>
              <a:chExt cx="7242810" cy="8248650"/>
            </a:xfrm>
          </p:grpSpPr>
          <p:sp>
            <p:nvSpPr>
              <p:cNvPr id="166" name="Freeform 166"/>
              <p:cNvSpPr/>
              <p:nvPr/>
            </p:nvSpPr>
            <p:spPr>
              <a:xfrm>
                <a:off x="0" y="0"/>
                <a:ext cx="7242810" cy="8248650"/>
              </a:xfrm>
              <a:custGeom>
                <a:avLst/>
                <a:gdLst/>
                <a:ahLst/>
                <a:cxnLst/>
                <a:rect l="l" t="t" r="r" b="b"/>
                <a:pathLst>
                  <a:path w="7242810" h="8248650">
                    <a:moveTo>
                      <a:pt x="0" y="289687"/>
                    </a:moveTo>
                    <a:cubicBezTo>
                      <a:pt x="0" y="129667"/>
                      <a:pt x="129667" y="0"/>
                      <a:pt x="289687" y="0"/>
                    </a:cubicBezTo>
                    <a:lnTo>
                      <a:pt x="6953123" y="0"/>
                    </a:lnTo>
                    <a:cubicBezTo>
                      <a:pt x="7113143" y="0"/>
                      <a:pt x="7242810" y="129667"/>
                      <a:pt x="7242810" y="289687"/>
                    </a:cubicBezTo>
                    <a:lnTo>
                      <a:pt x="7242810" y="7958963"/>
                    </a:lnTo>
                    <a:cubicBezTo>
                      <a:pt x="7242810" y="8118983"/>
                      <a:pt x="7113143" y="8248650"/>
                      <a:pt x="6953123" y="8248650"/>
                    </a:cubicBezTo>
                    <a:lnTo>
                      <a:pt x="289687" y="8248650"/>
                    </a:lnTo>
                    <a:cubicBezTo>
                      <a:pt x="129667" y="8248650"/>
                      <a:pt x="0" y="8118983"/>
                      <a:pt x="0" y="79589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288" cap="sq">
                <a:solidFill>
                  <a:srgbClr val="7AC143"/>
                </a:solidFill>
                <a:prstDash val="solid"/>
                <a:miter/>
              </a:ln>
            </p:spPr>
          </p:sp>
        </p:grpSp>
        <p:grpSp>
          <p:nvGrpSpPr>
            <p:cNvPr id="167" name="Group 167"/>
            <p:cNvGrpSpPr/>
            <p:nvPr/>
          </p:nvGrpSpPr>
          <p:grpSpPr>
            <a:xfrm>
              <a:off x="289884" y="714848"/>
              <a:ext cx="1055853" cy="914400"/>
              <a:chOff x="0" y="0"/>
              <a:chExt cx="1055853" cy="914400"/>
            </a:xfrm>
          </p:grpSpPr>
          <p:sp>
            <p:nvSpPr>
              <p:cNvPr id="168" name="Freeform 168"/>
              <p:cNvSpPr/>
              <p:nvPr/>
            </p:nvSpPr>
            <p:spPr>
              <a:xfrm>
                <a:off x="0" y="0"/>
                <a:ext cx="1055878" cy="914400"/>
              </a:xfrm>
              <a:custGeom>
                <a:avLst/>
                <a:gdLst/>
                <a:ahLst/>
                <a:cxnLst/>
                <a:rect l="l" t="t" r="r" b="b"/>
                <a:pathLst>
                  <a:path w="1055878" h="914400">
                    <a:moveTo>
                      <a:pt x="0" y="457200"/>
                    </a:moveTo>
                    <a:lnTo>
                      <a:pt x="228600" y="0"/>
                    </a:lnTo>
                    <a:lnTo>
                      <a:pt x="827278" y="0"/>
                    </a:lnTo>
                    <a:lnTo>
                      <a:pt x="1055878" y="457200"/>
                    </a:lnTo>
                    <a:lnTo>
                      <a:pt x="827278" y="914400"/>
                    </a:lnTo>
                    <a:lnTo>
                      <a:pt x="228600" y="914400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</p:grpSp>
        <p:grpSp>
          <p:nvGrpSpPr>
            <p:cNvPr id="169" name="Group 169"/>
            <p:cNvGrpSpPr/>
            <p:nvPr/>
          </p:nvGrpSpPr>
          <p:grpSpPr>
            <a:xfrm>
              <a:off x="580066" y="934304"/>
              <a:ext cx="475488" cy="475488"/>
              <a:chOff x="0" y="0"/>
              <a:chExt cx="475488" cy="475488"/>
            </a:xfrm>
          </p:grpSpPr>
          <p:sp>
            <p:nvSpPr>
              <p:cNvPr id="170" name="Freeform 170" descr="Cogs icon"/>
              <p:cNvSpPr/>
              <p:nvPr/>
            </p:nvSpPr>
            <p:spPr>
              <a:xfrm>
                <a:off x="0" y="0"/>
                <a:ext cx="475488" cy="475488"/>
              </a:xfrm>
              <a:custGeom>
                <a:avLst/>
                <a:gdLst/>
                <a:ahLst/>
                <a:cxnLst/>
                <a:rect l="l" t="t" r="r" b="b"/>
                <a:pathLst>
                  <a:path w="475488" h="475488">
                    <a:moveTo>
                      <a:pt x="0" y="0"/>
                    </a:moveTo>
                    <a:lnTo>
                      <a:pt x="475488" y="0"/>
                    </a:lnTo>
                    <a:lnTo>
                      <a:pt x="475488" y="475488"/>
                    </a:lnTo>
                    <a:lnTo>
                      <a:pt x="0" y="47548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</p:sp>
        </p:grpSp>
        <p:grpSp>
          <p:nvGrpSpPr>
            <p:cNvPr id="171" name="Group 171"/>
            <p:cNvGrpSpPr/>
            <p:nvPr/>
          </p:nvGrpSpPr>
          <p:grpSpPr>
            <a:xfrm>
              <a:off x="1570044" y="0"/>
              <a:ext cx="5303520" cy="2537361"/>
              <a:chOff x="0" y="0"/>
              <a:chExt cx="5303520" cy="2537361"/>
            </a:xfrm>
          </p:grpSpPr>
          <p:sp>
            <p:nvSpPr>
              <p:cNvPr id="172" name="Freeform 172"/>
              <p:cNvSpPr/>
              <p:nvPr/>
            </p:nvSpPr>
            <p:spPr>
              <a:xfrm>
                <a:off x="0" y="0"/>
                <a:ext cx="5303520" cy="2537361"/>
              </a:xfrm>
              <a:custGeom>
                <a:avLst/>
                <a:gdLst/>
                <a:ahLst/>
                <a:cxnLst/>
                <a:rect l="l" t="t" r="r" b="b"/>
                <a:pathLst>
                  <a:path w="5303520" h="2537361">
                    <a:moveTo>
                      <a:pt x="0" y="0"/>
                    </a:moveTo>
                    <a:lnTo>
                      <a:pt x="5303520" y="0"/>
                    </a:lnTo>
                    <a:lnTo>
                      <a:pt x="5303520" y="2537361"/>
                    </a:lnTo>
                    <a:lnTo>
                      <a:pt x="0" y="253736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9825" b="38371"/>
                </a:stretch>
              </a:blipFill>
            </p:spPr>
          </p:sp>
          <p:sp>
            <p:nvSpPr>
              <p:cNvPr id="173" name="TextBox 173"/>
              <p:cNvSpPr txBox="1"/>
              <p:nvPr/>
            </p:nvSpPr>
            <p:spPr>
              <a:xfrm>
                <a:off x="0" y="-19050"/>
                <a:ext cx="5303520" cy="255641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119"/>
                  </a:lnSpc>
                </a:pPr>
                <a:r>
                  <a:rPr lang="en-US" sz="2599" b="1">
                    <a:solidFill>
                      <a:srgbClr val="052B35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WHAT WE WILL DO</a:t>
                </a:r>
              </a:p>
            </p:txBody>
          </p:sp>
        </p:grpSp>
        <p:grpSp>
          <p:nvGrpSpPr>
            <p:cNvPr id="174" name="Group 174"/>
            <p:cNvGrpSpPr/>
            <p:nvPr/>
          </p:nvGrpSpPr>
          <p:grpSpPr>
            <a:xfrm>
              <a:off x="289884" y="2159600"/>
              <a:ext cx="844690" cy="731520"/>
              <a:chOff x="0" y="0"/>
              <a:chExt cx="844690" cy="731520"/>
            </a:xfrm>
          </p:grpSpPr>
          <p:sp>
            <p:nvSpPr>
              <p:cNvPr id="175" name="Freeform 175"/>
              <p:cNvSpPr/>
              <p:nvPr/>
            </p:nvSpPr>
            <p:spPr>
              <a:xfrm>
                <a:off x="0" y="0"/>
                <a:ext cx="844677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844677" h="731520">
                    <a:moveTo>
                      <a:pt x="0" y="365760"/>
                    </a:moveTo>
                    <a:lnTo>
                      <a:pt x="182880" y="0"/>
                    </a:lnTo>
                    <a:lnTo>
                      <a:pt x="661797" y="0"/>
                    </a:lnTo>
                    <a:lnTo>
                      <a:pt x="844677" y="365760"/>
                    </a:lnTo>
                    <a:lnTo>
                      <a:pt x="661797" y="731520"/>
                    </a:lnTo>
                    <a:lnTo>
                      <a:pt x="182880" y="731520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  <p:sp>
            <p:nvSpPr>
              <p:cNvPr id="176" name="TextBox 176"/>
              <p:cNvSpPr txBox="1"/>
              <p:nvPr/>
            </p:nvSpPr>
            <p:spPr>
              <a:xfrm>
                <a:off x="0" y="-9525"/>
                <a:ext cx="844690" cy="7410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1">
                    <a:solidFill>
                      <a:srgbClr val="052B35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1</a:t>
                </a:r>
              </a:p>
            </p:txBody>
          </p:sp>
        </p:grpSp>
        <p:grpSp>
          <p:nvGrpSpPr>
            <p:cNvPr id="177" name="Group 177"/>
            <p:cNvGrpSpPr/>
            <p:nvPr/>
          </p:nvGrpSpPr>
          <p:grpSpPr>
            <a:xfrm>
              <a:off x="289884" y="3220304"/>
              <a:ext cx="844690" cy="731520"/>
              <a:chOff x="0" y="0"/>
              <a:chExt cx="844690" cy="731520"/>
            </a:xfrm>
          </p:grpSpPr>
          <p:sp>
            <p:nvSpPr>
              <p:cNvPr id="178" name="Freeform 178"/>
              <p:cNvSpPr/>
              <p:nvPr/>
            </p:nvSpPr>
            <p:spPr>
              <a:xfrm>
                <a:off x="0" y="0"/>
                <a:ext cx="844677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844677" h="731520">
                    <a:moveTo>
                      <a:pt x="0" y="365760"/>
                    </a:moveTo>
                    <a:lnTo>
                      <a:pt x="182880" y="0"/>
                    </a:lnTo>
                    <a:lnTo>
                      <a:pt x="661797" y="0"/>
                    </a:lnTo>
                    <a:lnTo>
                      <a:pt x="844677" y="365760"/>
                    </a:lnTo>
                    <a:lnTo>
                      <a:pt x="661797" y="731520"/>
                    </a:lnTo>
                    <a:lnTo>
                      <a:pt x="182880" y="731520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  <p:sp>
            <p:nvSpPr>
              <p:cNvPr id="179" name="TextBox 179"/>
              <p:cNvSpPr txBox="1"/>
              <p:nvPr/>
            </p:nvSpPr>
            <p:spPr>
              <a:xfrm>
                <a:off x="0" y="-9525"/>
                <a:ext cx="844690" cy="7410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1">
                    <a:solidFill>
                      <a:srgbClr val="052B35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2</a:t>
                </a:r>
              </a:p>
            </p:txBody>
          </p:sp>
        </p:grpSp>
        <p:grpSp>
          <p:nvGrpSpPr>
            <p:cNvPr id="180" name="Group 180"/>
            <p:cNvGrpSpPr/>
            <p:nvPr/>
          </p:nvGrpSpPr>
          <p:grpSpPr>
            <a:xfrm>
              <a:off x="289884" y="4281008"/>
              <a:ext cx="844690" cy="731520"/>
              <a:chOff x="0" y="0"/>
              <a:chExt cx="844690" cy="731520"/>
            </a:xfrm>
          </p:grpSpPr>
          <p:sp>
            <p:nvSpPr>
              <p:cNvPr id="181" name="Freeform 181"/>
              <p:cNvSpPr/>
              <p:nvPr/>
            </p:nvSpPr>
            <p:spPr>
              <a:xfrm>
                <a:off x="0" y="0"/>
                <a:ext cx="844677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844677" h="731520">
                    <a:moveTo>
                      <a:pt x="0" y="365760"/>
                    </a:moveTo>
                    <a:lnTo>
                      <a:pt x="182880" y="0"/>
                    </a:lnTo>
                    <a:lnTo>
                      <a:pt x="661797" y="0"/>
                    </a:lnTo>
                    <a:lnTo>
                      <a:pt x="844677" y="365760"/>
                    </a:lnTo>
                    <a:lnTo>
                      <a:pt x="661797" y="731520"/>
                    </a:lnTo>
                    <a:lnTo>
                      <a:pt x="182880" y="731520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  <p:sp>
            <p:nvSpPr>
              <p:cNvPr id="182" name="TextBox 182"/>
              <p:cNvSpPr txBox="1"/>
              <p:nvPr/>
            </p:nvSpPr>
            <p:spPr>
              <a:xfrm>
                <a:off x="0" y="-9525"/>
                <a:ext cx="844690" cy="7410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1">
                    <a:solidFill>
                      <a:srgbClr val="052B35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3</a:t>
                </a:r>
              </a:p>
            </p:txBody>
          </p:sp>
        </p:grpSp>
        <p:grpSp>
          <p:nvGrpSpPr>
            <p:cNvPr id="183" name="Group 183"/>
            <p:cNvGrpSpPr/>
            <p:nvPr/>
          </p:nvGrpSpPr>
          <p:grpSpPr>
            <a:xfrm>
              <a:off x="289884" y="5341712"/>
              <a:ext cx="844690" cy="731520"/>
              <a:chOff x="0" y="0"/>
              <a:chExt cx="844690" cy="731520"/>
            </a:xfrm>
          </p:grpSpPr>
          <p:sp>
            <p:nvSpPr>
              <p:cNvPr id="184" name="Freeform 184"/>
              <p:cNvSpPr/>
              <p:nvPr/>
            </p:nvSpPr>
            <p:spPr>
              <a:xfrm>
                <a:off x="0" y="0"/>
                <a:ext cx="844677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844677" h="731520">
                    <a:moveTo>
                      <a:pt x="0" y="365760"/>
                    </a:moveTo>
                    <a:lnTo>
                      <a:pt x="182880" y="0"/>
                    </a:lnTo>
                    <a:lnTo>
                      <a:pt x="661797" y="0"/>
                    </a:lnTo>
                    <a:lnTo>
                      <a:pt x="844677" y="365760"/>
                    </a:lnTo>
                    <a:lnTo>
                      <a:pt x="661797" y="731520"/>
                    </a:lnTo>
                    <a:lnTo>
                      <a:pt x="182880" y="731520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  <p:sp>
            <p:nvSpPr>
              <p:cNvPr id="185" name="TextBox 185"/>
              <p:cNvSpPr txBox="1"/>
              <p:nvPr/>
            </p:nvSpPr>
            <p:spPr>
              <a:xfrm>
                <a:off x="0" y="-9525"/>
                <a:ext cx="844690" cy="7410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1">
                    <a:solidFill>
                      <a:srgbClr val="052B35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4</a:t>
                </a:r>
              </a:p>
            </p:txBody>
          </p:sp>
        </p:grpSp>
        <p:grpSp>
          <p:nvGrpSpPr>
            <p:cNvPr id="186" name="Group 186"/>
            <p:cNvGrpSpPr/>
            <p:nvPr/>
          </p:nvGrpSpPr>
          <p:grpSpPr>
            <a:xfrm>
              <a:off x="289884" y="6402416"/>
              <a:ext cx="844690" cy="731520"/>
              <a:chOff x="0" y="0"/>
              <a:chExt cx="844690" cy="73152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0" y="0"/>
                <a:ext cx="844677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844677" h="731520">
                    <a:moveTo>
                      <a:pt x="0" y="365760"/>
                    </a:moveTo>
                    <a:lnTo>
                      <a:pt x="182880" y="0"/>
                    </a:lnTo>
                    <a:lnTo>
                      <a:pt x="661797" y="0"/>
                    </a:lnTo>
                    <a:lnTo>
                      <a:pt x="844677" y="365760"/>
                    </a:lnTo>
                    <a:lnTo>
                      <a:pt x="661797" y="731520"/>
                    </a:lnTo>
                    <a:lnTo>
                      <a:pt x="182880" y="731520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  <p:sp>
            <p:nvSpPr>
              <p:cNvPr id="188" name="TextBox 188"/>
              <p:cNvSpPr txBox="1"/>
              <p:nvPr/>
            </p:nvSpPr>
            <p:spPr>
              <a:xfrm>
                <a:off x="0" y="-9525"/>
                <a:ext cx="844690" cy="7410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1">
                    <a:solidFill>
                      <a:srgbClr val="052B35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5</a:t>
                </a:r>
              </a:p>
            </p:txBody>
          </p:sp>
        </p:grpSp>
        <p:grpSp>
          <p:nvGrpSpPr>
            <p:cNvPr id="189" name="Group 189"/>
            <p:cNvGrpSpPr/>
            <p:nvPr/>
          </p:nvGrpSpPr>
          <p:grpSpPr>
            <a:xfrm>
              <a:off x="289884" y="7463120"/>
              <a:ext cx="844690" cy="731520"/>
              <a:chOff x="0" y="0"/>
              <a:chExt cx="844690" cy="731520"/>
            </a:xfrm>
          </p:grpSpPr>
          <p:sp>
            <p:nvSpPr>
              <p:cNvPr id="190" name="Freeform 190"/>
              <p:cNvSpPr/>
              <p:nvPr/>
            </p:nvSpPr>
            <p:spPr>
              <a:xfrm>
                <a:off x="0" y="0"/>
                <a:ext cx="844677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844677" h="731520">
                    <a:moveTo>
                      <a:pt x="0" y="365760"/>
                    </a:moveTo>
                    <a:lnTo>
                      <a:pt x="182880" y="0"/>
                    </a:lnTo>
                    <a:lnTo>
                      <a:pt x="661797" y="0"/>
                    </a:lnTo>
                    <a:lnTo>
                      <a:pt x="844677" y="365760"/>
                    </a:lnTo>
                    <a:lnTo>
                      <a:pt x="661797" y="731520"/>
                    </a:lnTo>
                    <a:lnTo>
                      <a:pt x="182880" y="731520"/>
                    </a:lnTo>
                    <a:close/>
                  </a:path>
                </a:pathLst>
              </a:custGeom>
              <a:solidFill>
                <a:srgbClr val="7AC143"/>
              </a:solidFill>
            </p:spPr>
          </p:sp>
          <p:sp>
            <p:nvSpPr>
              <p:cNvPr id="191" name="TextBox 191"/>
              <p:cNvSpPr txBox="1"/>
              <p:nvPr/>
            </p:nvSpPr>
            <p:spPr>
              <a:xfrm>
                <a:off x="0" y="-9525"/>
                <a:ext cx="844690" cy="7410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b="1">
                    <a:solidFill>
                      <a:srgbClr val="052B35"/>
                    </a:solidFill>
                    <a:latin typeface="Cambria Bold"/>
                    <a:ea typeface="Cambria Bold"/>
                    <a:cs typeface="Cambria Bold"/>
                    <a:sym typeface="Cambria Bold"/>
                  </a:rPr>
                  <a:t>6</a:t>
                </a:r>
              </a:p>
            </p:txBody>
          </p:sp>
        </p:grpSp>
        <p:sp>
          <p:nvSpPr>
            <p:cNvPr id="192" name="TextBox 192"/>
            <p:cNvSpPr txBox="1"/>
            <p:nvPr/>
          </p:nvSpPr>
          <p:spPr>
            <a:xfrm>
              <a:off x="1308393" y="1659519"/>
              <a:ext cx="5826822" cy="6725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72"/>
                </a:lnSpc>
              </a:pPr>
              <a:endParaRPr/>
            </a:p>
            <a:p>
              <a:pPr algn="l">
                <a:lnSpc>
                  <a:spcPts val="1872"/>
                </a:lnSpc>
              </a:pPr>
              <a:r>
                <a:rPr lang="en-US" sz="1749" b="1" spc="-8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Farmer Inputs</a:t>
              </a:r>
            </a:p>
            <a:p>
              <a:pPr algn="l">
                <a:lnSpc>
                  <a:spcPts val="1872"/>
                </a:lnSpc>
              </a:pPr>
              <a:r>
                <a:rPr lang="en-US" sz="1749" spc="-8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Crop, quantity, village and selling constraints.</a:t>
              </a:r>
            </a:p>
            <a:p>
              <a:pPr algn="l">
                <a:lnSpc>
                  <a:spcPts val="1872"/>
                </a:lnSpc>
              </a:pPr>
              <a:endParaRPr lang="en-US" sz="1749" spc="-8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algn="l">
                <a:lnSpc>
                  <a:spcPts val="1872"/>
                </a:lnSpc>
              </a:pPr>
              <a:r>
                <a:rPr lang="en-US" sz="1749" b="1" spc="-8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Generate Market Options</a:t>
              </a:r>
            </a:p>
            <a:p>
              <a:pPr algn="l">
                <a:lnSpc>
                  <a:spcPts val="1872"/>
                </a:lnSpc>
              </a:pPr>
              <a:r>
                <a:rPr lang="en-US" sz="1749" spc="-8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Identify feasible markets for each day.</a:t>
              </a:r>
            </a:p>
            <a:p>
              <a:pPr algn="l">
                <a:lnSpc>
                  <a:spcPts val="1872"/>
                </a:lnSpc>
              </a:pPr>
              <a:endParaRPr lang="en-US" sz="1749" spc="-8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algn="l">
                <a:lnSpc>
                  <a:spcPts val="1872"/>
                </a:lnSpc>
              </a:pPr>
              <a:r>
                <a:rPr lang="en-US" sz="1749" b="1" spc="-8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Calculate Net Earnings</a:t>
              </a:r>
            </a:p>
            <a:p>
              <a:pPr algn="l">
                <a:lnSpc>
                  <a:spcPts val="1872"/>
                </a:lnSpc>
              </a:pPr>
              <a:r>
                <a:rPr lang="en-US" sz="1749" spc="-8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Account for transport, market charges and spoilage.</a:t>
              </a:r>
            </a:p>
            <a:p>
              <a:pPr algn="l">
                <a:lnSpc>
                  <a:spcPts val="1872"/>
                </a:lnSpc>
              </a:pPr>
              <a:endParaRPr lang="en-US" sz="1749" spc="-8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algn="l">
                <a:lnSpc>
                  <a:spcPts val="1872"/>
                </a:lnSpc>
              </a:pPr>
              <a:r>
                <a:rPr lang="en-US" sz="1749" b="1" spc="-8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Rank Under Risk</a:t>
              </a:r>
            </a:p>
            <a:p>
              <a:pPr algn="l">
                <a:lnSpc>
                  <a:spcPts val="1872"/>
                </a:lnSpc>
              </a:pPr>
              <a:r>
                <a:rPr lang="en-US" sz="1749" spc="-8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Compare expected profit against uncertainty and risk.</a:t>
              </a:r>
            </a:p>
            <a:p>
              <a:pPr algn="l">
                <a:lnSpc>
                  <a:spcPts val="1872"/>
                </a:lnSpc>
              </a:pPr>
              <a:endParaRPr lang="en-US" sz="1749" spc="-8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algn="l">
                <a:lnSpc>
                  <a:spcPts val="1872"/>
                </a:lnSpc>
              </a:pPr>
              <a:r>
                <a:rPr lang="en-US" sz="1749" b="1" spc="-8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Explain + What-If</a:t>
              </a:r>
            </a:p>
            <a:p>
              <a:pPr algn="l">
                <a:lnSpc>
                  <a:spcPts val="1872"/>
                </a:lnSpc>
              </a:pPr>
              <a:r>
                <a:rPr lang="en-US" sz="1749" spc="-8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Show reasons, benefits, risks and alternative scenarios.</a:t>
              </a:r>
            </a:p>
            <a:p>
              <a:pPr algn="l">
                <a:lnSpc>
                  <a:spcPts val="1872"/>
                </a:lnSpc>
              </a:pPr>
              <a:endParaRPr lang="en-US" sz="1749" spc="-8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algn="l">
                <a:lnSpc>
                  <a:spcPts val="1872"/>
                </a:lnSpc>
              </a:pPr>
              <a:r>
                <a:rPr lang="en-US" sz="1749" b="1" spc="-8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Back-Test on Past Data</a:t>
              </a:r>
            </a:p>
            <a:p>
              <a:pPr algn="l">
                <a:lnSpc>
                  <a:spcPts val="1872"/>
                </a:lnSpc>
                <a:spcBef>
                  <a:spcPct val="0"/>
                </a:spcBef>
              </a:pPr>
              <a:r>
                <a:rPr lang="en-US" sz="1749" spc="-8">
                  <a:solidFill>
                    <a:srgbClr val="000000"/>
                  </a:solidFill>
                  <a:latin typeface="Cambria"/>
                  <a:ea typeface="Cambria"/>
                  <a:cs typeface="Cambria"/>
                  <a:sym typeface="Cambria"/>
                </a:rPr>
                <a:t>Validate recommendations using historical data without future-data leakage.</a:t>
              </a:r>
            </a:p>
          </p:txBody>
        </p:sp>
      </p:grpSp>
      <p:sp>
        <p:nvSpPr>
          <p:cNvPr id="193" name="Freeform 193"/>
          <p:cNvSpPr/>
          <p:nvPr/>
        </p:nvSpPr>
        <p:spPr>
          <a:xfrm>
            <a:off x="873188" y="252033"/>
            <a:ext cx="872538" cy="872538"/>
          </a:xfrm>
          <a:custGeom>
            <a:avLst/>
            <a:gdLst/>
            <a:ahLst/>
            <a:cxnLst/>
            <a:rect l="l" t="t" r="r" b="b"/>
            <a:pathLst>
              <a:path w="872538" h="872538">
                <a:moveTo>
                  <a:pt x="0" y="0"/>
                </a:moveTo>
                <a:lnTo>
                  <a:pt x="872537" y="0"/>
                </a:lnTo>
                <a:lnTo>
                  <a:pt x="872537" y="872538"/>
                </a:lnTo>
                <a:lnTo>
                  <a:pt x="0" y="8725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4" name="TextBox 194"/>
          <p:cNvSpPr txBox="1"/>
          <p:nvPr/>
        </p:nvSpPr>
        <p:spPr>
          <a:xfrm>
            <a:off x="1779314" y="540060"/>
            <a:ext cx="1106058" cy="40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5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Nexus0</a:t>
            </a:r>
          </a:p>
        </p:txBody>
      </p:sp>
      <p:grpSp>
        <p:nvGrpSpPr>
          <p:cNvPr id="195" name="Group 195"/>
          <p:cNvGrpSpPr/>
          <p:nvPr/>
        </p:nvGrpSpPr>
        <p:grpSpPr>
          <a:xfrm>
            <a:off x="1464530" y="7768145"/>
            <a:ext cx="15358484" cy="1846771"/>
            <a:chOff x="0" y="0"/>
            <a:chExt cx="20477978" cy="2462361"/>
          </a:xfrm>
        </p:grpSpPr>
        <p:grpSp>
          <p:nvGrpSpPr>
            <p:cNvPr id="196" name="Group 196"/>
            <p:cNvGrpSpPr/>
            <p:nvPr/>
          </p:nvGrpSpPr>
          <p:grpSpPr>
            <a:xfrm>
              <a:off x="0" y="17689"/>
              <a:ext cx="3204694" cy="2163418"/>
              <a:chOff x="0" y="0"/>
              <a:chExt cx="3565385" cy="2406913"/>
            </a:xfrm>
          </p:grpSpPr>
          <p:sp>
            <p:nvSpPr>
              <p:cNvPr id="197" name="Freeform 197"/>
              <p:cNvSpPr/>
              <p:nvPr/>
            </p:nvSpPr>
            <p:spPr>
              <a:xfrm>
                <a:off x="0" y="0"/>
                <a:ext cx="3565398" cy="2406926"/>
              </a:xfrm>
              <a:custGeom>
                <a:avLst/>
                <a:gdLst/>
                <a:ahLst/>
                <a:cxnLst/>
                <a:rect l="l" t="t" r="r" b="b"/>
                <a:pathLst>
                  <a:path w="3565398" h="2406926">
                    <a:moveTo>
                      <a:pt x="0" y="304304"/>
                    </a:moveTo>
                    <a:cubicBezTo>
                      <a:pt x="0" y="136251"/>
                      <a:pt x="266065" y="0"/>
                      <a:pt x="594233" y="0"/>
                    </a:cubicBezTo>
                    <a:lnTo>
                      <a:pt x="2971165" y="0"/>
                    </a:lnTo>
                    <a:cubicBezTo>
                      <a:pt x="3299333" y="0"/>
                      <a:pt x="3565398" y="136251"/>
                      <a:pt x="3565398" y="304304"/>
                    </a:cubicBezTo>
                    <a:lnTo>
                      <a:pt x="3565398" y="2102616"/>
                    </a:lnTo>
                    <a:cubicBezTo>
                      <a:pt x="3565398" y="2270669"/>
                      <a:pt x="3299333" y="2406926"/>
                      <a:pt x="2971165" y="2406926"/>
                    </a:cubicBezTo>
                    <a:lnTo>
                      <a:pt x="594233" y="2406926"/>
                    </a:lnTo>
                    <a:cubicBezTo>
                      <a:pt x="266065" y="2406926"/>
                      <a:pt x="0" y="2270669"/>
                      <a:pt x="0" y="21026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784" cap="sq">
                <a:solidFill>
                  <a:srgbClr val="B1D5B6"/>
                </a:solidFill>
                <a:prstDash val="solid"/>
                <a:miter/>
              </a:ln>
            </p:spPr>
          </p:sp>
        </p:grpSp>
        <p:grpSp>
          <p:nvGrpSpPr>
            <p:cNvPr id="198" name="Group 198"/>
            <p:cNvGrpSpPr/>
            <p:nvPr/>
          </p:nvGrpSpPr>
          <p:grpSpPr>
            <a:xfrm>
              <a:off x="1133507" y="17689"/>
              <a:ext cx="904792" cy="904792"/>
              <a:chOff x="0" y="0"/>
              <a:chExt cx="1006627" cy="1006627"/>
            </a:xfrm>
          </p:grpSpPr>
          <p:sp>
            <p:nvSpPr>
              <p:cNvPr id="199" name="Freeform 199"/>
              <p:cNvSpPr/>
              <p:nvPr/>
            </p:nvSpPr>
            <p:spPr>
              <a:xfrm>
                <a:off x="0" y="0"/>
                <a:ext cx="1006602" cy="1006602"/>
              </a:xfrm>
              <a:custGeom>
                <a:avLst/>
                <a:gdLst/>
                <a:ahLst/>
                <a:cxnLst/>
                <a:rect l="l" t="t" r="r" b="b"/>
                <a:pathLst>
                  <a:path w="1006602" h="1006602">
                    <a:moveTo>
                      <a:pt x="0" y="503301"/>
                    </a:moveTo>
                    <a:cubicBezTo>
                      <a:pt x="0" y="225298"/>
                      <a:pt x="225298" y="0"/>
                      <a:pt x="503301" y="0"/>
                    </a:cubicBezTo>
                    <a:cubicBezTo>
                      <a:pt x="781304" y="0"/>
                      <a:pt x="1006602" y="225298"/>
                      <a:pt x="1006602" y="503301"/>
                    </a:cubicBezTo>
                    <a:cubicBezTo>
                      <a:pt x="1006602" y="781304"/>
                      <a:pt x="781304" y="1006602"/>
                      <a:pt x="503301" y="1006602"/>
                    </a:cubicBezTo>
                    <a:cubicBezTo>
                      <a:pt x="225298" y="1006602"/>
                      <a:pt x="0" y="781304"/>
                      <a:pt x="0" y="503301"/>
                    </a:cubicBezTo>
                    <a:close/>
                  </a:path>
                </a:pathLst>
              </a:custGeom>
              <a:solidFill>
                <a:srgbClr val="74BE42"/>
              </a:solidFill>
            </p:spPr>
          </p:sp>
          <p:sp>
            <p:nvSpPr>
              <p:cNvPr id="200" name="TextBox 200"/>
              <p:cNvSpPr txBox="1"/>
              <p:nvPr/>
            </p:nvSpPr>
            <p:spPr>
              <a:xfrm>
                <a:off x="0" y="0"/>
                <a:ext cx="1006627" cy="10066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42"/>
                  </a:lnSpc>
                </a:pPr>
                <a:r>
                  <a:rPr lang="en-US" sz="2702" b="1">
                    <a:solidFill>
                      <a:srgbClr val="083A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1</a:t>
                </a:r>
              </a:p>
            </p:txBody>
          </p:sp>
        </p:grpSp>
        <p:sp>
          <p:nvSpPr>
            <p:cNvPr id="201" name="TextBox 201"/>
            <p:cNvSpPr txBox="1"/>
            <p:nvPr/>
          </p:nvSpPr>
          <p:spPr>
            <a:xfrm>
              <a:off x="305402" y="866710"/>
              <a:ext cx="2561002" cy="4204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28"/>
                </a:lnSpc>
              </a:pPr>
              <a:r>
                <a:rPr lang="en-US" sz="2023" b="1">
                  <a:solidFill>
                    <a:srgbClr val="105B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Farmer Inputs</a:t>
              </a:r>
            </a:p>
          </p:txBody>
        </p:sp>
        <p:sp>
          <p:nvSpPr>
            <p:cNvPr id="202" name="TextBox 202"/>
            <p:cNvSpPr txBox="1"/>
            <p:nvPr/>
          </p:nvSpPr>
          <p:spPr>
            <a:xfrm>
              <a:off x="305402" y="1399420"/>
              <a:ext cx="2561002" cy="1041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1"/>
                </a:lnSpc>
              </a:pPr>
              <a:r>
                <a:rPr lang="en-US" sz="1484">
                  <a:solidFill>
                    <a:srgbClr val="375352"/>
                  </a:solidFill>
                  <a:latin typeface="Aptos"/>
                  <a:ea typeface="Aptos"/>
                  <a:cs typeface="Aptos"/>
                  <a:sym typeface="Aptos"/>
                </a:rPr>
                <a:t>Crop, quantity,</a:t>
              </a:r>
            </a:p>
            <a:p>
              <a:pPr algn="ctr">
                <a:lnSpc>
                  <a:spcPts val="1781"/>
                </a:lnSpc>
              </a:pPr>
              <a:r>
                <a:rPr lang="en-US" sz="1484">
                  <a:solidFill>
                    <a:srgbClr val="375352"/>
                  </a:solidFill>
                  <a:latin typeface="Aptos"/>
                  <a:ea typeface="Aptos"/>
                  <a:cs typeface="Aptos"/>
                  <a:sym typeface="Aptos"/>
                </a:rPr>
                <a:t>village and needs</a:t>
              </a:r>
            </a:p>
          </p:txBody>
        </p:sp>
        <p:sp>
          <p:nvSpPr>
            <p:cNvPr id="203" name="AutoShape 203"/>
            <p:cNvSpPr/>
            <p:nvPr/>
          </p:nvSpPr>
          <p:spPr>
            <a:xfrm>
              <a:off x="3189393" y="1785679"/>
              <a:ext cx="280582" cy="50267"/>
            </a:xfrm>
            <a:prstGeom prst="line">
              <a:avLst/>
            </a:prstGeom>
            <a:ln w="22830" cap="rnd">
              <a:solidFill>
                <a:srgbClr val="74BE42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04" name="Group 204"/>
            <p:cNvGrpSpPr/>
            <p:nvPr/>
          </p:nvGrpSpPr>
          <p:grpSpPr>
            <a:xfrm>
              <a:off x="3454664" y="17689"/>
              <a:ext cx="3204694" cy="2188953"/>
              <a:chOff x="0" y="0"/>
              <a:chExt cx="3565385" cy="2435321"/>
            </a:xfrm>
          </p:grpSpPr>
          <p:sp>
            <p:nvSpPr>
              <p:cNvPr id="205" name="Freeform 205"/>
              <p:cNvSpPr/>
              <p:nvPr/>
            </p:nvSpPr>
            <p:spPr>
              <a:xfrm>
                <a:off x="0" y="0"/>
                <a:ext cx="3565398" cy="2435334"/>
              </a:xfrm>
              <a:custGeom>
                <a:avLst/>
                <a:gdLst/>
                <a:ahLst/>
                <a:cxnLst/>
                <a:rect l="l" t="t" r="r" b="b"/>
                <a:pathLst>
                  <a:path w="3565398" h="2435334">
                    <a:moveTo>
                      <a:pt x="0" y="307895"/>
                    </a:moveTo>
                    <a:cubicBezTo>
                      <a:pt x="0" y="137859"/>
                      <a:pt x="266065" y="0"/>
                      <a:pt x="594233" y="0"/>
                    </a:cubicBezTo>
                    <a:lnTo>
                      <a:pt x="2971165" y="0"/>
                    </a:lnTo>
                    <a:cubicBezTo>
                      <a:pt x="3299333" y="0"/>
                      <a:pt x="3565398" y="137859"/>
                      <a:pt x="3565398" y="307895"/>
                    </a:cubicBezTo>
                    <a:lnTo>
                      <a:pt x="3565398" y="2127433"/>
                    </a:lnTo>
                    <a:cubicBezTo>
                      <a:pt x="3565398" y="2297469"/>
                      <a:pt x="3299333" y="2435334"/>
                      <a:pt x="2971165" y="2435334"/>
                    </a:cubicBezTo>
                    <a:lnTo>
                      <a:pt x="594233" y="2435334"/>
                    </a:lnTo>
                    <a:cubicBezTo>
                      <a:pt x="266065" y="2435334"/>
                      <a:pt x="0" y="2297469"/>
                      <a:pt x="0" y="21274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784" cap="sq">
                <a:solidFill>
                  <a:srgbClr val="B1D5B6"/>
                </a:solidFill>
                <a:prstDash val="solid"/>
                <a:miter/>
              </a:ln>
            </p:spPr>
          </p:sp>
        </p:grpSp>
        <p:grpSp>
          <p:nvGrpSpPr>
            <p:cNvPr id="206" name="Group 206"/>
            <p:cNvGrpSpPr/>
            <p:nvPr/>
          </p:nvGrpSpPr>
          <p:grpSpPr>
            <a:xfrm>
              <a:off x="4588160" y="17689"/>
              <a:ext cx="904792" cy="904792"/>
              <a:chOff x="0" y="0"/>
              <a:chExt cx="1006627" cy="1006627"/>
            </a:xfrm>
          </p:grpSpPr>
          <p:sp>
            <p:nvSpPr>
              <p:cNvPr id="207" name="Freeform 207"/>
              <p:cNvSpPr/>
              <p:nvPr/>
            </p:nvSpPr>
            <p:spPr>
              <a:xfrm>
                <a:off x="0" y="0"/>
                <a:ext cx="1006602" cy="1006602"/>
              </a:xfrm>
              <a:custGeom>
                <a:avLst/>
                <a:gdLst/>
                <a:ahLst/>
                <a:cxnLst/>
                <a:rect l="l" t="t" r="r" b="b"/>
                <a:pathLst>
                  <a:path w="1006602" h="1006602">
                    <a:moveTo>
                      <a:pt x="0" y="503301"/>
                    </a:moveTo>
                    <a:cubicBezTo>
                      <a:pt x="0" y="225298"/>
                      <a:pt x="225298" y="0"/>
                      <a:pt x="503301" y="0"/>
                    </a:cubicBezTo>
                    <a:cubicBezTo>
                      <a:pt x="781304" y="0"/>
                      <a:pt x="1006602" y="225298"/>
                      <a:pt x="1006602" y="503301"/>
                    </a:cubicBezTo>
                    <a:cubicBezTo>
                      <a:pt x="1006602" y="781304"/>
                      <a:pt x="781304" y="1006602"/>
                      <a:pt x="503301" y="1006602"/>
                    </a:cubicBezTo>
                    <a:cubicBezTo>
                      <a:pt x="225298" y="1006602"/>
                      <a:pt x="0" y="781304"/>
                      <a:pt x="0" y="503301"/>
                    </a:cubicBezTo>
                    <a:close/>
                  </a:path>
                </a:pathLst>
              </a:custGeom>
              <a:solidFill>
                <a:srgbClr val="74BE42"/>
              </a:solidFill>
            </p:spPr>
          </p:sp>
          <p:sp>
            <p:nvSpPr>
              <p:cNvPr id="208" name="TextBox 208"/>
              <p:cNvSpPr txBox="1"/>
              <p:nvPr/>
            </p:nvSpPr>
            <p:spPr>
              <a:xfrm>
                <a:off x="0" y="0"/>
                <a:ext cx="1006627" cy="10066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42"/>
                  </a:lnSpc>
                </a:pPr>
                <a:r>
                  <a:rPr lang="en-US" sz="2702" b="1">
                    <a:solidFill>
                      <a:srgbClr val="083A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2</a:t>
                </a:r>
              </a:p>
            </p:txBody>
          </p:sp>
        </p:grpSp>
        <p:sp>
          <p:nvSpPr>
            <p:cNvPr id="209" name="TextBox 209"/>
            <p:cNvSpPr txBox="1"/>
            <p:nvPr/>
          </p:nvSpPr>
          <p:spPr>
            <a:xfrm>
              <a:off x="3760055" y="912956"/>
              <a:ext cx="2561002" cy="4204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28"/>
                </a:lnSpc>
              </a:pPr>
              <a:r>
                <a:rPr lang="en-US" sz="2023" b="1">
                  <a:solidFill>
                    <a:srgbClr val="105B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Market Options</a:t>
              </a:r>
            </a:p>
          </p:txBody>
        </p:sp>
        <p:sp>
          <p:nvSpPr>
            <p:cNvPr id="210" name="TextBox 210"/>
            <p:cNvSpPr txBox="1"/>
            <p:nvPr/>
          </p:nvSpPr>
          <p:spPr>
            <a:xfrm>
              <a:off x="3791614" y="1399420"/>
              <a:ext cx="2561002" cy="1041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1"/>
                </a:lnSpc>
              </a:pPr>
              <a:r>
                <a:rPr lang="en-US" sz="1484">
                  <a:solidFill>
                    <a:srgbClr val="375352"/>
                  </a:solidFill>
                  <a:latin typeface="Aptos"/>
                  <a:ea typeface="Aptos"/>
                  <a:cs typeface="Aptos"/>
                  <a:sym typeface="Aptos"/>
                </a:rPr>
                <a:t>Identify feasible</a:t>
              </a:r>
            </a:p>
            <a:p>
              <a:pPr algn="ctr">
                <a:lnSpc>
                  <a:spcPts val="1781"/>
                </a:lnSpc>
              </a:pPr>
              <a:r>
                <a:rPr lang="en-US" sz="1484">
                  <a:solidFill>
                    <a:srgbClr val="375352"/>
                  </a:solidFill>
                  <a:latin typeface="Aptos"/>
                  <a:ea typeface="Aptos"/>
                  <a:cs typeface="Aptos"/>
                  <a:sym typeface="Aptos"/>
                </a:rPr>
                <a:t>mandis and timing</a:t>
              </a:r>
            </a:p>
          </p:txBody>
        </p:sp>
        <p:sp>
          <p:nvSpPr>
            <p:cNvPr id="211" name="AutoShape 211"/>
            <p:cNvSpPr/>
            <p:nvPr/>
          </p:nvSpPr>
          <p:spPr>
            <a:xfrm>
              <a:off x="6644046" y="1785679"/>
              <a:ext cx="280582" cy="50267"/>
            </a:xfrm>
            <a:prstGeom prst="line">
              <a:avLst/>
            </a:prstGeom>
            <a:ln w="22830" cap="rnd">
              <a:solidFill>
                <a:srgbClr val="74BE42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12" name="Group 212"/>
            <p:cNvGrpSpPr/>
            <p:nvPr/>
          </p:nvGrpSpPr>
          <p:grpSpPr>
            <a:xfrm>
              <a:off x="6894016" y="0"/>
              <a:ext cx="3204694" cy="2163418"/>
              <a:chOff x="0" y="0"/>
              <a:chExt cx="3565385" cy="2406913"/>
            </a:xfrm>
          </p:grpSpPr>
          <p:sp>
            <p:nvSpPr>
              <p:cNvPr id="213" name="Freeform 213"/>
              <p:cNvSpPr/>
              <p:nvPr/>
            </p:nvSpPr>
            <p:spPr>
              <a:xfrm>
                <a:off x="0" y="0"/>
                <a:ext cx="3565398" cy="2406926"/>
              </a:xfrm>
              <a:custGeom>
                <a:avLst/>
                <a:gdLst/>
                <a:ahLst/>
                <a:cxnLst/>
                <a:rect l="l" t="t" r="r" b="b"/>
                <a:pathLst>
                  <a:path w="3565398" h="2406926">
                    <a:moveTo>
                      <a:pt x="0" y="304304"/>
                    </a:moveTo>
                    <a:cubicBezTo>
                      <a:pt x="0" y="136251"/>
                      <a:pt x="266065" y="0"/>
                      <a:pt x="594233" y="0"/>
                    </a:cubicBezTo>
                    <a:lnTo>
                      <a:pt x="2971165" y="0"/>
                    </a:lnTo>
                    <a:cubicBezTo>
                      <a:pt x="3299333" y="0"/>
                      <a:pt x="3565398" y="136251"/>
                      <a:pt x="3565398" y="304304"/>
                    </a:cubicBezTo>
                    <a:lnTo>
                      <a:pt x="3565398" y="2102616"/>
                    </a:lnTo>
                    <a:cubicBezTo>
                      <a:pt x="3565398" y="2270669"/>
                      <a:pt x="3299333" y="2406926"/>
                      <a:pt x="2971165" y="2406926"/>
                    </a:cubicBezTo>
                    <a:lnTo>
                      <a:pt x="594233" y="2406926"/>
                    </a:lnTo>
                    <a:cubicBezTo>
                      <a:pt x="266065" y="2406926"/>
                      <a:pt x="0" y="2270669"/>
                      <a:pt x="0" y="21026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784" cap="sq">
                <a:solidFill>
                  <a:srgbClr val="B1D5B6"/>
                </a:solidFill>
                <a:prstDash val="solid"/>
                <a:miter/>
              </a:ln>
            </p:spPr>
          </p:sp>
        </p:grpSp>
        <p:grpSp>
          <p:nvGrpSpPr>
            <p:cNvPr id="214" name="Group 214"/>
            <p:cNvGrpSpPr/>
            <p:nvPr/>
          </p:nvGrpSpPr>
          <p:grpSpPr>
            <a:xfrm>
              <a:off x="8042823" y="17689"/>
              <a:ext cx="904792" cy="904792"/>
              <a:chOff x="0" y="0"/>
              <a:chExt cx="1006627" cy="1006627"/>
            </a:xfrm>
          </p:grpSpPr>
          <p:sp>
            <p:nvSpPr>
              <p:cNvPr id="215" name="Freeform 215"/>
              <p:cNvSpPr/>
              <p:nvPr/>
            </p:nvSpPr>
            <p:spPr>
              <a:xfrm>
                <a:off x="0" y="0"/>
                <a:ext cx="1006602" cy="1006602"/>
              </a:xfrm>
              <a:custGeom>
                <a:avLst/>
                <a:gdLst/>
                <a:ahLst/>
                <a:cxnLst/>
                <a:rect l="l" t="t" r="r" b="b"/>
                <a:pathLst>
                  <a:path w="1006602" h="1006602">
                    <a:moveTo>
                      <a:pt x="0" y="503301"/>
                    </a:moveTo>
                    <a:cubicBezTo>
                      <a:pt x="0" y="225298"/>
                      <a:pt x="225298" y="0"/>
                      <a:pt x="503301" y="0"/>
                    </a:cubicBezTo>
                    <a:cubicBezTo>
                      <a:pt x="781304" y="0"/>
                      <a:pt x="1006602" y="225298"/>
                      <a:pt x="1006602" y="503301"/>
                    </a:cubicBezTo>
                    <a:cubicBezTo>
                      <a:pt x="1006602" y="781304"/>
                      <a:pt x="781304" y="1006602"/>
                      <a:pt x="503301" y="1006602"/>
                    </a:cubicBezTo>
                    <a:cubicBezTo>
                      <a:pt x="225298" y="1006602"/>
                      <a:pt x="0" y="781304"/>
                      <a:pt x="0" y="503301"/>
                    </a:cubicBezTo>
                    <a:close/>
                  </a:path>
                </a:pathLst>
              </a:custGeom>
              <a:solidFill>
                <a:srgbClr val="74BE42"/>
              </a:solidFill>
            </p:spPr>
          </p:sp>
          <p:sp>
            <p:nvSpPr>
              <p:cNvPr id="216" name="TextBox 216"/>
              <p:cNvSpPr txBox="1"/>
              <p:nvPr/>
            </p:nvSpPr>
            <p:spPr>
              <a:xfrm>
                <a:off x="0" y="0"/>
                <a:ext cx="1006627" cy="10066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42"/>
                  </a:lnSpc>
                </a:pPr>
                <a:r>
                  <a:rPr lang="en-US" sz="2702" b="1">
                    <a:solidFill>
                      <a:srgbClr val="083A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3</a:t>
                </a:r>
              </a:p>
            </p:txBody>
          </p:sp>
        </p:grpSp>
        <p:sp>
          <p:nvSpPr>
            <p:cNvPr id="217" name="TextBox 217"/>
            <p:cNvSpPr txBox="1"/>
            <p:nvPr/>
          </p:nvSpPr>
          <p:spPr>
            <a:xfrm>
              <a:off x="6699097" y="1037805"/>
              <a:ext cx="3625143" cy="3587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88"/>
                </a:lnSpc>
              </a:pPr>
              <a:r>
                <a:rPr lang="en-US" sz="1823" b="1">
                  <a:solidFill>
                    <a:srgbClr val="105B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Calculate Net Earnings</a:t>
              </a:r>
            </a:p>
          </p:txBody>
        </p:sp>
        <p:sp>
          <p:nvSpPr>
            <p:cNvPr id="218" name="TextBox 218"/>
            <p:cNvSpPr txBox="1"/>
            <p:nvPr/>
          </p:nvSpPr>
          <p:spPr>
            <a:xfrm>
              <a:off x="7246267" y="1333428"/>
              <a:ext cx="2561002" cy="1041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1"/>
                </a:lnSpc>
              </a:pPr>
              <a:r>
                <a:rPr lang="en-US" sz="1484">
                  <a:solidFill>
                    <a:srgbClr val="375352"/>
                  </a:solidFill>
                  <a:latin typeface="Aptos"/>
                  <a:ea typeface="Aptos"/>
                  <a:cs typeface="Aptos"/>
                  <a:sym typeface="Aptos"/>
                </a:rPr>
                <a:t>Include transport,</a:t>
              </a:r>
            </a:p>
            <a:p>
              <a:pPr algn="ctr">
                <a:lnSpc>
                  <a:spcPts val="1781"/>
                </a:lnSpc>
              </a:pPr>
              <a:r>
                <a:rPr lang="en-US" sz="1484">
                  <a:solidFill>
                    <a:srgbClr val="375352"/>
                  </a:solidFill>
                  <a:latin typeface="Aptos"/>
                  <a:ea typeface="Aptos"/>
                  <a:cs typeface="Aptos"/>
                  <a:sym typeface="Aptos"/>
                </a:rPr>
                <a:t>fees and spoilage</a:t>
              </a:r>
            </a:p>
          </p:txBody>
        </p:sp>
        <p:sp>
          <p:nvSpPr>
            <p:cNvPr id="219" name="AutoShape 219"/>
            <p:cNvSpPr/>
            <p:nvPr/>
          </p:nvSpPr>
          <p:spPr>
            <a:xfrm>
              <a:off x="10098710" y="1785679"/>
              <a:ext cx="280582" cy="50267"/>
            </a:xfrm>
            <a:prstGeom prst="line">
              <a:avLst/>
            </a:prstGeom>
            <a:ln w="22830" cap="rnd">
              <a:solidFill>
                <a:srgbClr val="74BE42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20" name="Group 220"/>
            <p:cNvGrpSpPr/>
            <p:nvPr/>
          </p:nvGrpSpPr>
          <p:grpSpPr>
            <a:xfrm>
              <a:off x="10363980" y="17689"/>
              <a:ext cx="3204694" cy="2188953"/>
              <a:chOff x="0" y="0"/>
              <a:chExt cx="3565385" cy="2435321"/>
            </a:xfrm>
          </p:grpSpPr>
          <p:sp>
            <p:nvSpPr>
              <p:cNvPr id="221" name="Freeform 221"/>
              <p:cNvSpPr/>
              <p:nvPr/>
            </p:nvSpPr>
            <p:spPr>
              <a:xfrm>
                <a:off x="0" y="0"/>
                <a:ext cx="3565398" cy="2435334"/>
              </a:xfrm>
              <a:custGeom>
                <a:avLst/>
                <a:gdLst/>
                <a:ahLst/>
                <a:cxnLst/>
                <a:rect l="l" t="t" r="r" b="b"/>
                <a:pathLst>
                  <a:path w="3565398" h="2435334">
                    <a:moveTo>
                      <a:pt x="0" y="307895"/>
                    </a:moveTo>
                    <a:cubicBezTo>
                      <a:pt x="0" y="137859"/>
                      <a:pt x="266065" y="0"/>
                      <a:pt x="594233" y="0"/>
                    </a:cubicBezTo>
                    <a:lnTo>
                      <a:pt x="2971165" y="0"/>
                    </a:lnTo>
                    <a:cubicBezTo>
                      <a:pt x="3299333" y="0"/>
                      <a:pt x="3565398" y="137859"/>
                      <a:pt x="3565398" y="307895"/>
                    </a:cubicBezTo>
                    <a:lnTo>
                      <a:pt x="3565398" y="2127433"/>
                    </a:lnTo>
                    <a:cubicBezTo>
                      <a:pt x="3565398" y="2297469"/>
                      <a:pt x="3299333" y="2435334"/>
                      <a:pt x="2971165" y="2435334"/>
                    </a:cubicBezTo>
                    <a:lnTo>
                      <a:pt x="594233" y="2435334"/>
                    </a:lnTo>
                    <a:cubicBezTo>
                      <a:pt x="266065" y="2435334"/>
                      <a:pt x="0" y="2297469"/>
                      <a:pt x="0" y="212743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784" cap="sq">
                <a:solidFill>
                  <a:srgbClr val="B1D5B6"/>
                </a:solidFill>
                <a:prstDash val="solid"/>
                <a:miter/>
              </a:ln>
            </p:spPr>
          </p:sp>
        </p:grpSp>
        <p:grpSp>
          <p:nvGrpSpPr>
            <p:cNvPr id="222" name="Group 222"/>
            <p:cNvGrpSpPr/>
            <p:nvPr/>
          </p:nvGrpSpPr>
          <p:grpSpPr>
            <a:xfrm>
              <a:off x="11497476" y="17689"/>
              <a:ext cx="904792" cy="904792"/>
              <a:chOff x="0" y="0"/>
              <a:chExt cx="1006627" cy="1006627"/>
            </a:xfrm>
          </p:grpSpPr>
          <p:sp>
            <p:nvSpPr>
              <p:cNvPr id="223" name="Freeform 223"/>
              <p:cNvSpPr/>
              <p:nvPr/>
            </p:nvSpPr>
            <p:spPr>
              <a:xfrm>
                <a:off x="0" y="0"/>
                <a:ext cx="1006602" cy="1006602"/>
              </a:xfrm>
              <a:custGeom>
                <a:avLst/>
                <a:gdLst/>
                <a:ahLst/>
                <a:cxnLst/>
                <a:rect l="l" t="t" r="r" b="b"/>
                <a:pathLst>
                  <a:path w="1006602" h="1006602">
                    <a:moveTo>
                      <a:pt x="0" y="503301"/>
                    </a:moveTo>
                    <a:cubicBezTo>
                      <a:pt x="0" y="225298"/>
                      <a:pt x="225298" y="0"/>
                      <a:pt x="503301" y="0"/>
                    </a:cubicBezTo>
                    <a:cubicBezTo>
                      <a:pt x="781304" y="0"/>
                      <a:pt x="1006602" y="225298"/>
                      <a:pt x="1006602" y="503301"/>
                    </a:cubicBezTo>
                    <a:cubicBezTo>
                      <a:pt x="1006602" y="781304"/>
                      <a:pt x="781304" y="1006602"/>
                      <a:pt x="503301" y="1006602"/>
                    </a:cubicBezTo>
                    <a:cubicBezTo>
                      <a:pt x="225298" y="1006602"/>
                      <a:pt x="0" y="781304"/>
                      <a:pt x="0" y="503301"/>
                    </a:cubicBezTo>
                    <a:close/>
                  </a:path>
                </a:pathLst>
              </a:custGeom>
              <a:solidFill>
                <a:srgbClr val="74BE42"/>
              </a:solidFill>
            </p:spPr>
          </p:sp>
          <p:sp>
            <p:nvSpPr>
              <p:cNvPr id="224" name="TextBox 224"/>
              <p:cNvSpPr txBox="1"/>
              <p:nvPr/>
            </p:nvSpPr>
            <p:spPr>
              <a:xfrm>
                <a:off x="0" y="0"/>
                <a:ext cx="1006627" cy="10066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42"/>
                  </a:lnSpc>
                </a:pPr>
                <a:r>
                  <a:rPr lang="en-US" sz="2702" b="1">
                    <a:solidFill>
                      <a:srgbClr val="083A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4</a:t>
                </a:r>
              </a:p>
            </p:txBody>
          </p:sp>
        </p:grpSp>
        <p:sp>
          <p:nvSpPr>
            <p:cNvPr id="225" name="TextBox 225"/>
            <p:cNvSpPr txBox="1"/>
            <p:nvPr/>
          </p:nvSpPr>
          <p:spPr>
            <a:xfrm>
              <a:off x="10685820" y="976128"/>
              <a:ext cx="2561002" cy="4204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28"/>
                </a:lnSpc>
              </a:pPr>
              <a:r>
                <a:rPr lang="en-US" sz="2023" b="1">
                  <a:solidFill>
                    <a:srgbClr val="105B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Rank Under Risk</a:t>
              </a:r>
            </a:p>
          </p:txBody>
        </p:sp>
        <p:sp>
          <p:nvSpPr>
            <p:cNvPr id="226" name="TextBox 226"/>
            <p:cNvSpPr txBox="1"/>
            <p:nvPr/>
          </p:nvSpPr>
          <p:spPr>
            <a:xfrm>
              <a:off x="10685820" y="1399420"/>
              <a:ext cx="2561002" cy="1041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1"/>
                </a:lnSpc>
              </a:pPr>
              <a:r>
                <a:rPr lang="en-US" sz="1484">
                  <a:solidFill>
                    <a:srgbClr val="375352"/>
                  </a:solidFill>
                  <a:latin typeface="Aptos"/>
                  <a:ea typeface="Aptos"/>
                  <a:cs typeface="Aptos"/>
                  <a:sym typeface="Aptos"/>
                </a:rPr>
                <a:t>Compare returns and</a:t>
              </a:r>
            </a:p>
            <a:p>
              <a:pPr algn="ctr">
                <a:lnSpc>
                  <a:spcPts val="1781"/>
                </a:lnSpc>
              </a:pPr>
              <a:r>
                <a:rPr lang="en-US" sz="1484">
                  <a:solidFill>
                    <a:srgbClr val="375352"/>
                  </a:solidFill>
                  <a:latin typeface="Aptos"/>
                  <a:ea typeface="Aptos"/>
                  <a:cs typeface="Aptos"/>
                  <a:sym typeface="Aptos"/>
                </a:rPr>
                <a:t>uncertainty</a:t>
              </a:r>
            </a:p>
          </p:txBody>
        </p:sp>
        <p:sp>
          <p:nvSpPr>
            <p:cNvPr id="227" name="AutoShape 227"/>
            <p:cNvSpPr/>
            <p:nvPr/>
          </p:nvSpPr>
          <p:spPr>
            <a:xfrm>
              <a:off x="13553362" y="1785679"/>
              <a:ext cx="280582" cy="50267"/>
            </a:xfrm>
            <a:prstGeom prst="line">
              <a:avLst/>
            </a:prstGeom>
            <a:ln w="22830" cap="rnd">
              <a:solidFill>
                <a:srgbClr val="74BE42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28" name="Group 228"/>
            <p:cNvGrpSpPr/>
            <p:nvPr/>
          </p:nvGrpSpPr>
          <p:grpSpPr>
            <a:xfrm>
              <a:off x="13818632" y="17689"/>
              <a:ext cx="3204694" cy="2288974"/>
              <a:chOff x="0" y="0"/>
              <a:chExt cx="3565385" cy="2546601"/>
            </a:xfrm>
          </p:grpSpPr>
          <p:sp>
            <p:nvSpPr>
              <p:cNvPr id="229" name="Freeform 229"/>
              <p:cNvSpPr/>
              <p:nvPr/>
            </p:nvSpPr>
            <p:spPr>
              <a:xfrm>
                <a:off x="0" y="0"/>
                <a:ext cx="3565398" cy="2546613"/>
              </a:xfrm>
              <a:custGeom>
                <a:avLst/>
                <a:gdLst/>
                <a:ahLst/>
                <a:cxnLst/>
                <a:rect l="l" t="t" r="r" b="b"/>
                <a:pathLst>
                  <a:path w="3565398" h="2546613">
                    <a:moveTo>
                      <a:pt x="0" y="321964"/>
                    </a:moveTo>
                    <a:cubicBezTo>
                      <a:pt x="0" y="144158"/>
                      <a:pt x="266065" y="0"/>
                      <a:pt x="594233" y="0"/>
                    </a:cubicBezTo>
                    <a:lnTo>
                      <a:pt x="2971165" y="0"/>
                    </a:lnTo>
                    <a:cubicBezTo>
                      <a:pt x="3299333" y="0"/>
                      <a:pt x="3565398" y="144158"/>
                      <a:pt x="3565398" y="321964"/>
                    </a:cubicBezTo>
                    <a:lnTo>
                      <a:pt x="3565398" y="2224643"/>
                    </a:lnTo>
                    <a:cubicBezTo>
                      <a:pt x="3565398" y="2402449"/>
                      <a:pt x="3299333" y="2546613"/>
                      <a:pt x="2971165" y="2546613"/>
                    </a:cubicBezTo>
                    <a:lnTo>
                      <a:pt x="594233" y="2546613"/>
                    </a:lnTo>
                    <a:cubicBezTo>
                      <a:pt x="266065" y="2546613"/>
                      <a:pt x="0" y="2402450"/>
                      <a:pt x="0" y="22246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784" cap="sq">
                <a:solidFill>
                  <a:srgbClr val="B1D5B6"/>
                </a:solidFill>
                <a:prstDash val="solid"/>
                <a:miter/>
              </a:ln>
            </p:spPr>
          </p:sp>
        </p:grpSp>
        <p:grpSp>
          <p:nvGrpSpPr>
            <p:cNvPr id="230" name="Group 230"/>
            <p:cNvGrpSpPr/>
            <p:nvPr/>
          </p:nvGrpSpPr>
          <p:grpSpPr>
            <a:xfrm>
              <a:off x="14952140" y="17689"/>
              <a:ext cx="904792" cy="904792"/>
              <a:chOff x="0" y="0"/>
              <a:chExt cx="1006627" cy="1006627"/>
            </a:xfrm>
          </p:grpSpPr>
          <p:sp>
            <p:nvSpPr>
              <p:cNvPr id="231" name="Freeform 231"/>
              <p:cNvSpPr/>
              <p:nvPr/>
            </p:nvSpPr>
            <p:spPr>
              <a:xfrm>
                <a:off x="0" y="0"/>
                <a:ext cx="1006602" cy="1006602"/>
              </a:xfrm>
              <a:custGeom>
                <a:avLst/>
                <a:gdLst/>
                <a:ahLst/>
                <a:cxnLst/>
                <a:rect l="l" t="t" r="r" b="b"/>
                <a:pathLst>
                  <a:path w="1006602" h="1006602">
                    <a:moveTo>
                      <a:pt x="0" y="503301"/>
                    </a:moveTo>
                    <a:cubicBezTo>
                      <a:pt x="0" y="225298"/>
                      <a:pt x="225298" y="0"/>
                      <a:pt x="503301" y="0"/>
                    </a:cubicBezTo>
                    <a:cubicBezTo>
                      <a:pt x="781304" y="0"/>
                      <a:pt x="1006602" y="225298"/>
                      <a:pt x="1006602" y="503301"/>
                    </a:cubicBezTo>
                    <a:cubicBezTo>
                      <a:pt x="1006602" y="781304"/>
                      <a:pt x="781304" y="1006602"/>
                      <a:pt x="503301" y="1006602"/>
                    </a:cubicBezTo>
                    <a:cubicBezTo>
                      <a:pt x="225298" y="1006602"/>
                      <a:pt x="0" y="781304"/>
                      <a:pt x="0" y="503301"/>
                    </a:cubicBezTo>
                    <a:close/>
                  </a:path>
                </a:pathLst>
              </a:custGeom>
              <a:solidFill>
                <a:srgbClr val="74BE42"/>
              </a:solidFill>
            </p:spPr>
          </p:sp>
          <p:sp>
            <p:nvSpPr>
              <p:cNvPr id="232" name="TextBox 232"/>
              <p:cNvSpPr txBox="1"/>
              <p:nvPr/>
            </p:nvSpPr>
            <p:spPr>
              <a:xfrm>
                <a:off x="0" y="0"/>
                <a:ext cx="1006627" cy="10066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42"/>
                  </a:lnSpc>
                </a:pPr>
                <a:r>
                  <a:rPr lang="en-US" sz="2702" b="1">
                    <a:solidFill>
                      <a:srgbClr val="083A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5</a:t>
                </a:r>
              </a:p>
            </p:txBody>
          </p:sp>
        </p:grpSp>
        <p:sp>
          <p:nvSpPr>
            <p:cNvPr id="233" name="TextBox 233"/>
            <p:cNvSpPr txBox="1"/>
            <p:nvPr/>
          </p:nvSpPr>
          <p:spPr>
            <a:xfrm>
              <a:off x="14140478" y="954259"/>
              <a:ext cx="2561002" cy="4204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28"/>
                </a:lnSpc>
              </a:pPr>
              <a:r>
                <a:rPr lang="en-US" sz="2023" b="1">
                  <a:solidFill>
                    <a:srgbClr val="105B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Explain +What-if</a:t>
              </a:r>
            </a:p>
          </p:txBody>
        </p:sp>
        <p:sp>
          <p:nvSpPr>
            <p:cNvPr id="234" name="TextBox 234"/>
            <p:cNvSpPr txBox="1"/>
            <p:nvPr/>
          </p:nvSpPr>
          <p:spPr>
            <a:xfrm>
              <a:off x="14189828" y="1420392"/>
              <a:ext cx="2561002" cy="1041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1"/>
                </a:lnSpc>
              </a:pPr>
              <a:r>
                <a:rPr lang="en-US" sz="1484">
                  <a:solidFill>
                    <a:srgbClr val="375352"/>
                  </a:solidFill>
                  <a:latin typeface="Aptos"/>
                  <a:ea typeface="Aptos"/>
                  <a:cs typeface="Aptos"/>
                  <a:sym typeface="Aptos"/>
                </a:rPr>
                <a:t>Show reasons, risks</a:t>
              </a:r>
            </a:p>
            <a:p>
              <a:pPr algn="ctr">
                <a:lnSpc>
                  <a:spcPts val="1781"/>
                </a:lnSpc>
              </a:pPr>
              <a:r>
                <a:rPr lang="en-US" sz="1484">
                  <a:solidFill>
                    <a:srgbClr val="375352"/>
                  </a:solidFill>
                  <a:latin typeface="Aptos"/>
                  <a:ea typeface="Aptos"/>
                  <a:cs typeface="Aptos"/>
                  <a:sym typeface="Aptos"/>
                </a:rPr>
                <a:t>and alternatives</a:t>
              </a:r>
            </a:p>
          </p:txBody>
        </p:sp>
        <p:sp>
          <p:nvSpPr>
            <p:cNvPr id="235" name="AutoShape 235"/>
            <p:cNvSpPr/>
            <p:nvPr/>
          </p:nvSpPr>
          <p:spPr>
            <a:xfrm>
              <a:off x="17008026" y="1785679"/>
              <a:ext cx="280582" cy="50267"/>
            </a:xfrm>
            <a:prstGeom prst="line">
              <a:avLst/>
            </a:prstGeom>
            <a:ln w="22830" cap="rnd">
              <a:solidFill>
                <a:srgbClr val="74BE42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36" name="Group 236"/>
            <p:cNvGrpSpPr/>
            <p:nvPr/>
          </p:nvGrpSpPr>
          <p:grpSpPr>
            <a:xfrm>
              <a:off x="17273285" y="17689"/>
              <a:ext cx="3204694" cy="2288974"/>
              <a:chOff x="0" y="0"/>
              <a:chExt cx="3565385" cy="2546601"/>
            </a:xfrm>
          </p:grpSpPr>
          <p:sp>
            <p:nvSpPr>
              <p:cNvPr id="237" name="Freeform 237"/>
              <p:cNvSpPr/>
              <p:nvPr/>
            </p:nvSpPr>
            <p:spPr>
              <a:xfrm>
                <a:off x="0" y="0"/>
                <a:ext cx="3565398" cy="2546613"/>
              </a:xfrm>
              <a:custGeom>
                <a:avLst/>
                <a:gdLst/>
                <a:ahLst/>
                <a:cxnLst/>
                <a:rect l="l" t="t" r="r" b="b"/>
                <a:pathLst>
                  <a:path w="3565398" h="2546613">
                    <a:moveTo>
                      <a:pt x="0" y="321964"/>
                    </a:moveTo>
                    <a:cubicBezTo>
                      <a:pt x="0" y="144158"/>
                      <a:pt x="266065" y="0"/>
                      <a:pt x="594233" y="0"/>
                    </a:cubicBezTo>
                    <a:lnTo>
                      <a:pt x="2971165" y="0"/>
                    </a:lnTo>
                    <a:cubicBezTo>
                      <a:pt x="3299333" y="0"/>
                      <a:pt x="3565398" y="144158"/>
                      <a:pt x="3565398" y="321964"/>
                    </a:cubicBezTo>
                    <a:lnTo>
                      <a:pt x="3565398" y="2224643"/>
                    </a:lnTo>
                    <a:cubicBezTo>
                      <a:pt x="3565398" y="2402449"/>
                      <a:pt x="3299333" y="2546613"/>
                      <a:pt x="2971165" y="2546613"/>
                    </a:cubicBezTo>
                    <a:lnTo>
                      <a:pt x="594233" y="2546613"/>
                    </a:lnTo>
                    <a:cubicBezTo>
                      <a:pt x="266065" y="2546613"/>
                      <a:pt x="0" y="2402450"/>
                      <a:pt x="0" y="22246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4784" cap="sq">
                <a:solidFill>
                  <a:srgbClr val="B1D5B6"/>
                </a:solidFill>
                <a:prstDash val="solid"/>
                <a:miter/>
              </a:ln>
            </p:spPr>
          </p:sp>
        </p:grpSp>
        <p:grpSp>
          <p:nvGrpSpPr>
            <p:cNvPr id="238" name="Group 238"/>
            <p:cNvGrpSpPr/>
            <p:nvPr/>
          </p:nvGrpSpPr>
          <p:grpSpPr>
            <a:xfrm>
              <a:off x="18406792" y="17689"/>
              <a:ext cx="904792" cy="904792"/>
              <a:chOff x="0" y="0"/>
              <a:chExt cx="1006627" cy="1006627"/>
            </a:xfrm>
          </p:grpSpPr>
          <p:sp>
            <p:nvSpPr>
              <p:cNvPr id="239" name="Freeform 239"/>
              <p:cNvSpPr/>
              <p:nvPr/>
            </p:nvSpPr>
            <p:spPr>
              <a:xfrm>
                <a:off x="0" y="0"/>
                <a:ext cx="1006602" cy="1006602"/>
              </a:xfrm>
              <a:custGeom>
                <a:avLst/>
                <a:gdLst/>
                <a:ahLst/>
                <a:cxnLst/>
                <a:rect l="l" t="t" r="r" b="b"/>
                <a:pathLst>
                  <a:path w="1006602" h="1006602">
                    <a:moveTo>
                      <a:pt x="0" y="503301"/>
                    </a:moveTo>
                    <a:cubicBezTo>
                      <a:pt x="0" y="225298"/>
                      <a:pt x="225298" y="0"/>
                      <a:pt x="503301" y="0"/>
                    </a:cubicBezTo>
                    <a:cubicBezTo>
                      <a:pt x="781304" y="0"/>
                      <a:pt x="1006602" y="225298"/>
                      <a:pt x="1006602" y="503301"/>
                    </a:cubicBezTo>
                    <a:cubicBezTo>
                      <a:pt x="1006602" y="781304"/>
                      <a:pt x="781304" y="1006602"/>
                      <a:pt x="503301" y="1006602"/>
                    </a:cubicBezTo>
                    <a:cubicBezTo>
                      <a:pt x="225298" y="1006602"/>
                      <a:pt x="0" y="781304"/>
                      <a:pt x="0" y="503301"/>
                    </a:cubicBezTo>
                    <a:close/>
                  </a:path>
                </a:pathLst>
              </a:custGeom>
              <a:solidFill>
                <a:srgbClr val="74BE42"/>
              </a:solidFill>
            </p:spPr>
          </p:sp>
          <p:sp>
            <p:nvSpPr>
              <p:cNvPr id="240" name="TextBox 240"/>
              <p:cNvSpPr txBox="1"/>
              <p:nvPr/>
            </p:nvSpPr>
            <p:spPr>
              <a:xfrm>
                <a:off x="0" y="0"/>
                <a:ext cx="1006627" cy="100662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42"/>
                  </a:lnSpc>
                </a:pPr>
                <a:r>
                  <a:rPr lang="en-US" sz="2702" b="1">
                    <a:solidFill>
                      <a:srgbClr val="083A3D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6</a:t>
                </a:r>
              </a:p>
            </p:txBody>
          </p:sp>
        </p:grpSp>
        <p:sp>
          <p:nvSpPr>
            <p:cNvPr id="241" name="TextBox 241"/>
            <p:cNvSpPr txBox="1"/>
            <p:nvPr/>
          </p:nvSpPr>
          <p:spPr>
            <a:xfrm>
              <a:off x="17644492" y="931012"/>
              <a:ext cx="2561002" cy="9692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28"/>
                </a:lnSpc>
              </a:pPr>
              <a:r>
                <a:rPr lang="en-US" sz="2023" b="1">
                  <a:solidFill>
                    <a:srgbClr val="105B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Back-test</a:t>
              </a:r>
            </a:p>
          </p:txBody>
        </p:sp>
        <p:sp>
          <p:nvSpPr>
            <p:cNvPr id="242" name="TextBox 242"/>
            <p:cNvSpPr txBox="1"/>
            <p:nvPr/>
          </p:nvSpPr>
          <p:spPr>
            <a:xfrm>
              <a:off x="17644492" y="1374731"/>
              <a:ext cx="2561002" cy="10419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1"/>
                </a:lnSpc>
              </a:pPr>
              <a:r>
                <a:rPr lang="en-US" sz="1484">
                  <a:solidFill>
                    <a:srgbClr val="375352"/>
                  </a:solidFill>
                  <a:latin typeface="Aptos"/>
                  <a:ea typeface="Aptos"/>
                  <a:cs typeface="Aptos"/>
                  <a:sym typeface="Aptos"/>
                </a:rPr>
                <a:t>Check past data</a:t>
              </a:r>
            </a:p>
            <a:p>
              <a:pPr algn="ctr">
                <a:lnSpc>
                  <a:spcPts val="1781"/>
                </a:lnSpc>
              </a:pPr>
              <a:r>
                <a:rPr lang="en-US" sz="1484">
                  <a:solidFill>
                    <a:srgbClr val="375352"/>
                  </a:solidFill>
                  <a:latin typeface="Aptos"/>
                  <a:ea typeface="Aptos"/>
                  <a:cs typeface="Aptos"/>
                  <a:sym typeface="Aptos"/>
                </a:rPr>
                <a:t>without future leakage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2040</Words>
  <Application>Microsoft Office PowerPoint</Application>
  <PresentationFormat>Custom</PresentationFormat>
  <Paragraphs>417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2" baseType="lpstr">
      <vt:lpstr>Calibri (MS)</vt:lpstr>
      <vt:lpstr>Aptos Bold</vt:lpstr>
      <vt:lpstr>Arial</vt:lpstr>
      <vt:lpstr>Canva Sans</vt:lpstr>
      <vt:lpstr>Cambria Bold</vt:lpstr>
      <vt:lpstr>Cambria</vt:lpstr>
      <vt:lpstr>Segoe UI</vt:lpstr>
      <vt:lpstr>Calibri (MS) Bold</vt:lpstr>
      <vt:lpstr>Arimo</vt:lpstr>
      <vt:lpstr>Calibri</vt:lpstr>
      <vt:lpstr>Aptos</vt:lpstr>
      <vt:lpstr>Times New Roman Bold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Name : Nexus0 Team Members : Hashika N [CB.PS.I5MAT25008] Uthara U [CB.PS.I5MAT25015] Muskaan Chhabra [CB.PS.I5MAT25012] Madana Ankitha [CB.PS.I5MAT25009] Selected Domain : 5 Problem Statement Title : Smart Sell- Decision Advisor for Small Farmers:</dc:title>
  <dc:creator>Hashika Nagesh</dc:creator>
  <cp:lastModifiedBy>Hashika Nagesh</cp:lastModifiedBy>
  <cp:revision>2</cp:revision>
  <dcterms:created xsi:type="dcterms:W3CDTF">2006-08-16T00:00:00Z</dcterms:created>
  <dcterms:modified xsi:type="dcterms:W3CDTF">2026-10-09T17:54:06Z</dcterms:modified>
  <dc:identifier>DAHXW7jl15U</dc:identifier>
</cp:coreProperties>
</file>